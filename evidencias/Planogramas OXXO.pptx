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Reto MA2008B del Tec de Monterrey. Optimizamos el acomodo de productos en el cuarto frío de OXXO. Presenta al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surtido de OXXO tiene varias etapas; atacamos la última: planogramación. Qué productos y cuántos frentes ya está decidido. Nosotros resolvemos en qué charola y en qué orden va cada uno. No optimizamos ventas: optimizamos la calidad del acomodo.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Construimos un optimizador automático que acomoda los productos de un mueble maximizando tres criterios: aprovechar el ancho, coherencia de tamaño y agrupación de marca. Dos versiones: base y extendida, esta última considera la ubicación histórica.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Partimos de 497 mil registros históricos de planogramas de Refrescos y los reconstruimos en planogramas individuales reales, no inventados. 132 de 132 validados automáticamente. Ejemplo: formato BCO_CF_4.0 con 101 productos en 24 charolas.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 los pesos ni las ubicaciones se fijan a mano: se derivan del histórico. Ejemplo Coca-Cola: el tamaño del envase determina el nivel. La botella de 3 litros va a charolas bajas por peso y estabilidad; la lata de 355 ml va a charolas altas. El modelo aprende las reglas físicas que OXXO ya aplica.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planograma optimizado. Coca-Cola domina los niveles superiores, Pepsi los intermedios y las marcas menores quedan abajo. Las charolas están casi llenas hasta el límite de 55 cm y cada marca forma bloques contiguos.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Superamos el acomodo experto de OXXO. El aprovechamiento de espacio va de 90.9 a 95.7 por ciento según el formato. La gráfica compara el histórico contra el modelo en el formato BCO. El mensaje honesto: mayor calidad GLOBAL del acomodo en los cuatro formatos, impulsada sobre todo por aprovechamiento y agrupación de marca.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técnica: cómo funciona el optimizador por dentro. Tres piezas que sostienen los resultados — el modelo matemático, el algoritmo genético y la simulación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decide a qué charola y en qué orden va cada producto. Maximiza una función objetivo: aprovechamiento del espacio, menos incoherencia de tamaño, más agrupación de marca, y en el extendido la ubicación histórica. Es no lineal por el término de varianza de la coherencia de tamaño, con la restricción dura de 55 cm por charola. Es un problema NP-duro, por eso usamos una metaheurística.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genético: cada solución es un orden de productos que un decoder first-fit convierte en charolas siempre factibles. Evolucionamos 150 soluciones durante 400 generaciones con torneo, cruce OX, mutación y elitismo. Un arranque inteligente por altura hace que converja en unas 10 generaciones. Hay dos versiones: GA1 base, que es la que comparamos, y GA2 extendido, que veremos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simulación y los datos que generamos: el activo más valioso para OXXO. De 497 mil filas reconstruimos planogramas reales y generamos mil escenarios simulados por formato. Los pesos se derivan de su histórico —el criterio más consistente pesa más—, no a mano. Cada formato deja tres activos reutilizables: la instancia, la distribución de ubicación y los pesos. Todo reproducible, auditable y escalable a 132 formatos.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tener rigor, comparamos el modelo genético contra una optimización no lineal alternativa. El genético obtiene mejor calidad en los cuatro formatos y, en general, en menos tiempo. La calidad se mide con un índice de fitness: mayor es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2, extendido, ya está implementado. Añade un cuarto criterio: colocar cada producto cerca de su ubicación histórica esperada. En el formato BCO sube la consistencia de ubicación de 0.76 a 0.81 manteniendo el 92.4% de aprovechamiento, es decir respeta el merchandising que OXXO ya aplica. Es la arquitectura del modelo final: hoy con un multiplicador placeholder, mañana con demanda y margen reales para optimizar rentabilidad esperada. Nota técnica: GA2 optimiza un objetivo más rico con el término w4, por eso su fitness no se compara cabeza a cabeza con GA1 o el no lineal.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significa para OXXO: acomodos consistentes y reproducibles en segundos frente al trabajo manual; respeta los bloques de marca y por tanto los acuerdos con proveedores; es parametrizable entre cuarto frío y góndola central sin reprogramar; y escala a los 132 formatos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Próximos pasos. Modelo 2: incorporar demanda y margen reales (por ahora supuestos), para pasar de calidad de acomodo a rentabilidad esperada. También optimizar el número de frentes por producto. Hoy usamos valores placeholder, pero el modelo ya está preparado para los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Un optimizador que acomoda como el experto de OXXO, y mejor, en segundos. Gracias. Quedamos abiertos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respaldo para preguntas. Formulación completa del modelo: conjuntos, parámetros, variables y restricciones. La extensión del Modelo 2 añade el término w4 de consistencia con la ubicación histórica esperada.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4002B"/>
        </a:solidFill>
      </p:bgPr>
    </p:bg>
    <p:spTree>
      <p:nvGrpSpPr>
        <p:cNvPr id="1" name=""/>
        <p:cNvGrpSpPr/>
        <p:nvPr/>
      </p:nvGrpSpPr>
      <p:grpSpPr>
        <a:xfrm>
          <a:off x="0" y="0"/>
          <a:ext cx="0" cy="0"/>
          <a:chOff x="0" y="0"/>
          <a:chExt cx="0" cy="0"/>
        </a:xfrm>
      </p:grpSpPr>
      <p:sp>
        <p:nvSpPr>
          <p:cNvPr id="2" name="Shape 0"/>
          <p:cNvSpPr/>
          <p:nvPr/>
        </p:nvSpPr>
        <p:spPr>
          <a:xfrm>
            <a:off x="1047750" y="1085850"/>
            <a:ext cx="323850" cy="57150"/>
          </a:xfrm>
          <a:prstGeom prst="roundRect">
            <a:avLst>
              <a:gd name="adj" fmla="val 50000"/>
            </a:avLst>
          </a:prstGeom>
          <a:solidFill>
            <a:srgbClr val="FFE600"/>
          </a:solidFill>
          <a:ln/>
        </p:spPr>
      </p:sp>
      <p:sp>
        <p:nvSpPr>
          <p:cNvPr id="3" name="Text 1"/>
          <p:cNvSpPr/>
          <p:nvPr/>
        </p:nvSpPr>
        <p:spPr>
          <a:xfrm>
            <a:off x="1504950" y="990600"/>
            <a:ext cx="5104886"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b="1" spc="225" kern="0" dirty="0">
                <a:solidFill>
                  <a:srgbClr val="FFE600"/>
                </a:solidFill>
                <a:latin typeface="Barlow" pitchFamily="34" charset="0"/>
                <a:ea typeface="Barlow" pitchFamily="34" charset="-122"/>
                <a:cs typeface="Barlow" pitchFamily="34" charset="-120"/>
              </a:rPr>
              <a:t>RETO MA2008B · TEC DE MONTERREY</a:t>
            </a:r>
            <a:endParaRPr lang="en-US" sz="1950" dirty="0"/>
          </a:p>
        </p:txBody>
      </p:sp>
      <p:sp>
        <p:nvSpPr>
          <p:cNvPr id="4" name="Text 2"/>
          <p:cNvSpPr/>
          <p:nvPr/>
        </p:nvSpPr>
        <p:spPr>
          <a:xfrm>
            <a:off x="1047750" y="1859161"/>
            <a:ext cx="9443307" cy="2726382"/>
          </a:xfrm>
          <a:prstGeom prst="rect">
            <a:avLst/>
          </a:prstGeom>
          <a:noFill/>
          <a:ln/>
        </p:spPr>
        <p:txBody>
          <a:bodyPr wrap="square" lIns="25400" tIns="25400" rIns="25400" bIns="25400" rtlCol="0" anchor="t">
            <a:normAutofit/>
          </a:bodyPr>
          <a:lstStyle/>
          <a:p>
            <a:pPr algn="l" indent="0" marL="0">
              <a:lnSpc>
                <a:spcPct val="98000"/>
              </a:lnSpc>
              <a:buNone/>
            </a:pPr>
            <a:r>
              <a:rPr lang="en-US" sz="7200" b="1" spc="-150" kern="0" dirty="0">
                <a:solidFill>
                  <a:srgbClr val="FFFFFF"/>
                </a:solidFill>
                <a:latin typeface="Barlow" pitchFamily="34" charset="0"/>
                <a:ea typeface="Barlow" pitchFamily="34" charset="-122"/>
                <a:cs typeface="Barlow" pitchFamily="34" charset="-120"/>
              </a:rPr>
              <a:t>Optimización de planogramas en tiendas OXXO</a:t>
            </a:r>
            <a:endParaRPr lang="en-US" sz="7200" dirty="0"/>
          </a:p>
        </p:txBody>
      </p:sp>
      <p:sp>
        <p:nvSpPr>
          <p:cNvPr id="5" name="Text 3"/>
          <p:cNvSpPr/>
          <p:nvPr/>
        </p:nvSpPr>
        <p:spPr>
          <a:xfrm>
            <a:off x="1047750" y="4871293"/>
            <a:ext cx="8044815"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dirty="0">
                <a:solidFill>
                  <a:srgbClr val="FFFFFF">
                    <a:alpha val="92000"/>
                  </a:srgbClr>
                </a:solidFill>
                <a:latin typeface="Barlow" pitchFamily="34" charset="0"/>
                <a:ea typeface="Barlow" pitchFamily="34" charset="-122"/>
                <a:cs typeface="Barlow" pitchFamily="34" charset="-120"/>
              </a:rPr>
              <a:t>Acomodo inteligente de productos en el cuarto frío.</a:t>
            </a:r>
            <a:endParaRPr lang="en-US" sz="3000" dirty="0"/>
          </a:p>
        </p:txBody>
      </p:sp>
      <p:sp>
        <p:nvSpPr>
          <p:cNvPr id="6" name="Text 4"/>
          <p:cNvSpPr/>
          <p:nvPr/>
        </p:nvSpPr>
        <p:spPr>
          <a:xfrm>
            <a:off x="1047750" y="6444704"/>
            <a:ext cx="970508"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188" kern="0" dirty="0">
                <a:solidFill>
                  <a:srgbClr val="FFE600"/>
                </a:solidFill>
                <a:latin typeface="Barlow" pitchFamily="34" charset="0"/>
                <a:ea typeface="Barlow" pitchFamily="34" charset="-122"/>
                <a:cs typeface="Barlow" pitchFamily="34" charset="-120"/>
              </a:rPr>
              <a:t>EQUIPO</a:t>
            </a:r>
            <a:endParaRPr lang="en-US" sz="1800" dirty="0"/>
          </a:p>
        </p:txBody>
      </p:sp>
      <p:sp>
        <p:nvSpPr>
          <p:cNvPr id="7" name="Shape 5"/>
          <p:cNvSpPr/>
          <p:nvPr/>
        </p:nvSpPr>
        <p:spPr>
          <a:xfrm>
            <a:off x="2056358" y="6554242"/>
            <a:ext cx="4468192" cy="9525"/>
          </a:xfrm>
          <a:prstGeom prst="rect">
            <a:avLst/>
          </a:prstGeom>
          <a:solidFill>
            <a:srgbClr val="FFFFFF">
              <a:alpha val="28000"/>
            </a:srgbClr>
          </a:solidFill>
          <a:ln/>
        </p:spPr>
      </p:sp>
      <p:sp>
        <p:nvSpPr>
          <p:cNvPr id="8" name="Text 6"/>
          <p:cNvSpPr/>
          <p:nvPr/>
        </p:nvSpPr>
        <p:spPr>
          <a:xfrm>
            <a:off x="6638851" y="6444704"/>
            <a:ext cx="3684473"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75" kern="0" dirty="0">
                <a:solidFill>
                  <a:srgbClr val="FFFFFF">
                    <a:alpha val="85000"/>
                  </a:srgbClr>
                </a:solidFill>
                <a:latin typeface="Barlow" pitchFamily="34" charset="0"/>
                <a:ea typeface="Barlow" pitchFamily="34" charset="-122"/>
                <a:cs typeface="Barlow" pitchFamily="34" charset="-120"/>
              </a:rPr>
              <a:t>Categoría Refrescos · Cuarto frío</a:t>
            </a:r>
            <a:endParaRPr lang="en-US" sz="1800" dirty="0"/>
          </a:p>
        </p:txBody>
      </p:sp>
      <p:sp>
        <p:nvSpPr>
          <p:cNvPr id="9" name="Shape 7"/>
          <p:cNvSpPr/>
          <p:nvPr/>
        </p:nvSpPr>
        <p:spPr>
          <a:xfrm>
            <a:off x="1047750" y="7614345"/>
            <a:ext cx="4317429" cy="9525"/>
          </a:xfrm>
          <a:prstGeom prst="rect">
            <a:avLst/>
          </a:prstGeom>
          <a:solidFill>
            <a:srgbClr val="FFFFFF">
              <a:alpha val="16000"/>
            </a:srgbClr>
          </a:solidFill>
          <a:ln/>
        </p:spPr>
      </p:sp>
      <p:sp>
        <p:nvSpPr>
          <p:cNvPr id="10" name="Text 8"/>
          <p:cNvSpPr/>
          <p:nvPr/>
        </p:nvSpPr>
        <p:spPr>
          <a:xfrm>
            <a:off x="1047750" y="6920954"/>
            <a:ext cx="3125260" cy="655290"/>
          </a:xfrm>
          <a:prstGeom prst="rect">
            <a:avLst/>
          </a:prstGeom>
          <a:noFill/>
          <a:ln/>
        </p:spPr>
        <p:txBody>
          <a:bodyPr wrap="square" lIns="25400" tIns="25400" rIns="25400" bIns="25400" rtlCol="0" anchor="t">
            <a:normAutofit/>
          </a:bodyPr>
          <a:lstStyle/>
          <a:p>
            <a:pPr algn="l" indent="0" marL="0">
              <a:lnSpc>
                <a:spcPct val="120000"/>
              </a:lnSpc>
              <a:buNone/>
            </a:pPr>
            <a:r>
              <a:rPr lang="en-US" sz="2025" b="1" dirty="0">
                <a:solidFill>
                  <a:srgbClr val="FFFFFF"/>
                </a:solidFill>
                <a:latin typeface="Barlow" pitchFamily="34" charset="0"/>
                <a:ea typeface="Barlow" pitchFamily="34" charset="-122"/>
                <a:cs typeface="Barlow" pitchFamily="34" charset="-120"/>
              </a:rPr>
              <a:t>Daniel Eugenio González Limas</a:t>
            </a:r>
            <a:endParaRPr lang="en-US" sz="2025" dirty="0"/>
          </a:p>
        </p:txBody>
      </p:sp>
      <p:sp>
        <p:nvSpPr>
          <p:cNvPr id="11" name="Text 9"/>
          <p:cNvSpPr/>
          <p:nvPr/>
        </p:nvSpPr>
        <p:spPr>
          <a:xfrm>
            <a:off x="4234383" y="6949529"/>
            <a:ext cx="1206996" cy="312390"/>
          </a:xfrm>
          <a:prstGeom prst="rect">
            <a:avLst/>
          </a:prstGeom>
          <a:noFill/>
          <a:ln/>
        </p:spPr>
        <p:txBody>
          <a:bodyPr wrap="square" lIns="25400" tIns="25400" rIns="25400" bIns="25400" rtlCol="0" anchor="t">
            <a:normAutofit/>
          </a:bodyPr>
          <a:lstStyle/>
          <a:p>
            <a:pPr algn="l" indent="0" marL="0">
              <a:lnSpc>
                <a:spcPct val="120000"/>
              </a:lnSpc>
              <a:buNone/>
            </a:pPr>
            <a:r>
              <a:rPr lang="en-US" sz="1800" b="1" spc="38" kern="0" dirty="0">
                <a:solidFill>
                  <a:srgbClr val="FFE600"/>
                </a:solidFill>
                <a:latin typeface="Barlow" pitchFamily="34" charset="0"/>
                <a:ea typeface="Barlow" pitchFamily="34" charset="-122"/>
                <a:cs typeface="Barlow" pitchFamily="34" charset="-120"/>
              </a:rPr>
              <a:t>A01285898</a:t>
            </a:r>
            <a:endParaRPr lang="en-US" sz="1800" dirty="0"/>
          </a:p>
        </p:txBody>
      </p:sp>
      <p:sp>
        <p:nvSpPr>
          <p:cNvPr id="12" name="Shape 10"/>
          <p:cNvSpPr/>
          <p:nvPr/>
        </p:nvSpPr>
        <p:spPr>
          <a:xfrm>
            <a:off x="5898579" y="7614345"/>
            <a:ext cx="4317429" cy="9525"/>
          </a:xfrm>
          <a:prstGeom prst="rect">
            <a:avLst/>
          </a:prstGeom>
          <a:solidFill>
            <a:srgbClr val="FFFFFF">
              <a:alpha val="16000"/>
            </a:srgbClr>
          </a:solidFill>
          <a:ln/>
        </p:spPr>
      </p:sp>
      <p:sp>
        <p:nvSpPr>
          <p:cNvPr id="13" name="Text 11"/>
          <p:cNvSpPr/>
          <p:nvPr/>
        </p:nvSpPr>
        <p:spPr>
          <a:xfrm>
            <a:off x="5898579" y="6920954"/>
            <a:ext cx="2827489" cy="346695"/>
          </a:xfrm>
          <a:prstGeom prst="rect">
            <a:avLst/>
          </a:prstGeom>
          <a:noFill/>
          <a:ln/>
        </p:spPr>
        <p:txBody>
          <a:bodyPr wrap="square" lIns="25400" tIns="25400" rIns="25400" bIns="25400" rtlCol="0" anchor="t">
            <a:normAutofit/>
          </a:bodyPr>
          <a:lstStyle/>
          <a:p>
            <a:pPr algn="l" indent="0" marL="0">
              <a:lnSpc>
                <a:spcPct val="120000"/>
              </a:lnSpc>
              <a:buNone/>
            </a:pPr>
            <a:r>
              <a:rPr lang="en-US" sz="2025" b="1" dirty="0">
                <a:solidFill>
                  <a:srgbClr val="FFFFFF"/>
                </a:solidFill>
                <a:latin typeface="Barlow" pitchFamily="34" charset="0"/>
                <a:ea typeface="Barlow" pitchFamily="34" charset="-122"/>
                <a:cs typeface="Barlow" pitchFamily="34" charset="-120"/>
              </a:rPr>
              <a:t>Sebastián Zaragoza Díaz</a:t>
            </a:r>
            <a:endParaRPr lang="en-US" sz="2025" dirty="0"/>
          </a:p>
        </p:txBody>
      </p:sp>
      <p:sp>
        <p:nvSpPr>
          <p:cNvPr id="14" name="Text 12"/>
          <p:cNvSpPr/>
          <p:nvPr/>
        </p:nvSpPr>
        <p:spPr>
          <a:xfrm>
            <a:off x="9162901" y="6949529"/>
            <a:ext cx="1129308" cy="312390"/>
          </a:xfrm>
          <a:prstGeom prst="rect">
            <a:avLst/>
          </a:prstGeom>
          <a:noFill/>
          <a:ln/>
        </p:spPr>
        <p:txBody>
          <a:bodyPr wrap="square" lIns="25400" tIns="25400" rIns="25400" bIns="25400" rtlCol="0" anchor="t">
            <a:normAutofit/>
          </a:bodyPr>
          <a:lstStyle/>
          <a:p>
            <a:pPr algn="l" indent="0" marL="0">
              <a:lnSpc>
                <a:spcPct val="120000"/>
              </a:lnSpc>
              <a:buNone/>
            </a:pPr>
            <a:r>
              <a:rPr lang="en-US" sz="1800" b="1" spc="38" kern="0" dirty="0">
                <a:solidFill>
                  <a:srgbClr val="FFE600"/>
                </a:solidFill>
                <a:latin typeface="Barlow" pitchFamily="34" charset="0"/>
                <a:ea typeface="Barlow" pitchFamily="34" charset="-122"/>
                <a:cs typeface="Barlow" pitchFamily="34" charset="-120"/>
              </a:rPr>
              <a:t>A01286211</a:t>
            </a:r>
            <a:endParaRPr lang="en-US" sz="1800" dirty="0"/>
          </a:p>
        </p:txBody>
      </p:sp>
      <p:sp>
        <p:nvSpPr>
          <p:cNvPr id="15" name="Shape 13"/>
          <p:cNvSpPr/>
          <p:nvPr/>
        </p:nvSpPr>
        <p:spPr>
          <a:xfrm>
            <a:off x="1047750" y="8507760"/>
            <a:ext cx="4317429" cy="9525"/>
          </a:xfrm>
          <a:prstGeom prst="rect">
            <a:avLst/>
          </a:prstGeom>
          <a:solidFill>
            <a:srgbClr val="FFFFFF">
              <a:alpha val="16000"/>
            </a:srgbClr>
          </a:solidFill>
          <a:ln/>
        </p:spPr>
      </p:sp>
      <p:sp>
        <p:nvSpPr>
          <p:cNvPr id="16" name="Text 14"/>
          <p:cNvSpPr/>
          <p:nvPr/>
        </p:nvSpPr>
        <p:spPr>
          <a:xfrm>
            <a:off x="1047750" y="7814370"/>
            <a:ext cx="3170712" cy="655290"/>
          </a:xfrm>
          <a:prstGeom prst="rect">
            <a:avLst/>
          </a:prstGeom>
          <a:noFill/>
          <a:ln/>
        </p:spPr>
        <p:txBody>
          <a:bodyPr wrap="square" lIns="25400" tIns="25400" rIns="25400" bIns="25400" rtlCol="0" anchor="t">
            <a:normAutofit/>
          </a:bodyPr>
          <a:lstStyle/>
          <a:p>
            <a:pPr algn="l" indent="0" marL="0">
              <a:lnSpc>
                <a:spcPct val="120000"/>
              </a:lnSpc>
              <a:buNone/>
            </a:pPr>
            <a:r>
              <a:rPr lang="en-US" sz="2025" b="1" dirty="0">
                <a:solidFill>
                  <a:srgbClr val="FFFFFF"/>
                </a:solidFill>
                <a:latin typeface="Barlow" pitchFamily="34" charset="0"/>
                <a:ea typeface="Barlow" pitchFamily="34" charset="-122"/>
                <a:cs typeface="Barlow" pitchFamily="34" charset="-120"/>
              </a:rPr>
              <a:t>Cedrick Patricio Treviño Ortiz</a:t>
            </a:r>
            <a:endParaRPr lang="en-US" sz="2025" dirty="0"/>
          </a:p>
        </p:txBody>
      </p:sp>
      <p:sp>
        <p:nvSpPr>
          <p:cNvPr id="17" name="Text 15"/>
          <p:cNvSpPr/>
          <p:nvPr/>
        </p:nvSpPr>
        <p:spPr>
          <a:xfrm>
            <a:off x="4278511" y="7842945"/>
            <a:ext cx="1162869" cy="312390"/>
          </a:xfrm>
          <a:prstGeom prst="rect">
            <a:avLst/>
          </a:prstGeom>
          <a:noFill/>
          <a:ln/>
        </p:spPr>
        <p:txBody>
          <a:bodyPr wrap="square" lIns="25400" tIns="25400" rIns="25400" bIns="25400" rtlCol="0" anchor="t">
            <a:normAutofit/>
          </a:bodyPr>
          <a:lstStyle/>
          <a:p>
            <a:pPr algn="l" indent="0" marL="0">
              <a:lnSpc>
                <a:spcPct val="120000"/>
              </a:lnSpc>
              <a:buNone/>
            </a:pPr>
            <a:r>
              <a:rPr lang="en-US" sz="1800" b="1" spc="38" kern="0" dirty="0">
                <a:solidFill>
                  <a:srgbClr val="FFE600"/>
                </a:solidFill>
                <a:latin typeface="Barlow" pitchFamily="34" charset="0"/>
                <a:ea typeface="Barlow" pitchFamily="34" charset="-122"/>
                <a:cs typeface="Barlow" pitchFamily="34" charset="-120"/>
              </a:rPr>
              <a:t>A01198868</a:t>
            </a:r>
            <a:endParaRPr lang="en-US" sz="1800" dirty="0"/>
          </a:p>
        </p:txBody>
      </p:sp>
      <p:sp>
        <p:nvSpPr>
          <p:cNvPr id="18" name="Shape 16"/>
          <p:cNvSpPr/>
          <p:nvPr/>
        </p:nvSpPr>
        <p:spPr>
          <a:xfrm>
            <a:off x="5898579" y="8507760"/>
            <a:ext cx="4317429" cy="9525"/>
          </a:xfrm>
          <a:prstGeom prst="rect">
            <a:avLst/>
          </a:prstGeom>
          <a:solidFill>
            <a:srgbClr val="FFFFFF">
              <a:alpha val="16000"/>
            </a:srgbClr>
          </a:solidFill>
          <a:ln/>
        </p:spPr>
      </p:sp>
      <p:sp>
        <p:nvSpPr>
          <p:cNvPr id="19" name="Text 17"/>
          <p:cNvSpPr/>
          <p:nvPr/>
        </p:nvSpPr>
        <p:spPr>
          <a:xfrm>
            <a:off x="5898579" y="7814370"/>
            <a:ext cx="3114913" cy="655290"/>
          </a:xfrm>
          <a:prstGeom prst="rect">
            <a:avLst/>
          </a:prstGeom>
          <a:noFill/>
          <a:ln/>
        </p:spPr>
        <p:txBody>
          <a:bodyPr wrap="square" lIns="25400" tIns="25400" rIns="25400" bIns="25400" rtlCol="0" anchor="t">
            <a:normAutofit/>
          </a:bodyPr>
          <a:lstStyle/>
          <a:p>
            <a:pPr algn="l" indent="0" marL="0">
              <a:lnSpc>
                <a:spcPct val="120000"/>
              </a:lnSpc>
              <a:buNone/>
            </a:pPr>
            <a:r>
              <a:rPr lang="en-US" sz="2025" b="1" dirty="0">
                <a:solidFill>
                  <a:srgbClr val="FFFFFF"/>
                </a:solidFill>
                <a:latin typeface="Barlow" pitchFamily="34" charset="0"/>
                <a:ea typeface="Barlow" pitchFamily="34" charset="-122"/>
                <a:cs typeface="Barlow" pitchFamily="34" charset="-120"/>
              </a:rPr>
              <a:t>Lillianne Sepúlveda Cuevas</a:t>
            </a:r>
            <a:endParaRPr lang="en-US" sz="2025" dirty="0"/>
          </a:p>
        </p:txBody>
      </p:sp>
      <p:sp>
        <p:nvSpPr>
          <p:cNvPr id="20" name="Text 18"/>
          <p:cNvSpPr/>
          <p:nvPr/>
        </p:nvSpPr>
        <p:spPr>
          <a:xfrm>
            <a:off x="9075167" y="7842945"/>
            <a:ext cx="1217042" cy="312390"/>
          </a:xfrm>
          <a:prstGeom prst="rect">
            <a:avLst/>
          </a:prstGeom>
          <a:noFill/>
          <a:ln/>
        </p:spPr>
        <p:txBody>
          <a:bodyPr wrap="square" lIns="25400" tIns="25400" rIns="25400" bIns="25400" rtlCol="0" anchor="t">
            <a:normAutofit/>
          </a:bodyPr>
          <a:lstStyle/>
          <a:p>
            <a:pPr algn="l" indent="0" marL="0">
              <a:lnSpc>
                <a:spcPct val="120000"/>
              </a:lnSpc>
              <a:buNone/>
            </a:pPr>
            <a:r>
              <a:rPr lang="en-US" sz="1800" b="1" spc="38" kern="0" dirty="0">
                <a:solidFill>
                  <a:srgbClr val="FFE600"/>
                </a:solidFill>
                <a:latin typeface="Barlow" pitchFamily="34" charset="0"/>
                <a:ea typeface="Barlow" pitchFamily="34" charset="-122"/>
                <a:cs typeface="Barlow" pitchFamily="34" charset="-120"/>
              </a:rPr>
              <a:t>A00839109</a:t>
            </a:r>
            <a:endParaRPr lang="en-US" sz="1800" dirty="0"/>
          </a:p>
        </p:txBody>
      </p:sp>
      <p:sp>
        <p:nvSpPr>
          <p:cNvPr id="21" name="Shape 19"/>
          <p:cNvSpPr/>
          <p:nvPr/>
        </p:nvSpPr>
        <p:spPr>
          <a:xfrm>
            <a:off x="1047750" y="9401175"/>
            <a:ext cx="4317429" cy="9525"/>
          </a:xfrm>
          <a:prstGeom prst="rect">
            <a:avLst/>
          </a:prstGeom>
          <a:solidFill>
            <a:srgbClr val="FFFFFF">
              <a:alpha val="16000"/>
            </a:srgbClr>
          </a:solidFill>
          <a:ln/>
        </p:spPr>
      </p:sp>
      <p:sp>
        <p:nvSpPr>
          <p:cNvPr id="22" name="Text 20"/>
          <p:cNvSpPr/>
          <p:nvPr/>
        </p:nvSpPr>
        <p:spPr>
          <a:xfrm>
            <a:off x="1047750" y="8707785"/>
            <a:ext cx="3181289" cy="655290"/>
          </a:xfrm>
          <a:prstGeom prst="rect">
            <a:avLst/>
          </a:prstGeom>
          <a:noFill/>
          <a:ln/>
        </p:spPr>
        <p:txBody>
          <a:bodyPr wrap="square" lIns="25400" tIns="25400" rIns="25400" bIns="25400" rtlCol="0" anchor="t">
            <a:normAutofit/>
          </a:bodyPr>
          <a:lstStyle/>
          <a:p>
            <a:pPr algn="l" indent="0" marL="0">
              <a:lnSpc>
                <a:spcPct val="120000"/>
              </a:lnSpc>
              <a:buNone/>
            </a:pPr>
            <a:r>
              <a:rPr lang="en-US" sz="2025" b="1" dirty="0">
                <a:solidFill>
                  <a:srgbClr val="FFFFFF"/>
                </a:solidFill>
                <a:latin typeface="Barlow" pitchFamily="34" charset="0"/>
                <a:ea typeface="Barlow" pitchFamily="34" charset="-122"/>
                <a:cs typeface="Barlow" pitchFamily="34" charset="-120"/>
              </a:rPr>
              <a:t>Juan Fernando González Cervantes</a:t>
            </a:r>
            <a:endParaRPr lang="en-US" sz="2025" dirty="0"/>
          </a:p>
        </p:txBody>
      </p:sp>
      <p:sp>
        <p:nvSpPr>
          <p:cNvPr id="23" name="Text 21"/>
          <p:cNvSpPr/>
          <p:nvPr/>
        </p:nvSpPr>
        <p:spPr>
          <a:xfrm>
            <a:off x="4288780" y="8736360"/>
            <a:ext cx="1152599" cy="312390"/>
          </a:xfrm>
          <a:prstGeom prst="rect">
            <a:avLst/>
          </a:prstGeom>
          <a:noFill/>
          <a:ln/>
        </p:spPr>
        <p:txBody>
          <a:bodyPr wrap="square" lIns="25400" tIns="25400" rIns="25400" bIns="25400" rtlCol="0" anchor="t">
            <a:normAutofit/>
          </a:bodyPr>
          <a:lstStyle/>
          <a:p>
            <a:pPr algn="l" indent="0" marL="0">
              <a:lnSpc>
                <a:spcPct val="120000"/>
              </a:lnSpc>
              <a:buNone/>
            </a:pPr>
            <a:r>
              <a:rPr lang="en-US" sz="1800" b="1" spc="38" kern="0" dirty="0">
                <a:solidFill>
                  <a:srgbClr val="FFE600"/>
                </a:solidFill>
                <a:latin typeface="Barlow" pitchFamily="34" charset="0"/>
                <a:ea typeface="Barlow" pitchFamily="34" charset="-122"/>
                <a:cs typeface="Barlow" pitchFamily="34" charset="-120"/>
              </a:rPr>
              <a:t>A01571586</a:t>
            </a:r>
            <a:endParaRPr lang="en-US" sz="1800" dirty="0"/>
          </a:p>
        </p:txBody>
      </p:sp>
      <p:sp>
        <p:nvSpPr>
          <p:cNvPr id="24" name="Shape 22"/>
          <p:cNvSpPr/>
          <p:nvPr/>
        </p:nvSpPr>
        <p:spPr>
          <a:xfrm>
            <a:off x="5898579" y="9401175"/>
            <a:ext cx="4317429" cy="9525"/>
          </a:xfrm>
          <a:prstGeom prst="rect">
            <a:avLst/>
          </a:prstGeom>
          <a:solidFill>
            <a:srgbClr val="FFFFFF">
              <a:alpha val="16000"/>
            </a:srgbClr>
          </a:solidFill>
          <a:ln/>
        </p:spPr>
      </p:sp>
      <p:sp>
        <p:nvSpPr>
          <p:cNvPr id="25" name="Text 23"/>
          <p:cNvSpPr/>
          <p:nvPr/>
        </p:nvSpPr>
        <p:spPr>
          <a:xfrm>
            <a:off x="5898579" y="8707785"/>
            <a:ext cx="2374329" cy="346695"/>
          </a:xfrm>
          <a:prstGeom prst="rect">
            <a:avLst/>
          </a:prstGeom>
          <a:noFill/>
          <a:ln/>
        </p:spPr>
        <p:txBody>
          <a:bodyPr wrap="square" lIns="25400" tIns="25400" rIns="25400" bIns="25400" rtlCol="0" anchor="t">
            <a:normAutofit/>
          </a:bodyPr>
          <a:lstStyle/>
          <a:p>
            <a:pPr algn="l" indent="0" marL="0">
              <a:lnSpc>
                <a:spcPct val="120000"/>
              </a:lnSpc>
              <a:buNone/>
            </a:pPr>
            <a:r>
              <a:rPr lang="en-US" sz="2025" b="1" dirty="0">
                <a:solidFill>
                  <a:srgbClr val="FFFFFF"/>
                </a:solidFill>
                <a:latin typeface="Barlow" pitchFamily="34" charset="0"/>
                <a:ea typeface="Barlow" pitchFamily="34" charset="-122"/>
                <a:cs typeface="Barlow" pitchFamily="34" charset="-120"/>
              </a:rPr>
              <a:t>Javier Rojas Orrante</a:t>
            </a:r>
            <a:endParaRPr lang="en-US" sz="2025" dirty="0"/>
          </a:p>
        </p:txBody>
      </p:sp>
      <p:sp>
        <p:nvSpPr>
          <p:cNvPr id="26" name="Text 24"/>
          <p:cNvSpPr/>
          <p:nvPr/>
        </p:nvSpPr>
        <p:spPr>
          <a:xfrm>
            <a:off x="9123834" y="8736360"/>
            <a:ext cx="1168375" cy="312390"/>
          </a:xfrm>
          <a:prstGeom prst="rect">
            <a:avLst/>
          </a:prstGeom>
          <a:noFill/>
          <a:ln/>
        </p:spPr>
        <p:txBody>
          <a:bodyPr wrap="square" lIns="25400" tIns="25400" rIns="25400" bIns="25400" rtlCol="0" anchor="t">
            <a:normAutofit/>
          </a:bodyPr>
          <a:lstStyle/>
          <a:p>
            <a:pPr algn="l" indent="0" marL="0">
              <a:lnSpc>
                <a:spcPct val="120000"/>
              </a:lnSpc>
              <a:buNone/>
            </a:pPr>
            <a:r>
              <a:rPr lang="en-US" sz="1800" b="1" spc="38" kern="0" dirty="0">
                <a:solidFill>
                  <a:srgbClr val="FFE600"/>
                </a:solidFill>
                <a:latin typeface="Barlow" pitchFamily="34" charset="0"/>
                <a:ea typeface="Barlow" pitchFamily="34" charset="-122"/>
                <a:cs typeface="Barlow" pitchFamily="34" charset="-120"/>
              </a:rPr>
              <a:t>A01352213</a:t>
            </a:r>
            <a:endParaRPr lang="en-US" sz="1800" dirty="0"/>
          </a:p>
        </p:txBody>
      </p:sp>
      <p:sp>
        <p:nvSpPr>
          <p:cNvPr id="27" name="Shape 25"/>
          <p:cNvSpPr/>
          <p:nvPr/>
        </p:nvSpPr>
        <p:spPr>
          <a:xfrm>
            <a:off x="10597009" y="1814959"/>
            <a:ext cx="6776591" cy="6657082"/>
          </a:xfrm>
          <a:prstGeom prst="roundRect">
            <a:avLst>
              <a:gd name="adj" fmla="val 2575"/>
            </a:avLst>
          </a:prstGeom>
          <a:solidFill>
            <a:srgbClr val="FFFFFF"/>
          </a:solidFill>
          <a:ln/>
          <a:effectLst>
            <a:outerShdw sx="100000" sy="100000" kx="0" ky="0" algn="bl" rotWithShape="0" blurRad="857250" dist="381000" dir="5400000">
              <a:srgbClr val="000000">
                <a:alpha val="30000"/>
              </a:srgbClr>
            </a:outerShdw>
          </a:effectLst>
        </p:spPr>
      </p:sp>
      <p:pic>
        <p:nvPicPr>
          <p:cNvPr id="28" name="Image 0" descr="preencoded.png">    </p:cNvPr>
          <p:cNvPicPr>
            <a:picLocks noChangeAspect="1"/>
          </p:cNvPicPr>
          <p:nvPr/>
        </p:nvPicPr>
        <p:blipFill>
          <a:blip r:embed="rId1"/>
          <a:stretch>
            <a:fillRect/>
          </a:stretch>
        </p:blipFill>
        <p:spPr>
          <a:xfrm>
            <a:off x="10806559" y="2024509"/>
            <a:ext cx="6357491" cy="5807497"/>
          </a:xfrm>
          <a:prstGeom prst="rect">
            <a:avLst/>
          </a:prstGeom>
        </p:spPr>
      </p:pic>
      <p:sp>
        <p:nvSpPr>
          <p:cNvPr id="29" name="Text 26"/>
          <p:cNvSpPr/>
          <p:nvPr/>
        </p:nvSpPr>
        <p:spPr>
          <a:xfrm>
            <a:off x="10711197" y="7965356"/>
            <a:ext cx="6548216" cy="335235"/>
          </a:xfrm>
          <a:prstGeom prst="rect">
            <a:avLst/>
          </a:prstGeom>
          <a:noFill/>
          <a:ln/>
        </p:spPr>
        <p:txBody>
          <a:bodyPr wrap="square" lIns="25400" tIns="25400" rIns="25400" bIns="25400" rtlCol="0" anchor="t">
            <a:normAutofit/>
          </a:bodyPr>
          <a:lstStyle/>
          <a:p>
            <a:pPr algn="ctr" indent="0" marL="0">
              <a:lnSpc>
                <a:spcPct val="130000"/>
              </a:lnSpc>
              <a:buNone/>
            </a:pPr>
            <a:r>
              <a:rPr lang="en-US" sz="1800" b="1" spc="38" kern="0" dirty="0">
                <a:solidFill>
                  <a:srgbClr val="71717A"/>
                </a:solidFill>
                <a:latin typeface="Barlow" pitchFamily="34" charset="0"/>
                <a:ea typeface="Barlow" pitchFamily="34" charset="-122"/>
                <a:cs typeface="Barlow" pitchFamily="34" charset="-120"/>
              </a:rPr>
              <a:t>PLANOGRAMA OPTIMIZADO · BCO_CF_4.0</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2338908"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01 · EL PROBLEMA</a:t>
            </a:r>
            <a:endParaRPr lang="en-US" sz="1800" dirty="0"/>
          </a:p>
        </p:txBody>
      </p:sp>
      <p:sp>
        <p:nvSpPr>
          <p:cNvPr id="4" name="Text 2"/>
          <p:cNvSpPr/>
          <p:nvPr/>
        </p:nvSpPr>
        <p:spPr>
          <a:xfrm>
            <a:off x="1047750" y="131445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Atacamos el último paso del surtido</a:t>
            </a:r>
            <a:endParaRPr lang="en-US" sz="5400" dirty="0"/>
          </a:p>
        </p:txBody>
      </p:sp>
      <p:sp>
        <p:nvSpPr>
          <p:cNvPr id="5" name="Shape 3"/>
          <p:cNvSpPr/>
          <p:nvPr/>
        </p:nvSpPr>
        <p:spPr>
          <a:xfrm>
            <a:off x="1047750" y="2580084"/>
            <a:ext cx="7156475" cy="6165800"/>
          </a:xfrm>
          <a:prstGeom prst="roundRect">
            <a:avLst>
              <a:gd name="adj" fmla="val 2472"/>
            </a:avLst>
          </a:prstGeom>
          <a:solidFill>
            <a:srgbClr val="FFFFFF"/>
          </a:solidFill>
          <a:ln w="9525">
            <a:solidFill>
              <a:srgbClr val="E7E5E1"/>
            </a:solidFill>
            <a:prstDash val="solid"/>
          </a:ln>
        </p:spPr>
      </p:sp>
      <p:sp>
        <p:nvSpPr>
          <p:cNvPr id="6" name="Text 4"/>
          <p:cNvSpPr/>
          <p:nvPr/>
        </p:nvSpPr>
        <p:spPr>
          <a:xfrm>
            <a:off x="1476375" y="3027759"/>
            <a:ext cx="6488202"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150" kern="0" dirty="0">
                <a:solidFill>
                  <a:srgbClr val="A1A1AA"/>
                </a:solidFill>
                <a:latin typeface="Barlow" pitchFamily="34" charset="0"/>
                <a:ea typeface="Barlow" pitchFamily="34" charset="-122"/>
                <a:cs typeface="Barlow" pitchFamily="34" charset="-120"/>
              </a:rPr>
              <a:t>YA ESTÁ DECIDIDO</a:t>
            </a:r>
            <a:endParaRPr lang="en-US" sz="1800" dirty="0"/>
          </a:p>
        </p:txBody>
      </p:sp>
      <p:sp>
        <p:nvSpPr>
          <p:cNvPr id="7" name="Text 5"/>
          <p:cNvSpPr/>
          <p:nvPr/>
        </p:nvSpPr>
        <p:spPr>
          <a:xfrm>
            <a:off x="1476375" y="3465909"/>
            <a:ext cx="6488202"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2525B"/>
                </a:solidFill>
                <a:latin typeface="Barlow" pitchFamily="34" charset="0"/>
                <a:ea typeface="Barlow" pitchFamily="34" charset="-122"/>
                <a:cs typeface="Barlow" pitchFamily="34" charset="-120"/>
              </a:rPr>
              <a:t>Pasos previos del surtido, fuera de nuestro alcance.</a:t>
            </a:r>
            <a:endParaRPr lang="en-US" sz="2250" dirty="0"/>
          </a:p>
        </p:txBody>
      </p:sp>
      <p:sp>
        <p:nvSpPr>
          <p:cNvPr id="8" name="Text 6"/>
          <p:cNvSpPr/>
          <p:nvPr/>
        </p:nvSpPr>
        <p:spPr>
          <a:xfrm>
            <a:off x="1476375" y="7317135"/>
            <a:ext cx="6488202" cy="442913"/>
          </a:xfrm>
          <a:prstGeom prst="rect">
            <a:avLst/>
          </a:prstGeom>
          <a:noFill/>
          <a:ln/>
        </p:spPr>
        <p:txBody>
          <a:bodyPr wrap="square" lIns="25400" tIns="25400" rIns="25400" bIns="25400" rtlCol="0" anchor="t">
            <a:normAutofit/>
          </a:bodyPr>
          <a:lstStyle/>
          <a:p>
            <a:pPr algn="l" indent="0" marL="0">
              <a:lnSpc>
                <a:spcPct val="125000"/>
              </a:lnSpc>
              <a:buNone/>
            </a:pPr>
            <a:r>
              <a:rPr lang="en-US" sz="2550" b="1" dirty="0">
                <a:solidFill>
                  <a:srgbClr val="3F3F46"/>
                </a:solidFill>
                <a:latin typeface="Barlow" pitchFamily="34" charset="0"/>
                <a:ea typeface="Barlow" pitchFamily="34" charset="-122"/>
                <a:cs typeface="Barlow" pitchFamily="34" charset="-120"/>
              </a:rPr>
              <a:t>Qué productos entran</a:t>
            </a:r>
            <a:endParaRPr lang="en-US" sz="2550" dirty="0"/>
          </a:p>
        </p:txBody>
      </p:sp>
      <p:sp>
        <p:nvSpPr>
          <p:cNvPr id="9" name="Text 7"/>
          <p:cNvSpPr/>
          <p:nvPr/>
        </p:nvSpPr>
        <p:spPr>
          <a:xfrm>
            <a:off x="1476375" y="7893397"/>
            <a:ext cx="6488202" cy="442913"/>
          </a:xfrm>
          <a:prstGeom prst="rect">
            <a:avLst/>
          </a:prstGeom>
          <a:noFill/>
          <a:ln/>
        </p:spPr>
        <p:txBody>
          <a:bodyPr wrap="square" lIns="25400" tIns="25400" rIns="25400" bIns="25400" rtlCol="0" anchor="t">
            <a:normAutofit/>
          </a:bodyPr>
          <a:lstStyle/>
          <a:p>
            <a:pPr algn="l" indent="0" marL="0">
              <a:lnSpc>
                <a:spcPct val="125000"/>
              </a:lnSpc>
              <a:buNone/>
            </a:pPr>
            <a:r>
              <a:rPr lang="en-US" sz="2550" b="1" dirty="0">
                <a:solidFill>
                  <a:srgbClr val="3F3F46"/>
                </a:solidFill>
                <a:latin typeface="Barlow" pitchFamily="34" charset="0"/>
                <a:ea typeface="Barlow" pitchFamily="34" charset="-122"/>
                <a:cs typeface="Barlow" pitchFamily="34" charset="-120"/>
              </a:rPr>
              <a:t>Cuántos frentes por producto</a:t>
            </a:r>
            <a:endParaRPr lang="en-US" sz="2550" dirty="0"/>
          </a:p>
        </p:txBody>
      </p:sp>
      <p:sp>
        <p:nvSpPr>
          <p:cNvPr id="10" name="Shape 8"/>
          <p:cNvSpPr/>
          <p:nvPr/>
        </p:nvSpPr>
        <p:spPr>
          <a:xfrm>
            <a:off x="8528075" y="2580084"/>
            <a:ext cx="8712175" cy="6165800"/>
          </a:xfrm>
          <a:prstGeom prst="roundRect">
            <a:avLst>
              <a:gd name="adj" fmla="val 2472"/>
            </a:avLst>
          </a:prstGeom>
          <a:solidFill>
            <a:srgbClr val="E4002B"/>
          </a:solidFill>
          <a:ln/>
          <a:effectLst>
            <a:outerShdw sx="100000" sy="100000" kx="0" ky="0" algn="bl" rotWithShape="0" blurRad="571500" dist="228600" dir="5400000">
              <a:srgbClr val="E4002B">
                <a:alpha val="28000"/>
              </a:srgbClr>
            </a:outerShdw>
          </a:effectLst>
        </p:spPr>
      </p:sp>
      <p:sp>
        <p:nvSpPr>
          <p:cNvPr id="11" name="Text 9"/>
          <p:cNvSpPr/>
          <p:nvPr/>
        </p:nvSpPr>
        <p:spPr>
          <a:xfrm>
            <a:off x="8947175" y="3018234"/>
            <a:ext cx="8110194"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150" kern="0" dirty="0">
                <a:solidFill>
                  <a:srgbClr val="FFE600"/>
                </a:solidFill>
                <a:latin typeface="Barlow" pitchFamily="34" charset="0"/>
                <a:ea typeface="Barlow" pitchFamily="34" charset="-122"/>
                <a:cs typeface="Barlow" pitchFamily="34" charset="-120"/>
              </a:rPr>
              <a:t>NUESTRO FOCO · PLANOGRAMACIÓN</a:t>
            </a:r>
            <a:endParaRPr lang="en-US" sz="1800" dirty="0"/>
          </a:p>
        </p:txBody>
      </p:sp>
      <p:sp>
        <p:nvSpPr>
          <p:cNvPr id="12" name="Text 10"/>
          <p:cNvSpPr/>
          <p:nvPr/>
        </p:nvSpPr>
        <p:spPr>
          <a:xfrm>
            <a:off x="8947175" y="3456384"/>
            <a:ext cx="8110194"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FFFFFF">
                    <a:alpha val="90000"/>
                  </a:srgbClr>
                </a:solidFill>
                <a:latin typeface="Barlow" pitchFamily="34" charset="0"/>
                <a:ea typeface="Barlow" pitchFamily="34" charset="-122"/>
                <a:cs typeface="Barlow" pitchFamily="34" charset="-120"/>
              </a:rPr>
              <a:t>Lo que falta resolver una vez fijado el surtido.</a:t>
            </a:r>
            <a:endParaRPr lang="en-US" sz="2250" dirty="0"/>
          </a:p>
        </p:txBody>
      </p:sp>
      <p:sp>
        <p:nvSpPr>
          <p:cNvPr id="13" name="Text 11"/>
          <p:cNvSpPr/>
          <p:nvPr/>
        </p:nvSpPr>
        <p:spPr>
          <a:xfrm>
            <a:off x="8947175" y="7279035"/>
            <a:ext cx="8110194" cy="466725"/>
          </a:xfrm>
          <a:prstGeom prst="rect">
            <a:avLst/>
          </a:prstGeom>
          <a:noFill/>
          <a:ln/>
        </p:spPr>
        <p:txBody>
          <a:bodyPr wrap="square" lIns="25400" tIns="25400" rIns="25400" bIns="25400" rtlCol="0" anchor="t">
            <a:normAutofit/>
          </a:bodyPr>
          <a:lstStyle/>
          <a:p>
            <a:pPr algn="l" indent="0" marL="0">
              <a:lnSpc>
                <a:spcPct val="125000"/>
              </a:lnSpc>
              <a:buNone/>
            </a:pPr>
            <a:r>
              <a:rPr lang="en-US" sz="2700" b="1" dirty="0">
                <a:solidFill>
                  <a:srgbClr val="FFFFFF"/>
                </a:solidFill>
                <a:latin typeface="Barlow" pitchFamily="34" charset="0"/>
                <a:ea typeface="Barlow" pitchFamily="34" charset="-122"/>
                <a:cs typeface="Barlow" pitchFamily="34" charset="-120"/>
              </a:rPr>
              <a:t>En qué charola va cada uno</a:t>
            </a:r>
            <a:endParaRPr lang="en-US" sz="2700" dirty="0"/>
          </a:p>
        </p:txBody>
      </p:sp>
      <p:sp>
        <p:nvSpPr>
          <p:cNvPr id="14" name="Text 12"/>
          <p:cNvSpPr/>
          <p:nvPr/>
        </p:nvSpPr>
        <p:spPr>
          <a:xfrm>
            <a:off x="8947175" y="7879110"/>
            <a:ext cx="8110194" cy="466725"/>
          </a:xfrm>
          <a:prstGeom prst="rect">
            <a:avLst/>
          </a:prstGeom>
          <a:noFill/>
          <a:ln/>
        </p:spPr>
        <p:txBody>
          <a:bodyPr wrap="square" lIns="25400" tIns="25400" rIns="25400" bIns="25400" rtlCol="0" anchor="t">
            <a:normAutofit/>
          </a:bodyPr>
          <a:lstStyle/>
          <a:p>
            <a:pPr algn="l" indent="0" marL="0">
              <a:lnSpc>
                <a:spcPct val="125000"/>
              </a:lnSpc>
              <a:buNone/>
            </a:pPr>
            <a:r>
              <a:rPr lang="en-US" sz="2700" b="1" dirty="0">
                <a:solidFill>
                  <a:srgbClr val="FFFFFF"/>
                </a:solidFill>
                <a:latin typeface="Barlow" pitchFamily="34" charset="0"/>
                <a:ea typeface="Barlow" pitchFamily="34" charset="-122"/>
                <a:cs typeface="Barlow" pitchFamily="34" charset="-120"/>
              </a:rPr>
              <a:t>En qué orden dentro de la charola</a:t>
            </a:r>
            <a:endParaRPr lang="en-US" sz="2700" dirty="0"/>
          </a:p>
        </p:txBody>
      </p:sp>
      <p:sp>
        <p:nvSpPr>
          <p:cNvPr id="15" name="Text 13"/>
          <p:cNvSpPr/>
          <p:nvPr/>
        </p:nvSpPr>
        <p:spPr>
          <a:xfrm>
            <a:off x="1047750" y="9126885"/>
            <a:ext cx="10596683"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18181B"/>
                </a:solidFill>
                <a:latin typeface="Barlow" pitchFamily="34" charset="0"/>
                <a:ea typeface="Barlow" pitchFamily="34" charset="-122"/>
                <a:cs typeface="Barlow" pitchFamily="34" charset="-120"/>
              </a:rPr>
              <a:t>No optimizamos las ventas —eso se decide antes—. Optimizamos la </a:t>
            </a:r>
            <a:pPr algn="l" indent="0" marL="0">
              <a:lnSpc>
                <a:spcPct val="135000"/>
              </a:lnSpc>
              <a:buNone/>
            </a:pPr>
            <a:r>
              <a:rPr lang="en-US" sz="2100" b="1" dirty="0">
                <a:solidFill>
                  <a:srgbClr val="E4002B"/>
                </a:solidFill>
                <a:latin typeface="Barlow" pitchFamily="34" charset="0"/>
                <a:ea typeface="Barlow" pitchFamily="34" charset="-122"/>
                <a:cs typeface="Barlow" pitchFamily="34" charset="-120"/>
              </a:rPr>
              <a:t>calidad del acomodo</a:t>
            </a:r>
            <a:pPr algn="l" indent="0" marL="0">
              <a:lnSpc>
                <a:spcPct val="135000"/>
              </a:lnSpc>
              <a:buNone/>
            </a:pPr>
            <a:r>
              <a:rPr lang="en-US" sz="2100" b="1" dirty="0">
                <a:solidFill>
                  <a:srgbClr val="18181B"/>
                </a:solidFill>
                <a:latin typeface="Barlow" pitchFamily="34" charset="0"/>
                <a:ea typeface="Barlow" pitchFamily="34" charset="-122"/>
                <a:cs typeface="Barlow" pitchFamily="34" charset="-120"/>
              </a:rPr>
              <a:t>.</a:t>
            </a:r>
            <a:endParaRPr lang="en-US" sz="2100" dirty="0"/>
          </a:p>
        </p:txBody>
      </p:sp>
      <p:sp>
        <p:nvSpPr>
          <p:cNvPr id="16" name="Text 14"/>
          <p:cNvSpPr/>
          <p:nvPr/>
        </p:nvSpPr>
        <p:spPr>
          <a:xfrm>
            <a:off x="12918356" y="9192592"/>
            <a:ext cx="4451551"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75" kern="0" dirty="0">
                <a:solidFill>
                  <a:srgbClr val="A1A1AA"/>
                </a:solidFill>
                <a:latin typeface="Barlow" pitchFamily="34" charset="0"/>
                <a:ea typeface="Barlow" pitchFamily="34" charset="-122"/>
                <a:cs typeface="Barlow" pitchFamily="34" charset="-120"/>
              </a:rPr>
              <a:t>Tres criterios: espacio · tamaño · marca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3007761"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02 · QUÉ CONSTRUIMOS</a:t>
            </a:r>
            <a:endParaRPr lang="en-US" sz="1800" dirty="0"/>
          </a:p>
        </p:txBody>
      </p:sp>
      <p:sp>
        <p:nvSpPr>
          <p:cNvPr id="4" name="Text 2"/>
          <p:cNvSpPr/>
          <p:nvPr/>
        </p:nvSpPr>
        <p:spPr>
          <a:xfrm>
            <a:off x="1047750" y="131445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Un optimizador automático de acomodo</a:t>
            </a:r>
            <a:endParaRPr lang="en-US" sz="5400" dirty="0"/>
          </a:p>
        </p:txBody>
      </p:sp>
      <p:sp>
        <p:nvSpPr>
          <p:cNvPr id="5" name="Text 3"/>
          <p:cNvSpPr/>
          <p:nvPr/>
        </p:nvSpPr>
        <p:spPr>
          <a:xfrm>
            <a:off x="1047750" y="2256234"/>
            <a:ext cx="12557760" cy="449535"/>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52525B"/>
                </a:solidFill>
                <a:latin typeface="Barlow" pitchFamily="34" charset="0"/>
                <a:ea typeface="Barlow" pitchFamily="34" charset="-122"/>
                <a:cs typeface="Barlow" pitchFamily="34" charset="-120"/>
              </a:rPr>
              <a:t>Acomoda los productos de un mueble maximizando tres criterios de calidad.</a:t>
            </a:r>
            <a:endParaRPr lang="en-US" sz="2400" dirty="0"/>
          </a:p>
        </p:txBody>
      </p:sp>
      <p:sp>
        <p:nvSpPr>
          <p:cNvPr id="6" name="Shape 4"/>
          <p:cNvSpPr/>
          <p:nvPr/>
        </p:nvSpPr>
        <p:spPr>
          <a:xfrm>
            <a:off x="1047750" y="3182020"/>
            <a:ext cx="5206975" cy="5024735"/>
          </a:xfrm>
          <a:prstGeom prst="roundRect">
            <a:avLst>
              <a:gd name="adj" fmla="val 3033"/>
            </a:avLst>
          </a:prstGeom>
          <a:solidFill>
            <a:srgbClr val="FFFFFF"/>
          </a:solidFill>
          <a:ln w="9525">
            <a:solidFill>
              <a:srgbClr val="E7E5E1"/>
            </a:solidFill>
            <a:prstDash val="solid"/>
          </a:ln>
        </p:spPr>
      </p:sp>
      <p:sp>
        <p:nvSpPr>
          <p:cNvPr id="7" name="Text 5"/>
          <p:cNvSpPr/>
          <p:nvPr/>
        </p:nvSpPr>
        <p:spPr>
          <a:xfrm>
            <a:off x="1438275" y="3610645"/>
            <a:ext cx="4558703"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E4002B"/>
                </a:solidFill>
                <a:latin typeface="Barlow Semi Condensed" pitchFamily="34" charset="0"/>
                <a:ea typeface="Barlow Semi Condensed" pitchFamily="34" charset="-122"/>
                <a:cs typeface="Barlow Semi Condensed" pitchFamily="34" charset="-120"/>
              </a:rPr>
              <a:t>01</a:t>
            </a:r>
            <a:endParaRPr lang="en-US" sz="4200" dirty="0"/>
          </a:p>
        </p:txBody>
      </p:sp>
      <p:sp>
        <p:nvSpPr>
          <p:cNvPr id="8" name="Text 6"/>
          <p:cNvSpPr/>
          <p:nvPr/>
        </p:nvSpPr>
        <p:spPr>
          <a:xfrm>
            <a:off x="1438275" y="4391695"/>
            <a:ext cx="4558703" cy="870496"/>
          </a:xfrm>
          <a:prstGeom prst="rect">
            <a:avLst/>
          </a:prstGeom>
          <a:noFill/>
          <a:ln/>
        </p:spPr>
        <p:txBody>
          <a:bodyPr wrap="square" lIns="25400" tIns="25400" rIns="25400" bIns="25400" rtlCol="0" anchor="t">
            <a:normAutofit/>
          </a:bodyPr>
          <a:lstStyle/>
          <a:p>
            <a:pPr algn="l" indent="0" marL="0">
              <a:lnSpc>
                <a:spcPct val="115000"/>
              </a:lnSpc>
              <a:buNone/>
            </a:pPr>
            <a:r>
              <a:rPr lang="en-US" sz="2850" b="1" dirty="0">
                <a:solidFill>
                  <a:srgbClr val="18181B"/>
                </a:solidFill>
                <a:latin typeface="Barlow" pitchFamily="34" charset="0"/>
                <a:ea typeface="Barlow" pitchFamily="34" charset="-122"/>
                <a:cs typeface="Barlow" pitchFamily="34" charset="-120"/>
              </a:rPr>
              <a:t>Aprovechamiento del ancho</a:t>
            </a:r>
            <a:endParaRPr lang="en-US" sz="2850" dirty="0"/>
          </a:p>
        </p:txBody>
      </p:sp>
      <p:sp>
        <p:nvSpPr>
          <p:cNvPr id="9" name="Text 7"/>
          <p:cNvSpPr/>
          <p:nvPr/>
        </p:nvSpPr>
        <p:spPr>
          <a:xfrm>
            <a:off x="1438275" y="5376490"/>
            <a:ext cx="4558703"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52525B"/>
                </a:solidFill>
                <a:latin typeface="Barlow" pitchFamily="34" charset="0"/>
                <a:ea typeface="Barlow" pitchFamily="34" charset="-122"/>
                <a:cs typeface="Barlow" pitchFamily="34" charset="-120"/>
              </a:rPr>
              <a:t>Cada charola se llena hasta el límite disponible, sin desperdiciar espacio.</a:t>
            </a:r>
            <a:endParaRPr lang="en-US" sz="2100" dirty="0"/>
          </a:p>
        </p:txBody>
      </p:sp>
      <p:sp>
        <p:nvSpPr>
          <p:cNvPr id="10" name="Shape 8"/>
          <p:cNvSpPr/>
          <p:nvPr/>
        </p:nvSpPr>
        <p:spPr>
          <a:xfrm>
            <a:off x="6540475" y="3182020"/>
            <a:ext cx="5207050" cy="5024735"/>
          </a:xfrm>
          <a:prstGeom prst="roundRect">
            <a:avLst>
              <a:gd name="adj" fmla="val 3033"/>
            </a:avLst>
          </a:prstGeom>
          <a:solidFill>
            <a:srgbClr val="FFFFFF"/>
          </a:solidFill>
          <a:ln w="9525">
            <a:solidFill>
              <a:srgbClr val="E7E5E1"/>
            </a:solidFill>
            <a:prstDash val="solid"/>
          </a:ln>
        </p:spPr>
      </p:sp>
      <p:sp>
        <p:nvSpPr>
          <p:cNvPr id="11" name="Text 9"/>
          <p:cNvSpPr/>
          <p:nvPr/>
        </p:nvSpPr>
        <p:spPr>
          <a:xfrm>
            <a:off x="6931000" y="3610645"/>
            <a:ext cx="455878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E4002B"/>
                </a:solidFill>
                <a:latin typeface="Barlow Semi Condensed" pitchFamily="34" charset="0"/>
                <a:ea typeface="Barlow Semi Condensed" pitchFamily="34" charset="-122"/>
                <a:cs typeface="Barlow Semi Condensed" pitchFamily="34" charset="-120"/>
              </a:rPr>
              <a:t>02</a:t>
            </a:r>
            <a:endParaRPr lang="en-US" sz="4200" dirty="0"/>
          </a:p>
        </p:txBody>
      </p:sp>
      <p:sp>
        <p:nvSpPr>
          <p:cNvPr id="12" name="Text 10"/>
          <p:cNvSpPr/>
          <p:nvPr/>
        </p:nvSpPr>
        <p:spPr>
          <a:xfrm>
            <a:off x="6931000" y="4391695"/>
            <a:ext cx="4558780" cy="454298"/>
          </a:xfrm>
          <a:prstGeom prst="rect">
            <a:avLst/>
          </a:prstGeom>
          <a:noFill/>
          <a:ln/>
        </p:spPr>
        <p:txBody>
          <a:bodyPr wrap="square" lIns="25400" tIns="25400" rIns="25400" bIns="25400" rtlCol="0" anchor="t">
            <a:normAutofit/>
          </a:bodyPr>
          <a:lstStyle/>
          <a:p>
            <a:pPr algn="l" indent="0" marL="0">
              <a:lnSpc>
                <a:spcPct val="115000"/>
              </a:lnSpc>
              <a:buNone/>
            </a:pPr>
            <a:r>
              <a:rPr lang="en-US" sz="2850" b="1" dirty="0">
                <a:solidFill>
                  <a:srgbClr val="18181B"/>
                </a:solidFill>
                <a:latin typeface="Barlow" pitchFamily="34" charset="0"/>
                <a:ea typeface="Barlow" pitchFamily="34" charset="-122"/>
                <a:cs typeface="Barlow" pitchFamily="34" charset="-120"/>
              </a:rPr>
              <a:t>Coherencia de tamaño</a:t>
            </a:r>
            <a:endParaRPr lang="en-US" sz="2850" dirty="0"/>
          </a:p>
        </p:txBody>
      </p:sp>
      <p:sp>
        <p:nvSpPr>
          <p:cNvPr id="13" name="Text 11"/>
          <p:cNvSpPr/>
          <p:nvPr/>
        </p:nvSpPr>
        <p:spPr>
          <a:xfrm>
            <a:off x="6931000" y="4960293"/>
            <a:ext cx="4558780"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52525B"/>
                </a:solidFill>
                <a:latin typeface="Barlow" pitchFamily="34" charset="0"/>
                <a:ea typeface="Barlow" pitchFamily="34" charset="-122"/>
                <a:cs typeface="Barlow" pitchFamily="34" charset="-120"/>
              </a:rPr>
              <a:t>Productos de altura similar quedan juntos en la misma charola.</a:t>
            </a:r>
            <a:endParaRPr lang="en-US" sz="2100" dirty="0"/>
          </a:p>
        </p:txBody>
      </p:sp>
      <p:sp>
        <p:nvSpPr>
          <p:cNvPr id="14" name="Shape 12"/>
          <p:cNvSpPr/>
          <p:nvPr/>
        </p:nvSpPr>
        <p:spPr>
          <a:xfrm>
            <a:off x="12033275" y="3182020"/>
            <a:ext cx="5206975" cy="5024735"/>
          </a:xfrm>
          <a:prstGeom prst="roundRect">
            <a:avLst>
              <a:gd name="adj" fmla="val 3033"/>
            </a:avLst>
          </a:prstGeom>
          <a:solidFill>
            <a:srgbClr val="FFFFFF"/>
          </a:solidFill>
          <a:ln w="9525">
            <a:solidFill>
              <a:srgbClr val="E7E5E1"/>
            </a:solidFill>
            <a:prstDash val="solid"/>
          </a:ln>
        </p:spPr>
      </p:sp>
      <p:sp>
        <p:nvSpPr>
          <p:cNvPr id="15" name="Text 13"/>
          <p:cNvSpPr/>
          <p:nvPr/>
        </p:nvSpPr>
        <p:spPr>
          <a:xfrm>
            <a:off x="12423800" y="3610645"/>
            <a:ext cx="4558703"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E4002B"/>
                </a:solidFill>
                <a:latin typeface="Barlow Semi Condensed" pitchFamily="34" charset="0"/>
                <a:ea typeface="Barlow Semi Condensed" pitchFamily="34" charset="-122"/>
                <a:cs typeface="Barlow Semi Condensed" pitchFamily="34" charset="-120"/>
              </a:rPr>
              <a:t>03</a:t>
            </a:r>
            <a:endParaRPr lang="en-US" sz="4200" dirty="0"/>
          </a:p>
        </p:txBody>
      </p:sp>
      <p:sp>
        <p:nvSpPr>
          <p:cNvPr id="16" name="Text 14"/>
          <p:cNvSpPr/>
          <p:nvPr/>
        </p:nvSpPr>
        <p:spPr>
          <a:xfrm>
            <a:off x="12423800" y="4391695"/>
            <a:ext cx="4558703" cy="454298"/>
          </a:xfrm>
          <a:prstGeom prst="rect">
            <a:avLst/>
          </a:prstGeom>
          <a:noFill/>
          <a:ln/>
        </p:spPr>
        <p:txBody>
          <a:bodyPr wrap="square" lIns="25400" tIns="25400" rIns="25400" bIns="25400" rtlCol="0" anchor="t">
            <a:normAutofit/>
          </a:bodyPr>
          <a:lstStyle/>
          <a:p>
            <a:pPr algn="l" indent="0" marL="0">
              <a:lnSpc>
                <a:spcPct val="115000"/>
              </a:lnSpc>
              <a:buNone/>
            </a:pPr>
            <a:r>
              <a:rPr lang="en-US" sz="2850" b="1" dirty="0">
                <a:solidFill>
                  <a:srgbClr val="18181B"/>
                </a:solidFill>
                <a:latin typeface="Barlow" pitchFamily="34" charset="0"/>
                <a:ea typeface="Barlow" pitchFamily="34" charset="-122"/>
                <a:cs typeface="Barlow" pitchFamily="34" charset="-120"/>
              </a:rPr>
              <a:t>Agrupación de marca</a:t>
            </a:r>
            <a:endParaRPr lang="en-US" sz="2850" dirty="0"/>
          </a:p>
        </p:txBody>
      </p:sp>
      <p:sp>
        <p:nvSpPr>
          <p:cNvPr id="17" name="Text 15"/>
          <p:cNvSpPr/>
          <p:nvPr/>
        </p:nvSpPr>
        <p:spPr>
          <a:xfrm>
            <a:off x="12423800" y="4960293"/>
            <a:ext cx="4558703"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52525B"/>
                </a:solidFill>
                <a:latin typeface="Barlow" pitchFamily="34" charset="0"/>
                <a:ea typeface="Barlow" pitchFamily="34" charset="-122"/>
                <a:cs typeface="Barlow" pitchFamily="34" charset="-120"/>
              </a:rPr>
              <a:t>Cada marca forma bloques contiguos, fáciles de identificar y surtir.</a:t>
            </a:r>
            <a:endParaRPr lang="en-US" sz="2100" dirty="0"/>
          </a:p>
        </p:txBody>
      </p:sp>
      <p:sp>
        <p:nvSpPr>
          <p:cNvPr id="18" name="Shape 16"/>
          <p:cNvSpPr/>
          <p:nvPr/>
        </p:nvSpPr>
        <p:spPr>
          <a:xfrm>
            <a:off x="1047750" y="8568705"/>
            <a:ext cx="16192500" cy="918195"/>
          </a:xfrm>
          <a:prstGeom prst="roundRect">
            <a:avLst>
              <a:gd name="adj" fmla="val 14523"/>
            </a:avLst>
          </a:prstGeom>
          <a:solidFill>
            <a:srgbClr val="18181B"/>
          </a:solidFill>
          <a:ln/>
        </p:spPr>
      </p:sp>
      <p:sp>
        <p:nvSpPr>
          <p:cNvPr id="19" name="Text 17"/>
          <p:cNvSpPr/>
          <p:nvPr/>
        </p:nvSpPr>
        <p:spPr>
          <a:xfrm>
            <a:off x="1428750" y="8913465"/>
            <a:ext cx="1961555"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150" kern="0" dirty="0">
                <a:solidFill>
                  <a:srgbClr val="FFE600"/>
                </a:solidFill>
                <a:latin typeface="Barlow" pitchFamily="34" charset="0"/>
                <a:ea typeface="Barlow" pitchFamily="34" charset="-122"/>
                <a:cs typeface="Barlow" pitchFamily="34" charset="-120"/>
              </a:rPr>
              <a:t>DOS VERSIONES</a:t>
            </a:r>
            <a:endParaRPr lang="en-US" sz="1800" dirty="0"/>
          </a:p>
        </p:txBody>
      </p:sp>
      <p:sp>
        <p:nvSpPr>
          <p:cNvPr id="20" name="Text 18"/>
          <p:cNvSpPr/>
          <p:nvPr/>
        </p:nvSpPr>
        <p:spPr>
          <a:xfrm>
            <a:off x="3561755" y="8854455"/>
            <a:ext cx="9928402" cy="384795"/>
          </a:xfrm>
          <a:prstGeom prst="rect">
            <a:avLst/>
          </a:prstGeom>
          <a:noFill/>
          <a:ln/>
        </p:spPr>
        <p:txBody>
          <a:bodyPr wrap="square" lIns="25400" tIns="25400" rIns="25400" bIns="25400" rtlCol="0" anchor="t">
            <a:normAutofit/>
          </a:bodyPr>
          <a:lstStyle/>
          <a:p>
            <a:pPr algn="l" indent="0" marL="0">
              <a:lnSpc>
                <a:spcPct val="130000"/>
              </a:lnSpc>
              <a:buNone/>
            </a:pPr>
            <a:r>
              <a:rPr lang="en-US" sz="2100" b="1" dirty="0">
                <a:solidFill>
                  <a:srgbClr val="FFFFFF"/>
                </a:solidFill>
                <a:latin typeface="Barlow" pitchFamily="34" charset="0"/>
                <a:ea typeface="Barlow" pitchFamily="34" charset="-122"/>
                <a:cs typeface="Barlow" pitchFamily="34" charset="-120"/>
              </a:rPr>
              <a:t>Base </a:t>
            </a:r>
            <a:pPr algn="l" indent="0" marL="0">
              <a:lnSpc>
                <a:spcPct val="130000"/>
              </a:lnSpc>
              <a:buNone/>
            </a:pPr>
            <a:r>
              <a:rPr lang="en-US" sz="2100" b="1" dirty="0">
                <a:solidFill>
                  <a:srgbClr val="A1A1AA"/>
                </a:solidFill>
                <a:latin typeface="Barlow" pitchFamily="34" charset="0"/>
                <a:ea typeface="Barlow" pitchFamily="34" charset="-122"/>
                <a:cs typeface="Barlow" pitchFamily="34" charset="-120"/>
              </a:rPr>
              <a:t>y </a:t>
            </a:r>
            <a:pPr algn="l" indent="0" marL="0">
              <a:lnSpc>
                <a:spcPct val="130000"/>
              </a:lnSpc>
              <a:buNone/>
            </a:pPr>
            <a:r>
              <a:rPr lang="en-US" sz="2100" b="1" dirty="0">
                <a:solidFill>
                  <a:srgbClr val="FFFFFF"/>
                </a:solidFill>
                <a:latin typeface="Barlow" pitchFamily="34" charset="0"/>
                <a:ea typeface="Barlow" pitchFamily="34" charset="-122"/>
                <a:cs typeface="Barlow" pitchFamily="34" charset="-120"/>
              </a:rPr>
              <a:t>Extendida </a:t>
            </a:r>
            <a:pPr algn="l" indent="0" marL="0">
              <a:lnSpc>
                <a:spcPct val="130000"/>
              </a:lnSpc>
              <a:buNone/>
            </a:pPr>
            <a:r>
              <a:rPr lang="en-US" sz="2100" b="1" dirty="0">
                <a:solidFill>
                  <a:srgbClr val="A1A1AA"/>
                </a:solidFill>
                <a:latin typeface="Barlow" pitchFamily="34" charset="0"/>
                <a:ea typeface="Barlow" pitchFamily="34" charset="-122"/>
                <a:cs typeface="Barlow" pitchFamily="34" charset="-120"/>
              </a:rPr>
              <a:t>— la extendida considera la ubicación histórica de cada producto.</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3052753"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03 · PUNTO DE PARTIDA</a:t>
            </a:r>
            <a:endParaRPr lang="en-US" sz="1800" dirty="0"/>
          </a:p>
        </p:txBody>
      </p:sp>
      <p:sp>
        <p:nvSpPr>
          <p:cNvPr id="4" name="Text 2"/>
          <p:cNvSpPr/>
          <p:nvPr/>
        </p:nvSpPr>
        <p:spPr>
          <a:xfrm>
            <a:off x="1047750" y="131445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De sus datos a planogramas reales</a:t>
            </a:r>
            <a:endParaRPr lang="en-US" sz="5400" dirty="0"/>
          </a:p>
        </p:txBody>
      </p:sp>
      <p:sp>
        <p:nvSpPr>
          <p:cNvPr id="5" name="Text 3"/>
          <p:cNvSpPr/>
          <p:nvPr/>
        </p:nvSpPr>
        <p:spPr>
          <a:xfrm>
            <a:off x="1047750" y="2256234"/>
            <a:ext cx="12557760" cy="449535"/>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52525B"/>
                </a:solidFill>
                <a:latin typeface="Barlow" pitchFamily="34" charset="0"/>
                <a:ea typeface="Barlow" pitchFamily="34" charset="-122"/>
                <a:cs typeface="Barlow" pitchFamily="34" charset="-120"/>
              </a:rPr>
              <a:t>Reconstruimos planogramas reales a partir de su propio histórico — no inventados.</a:t>
            </a:r>
            <a:endParaRPr lang="en-US" sz="2400" dirty="0"/>
          </a:p>
        </p:txBody>
      </p:sp>
      <p:sp>
        <p:nvSpPr>
          <p:cNvPr id="6" name="Shape 4"/>
          <p:cNvSpPr/>
          <p:nvPr/>
        </p:nvSpPr>
        <p:spPr>
          <a:xfrm>
            <a:off x="1047750" y="6581775"/>
            <a:ext cx="5213300" cy="2905125"/>
          </a:xfrm>
          <a:prstGeom prst="roundRect">
            <a:avLst>
              <a:gd name="adj" fmla="val 5246"/>
            </a:avLst>
          </a:prstGeom>
          <a:solidFill>
            <a:srgbClr val="FFFFFF"/>
          </a:solidFill>
          <a:ln w="9525">
            <a:solidFill>
              <a:srgbClr val="E7E5E1"/>
            </a:solidFill>
            <a:prstDash val="solid"/>
          </a:ln>
        </p:spPr>
      </p:sp>
      <p:sp>
        <p:nvSpPr>
          <p:cNvPr id="7" name="Text 5"/>
          <p:cNvSpPr/>
          <p:nvPr/>
        </p:nvSpPr>
        <p:spPr>
          <a:xfrm>
            <a:off x="1457325" y="7010400"/>
            <a:ext cx="4525975" cy="1152525"/>
          </a:xfrm>
          <a:prstGeom prst="rect">
            <a:avLst/>
          </a:prstGeom>
          <a:noFill/>
          <a:ln/>
        </p:spPr>
        <p:txBody>
          <a:bodyPr wrap="square" lIns="25400" tIns="25400" rIns="25400" bIns="25400" rtlCol="0" anchor="t">
            <a:normAutofit/>
          </a:bodyPr>
          <a:lstStyle/>
          <a:p>
            <a:pPr algn="l" indent="0" marL="0">
              <a:lnSpc>
                <a:spcPct val="90000"/>
              </a:lnSpc>
              <a:buNone/>
            </a:pPr>
            <a:r>
              <a:rPr lang="en-US" sz="9750" b="1" spc="-150" kern="0" dirty="0">
                <a:solidFill>
                  <a:srgbClr val="E4002B"/>
                </a:solidFill>
                <a:latin typeface="Barlow Semi Condensed" pitchFamily="34" charset="0"/>
                <a:ea typeface="Barlow Semi Condensed" pitchFamily="34" charset="-122"/>
                <a:cs typeface="Barlow Semi Condensed" pitchFamily="34" charset="-120"/>
              </a:rPr>
              <a:t>497</a:t>
            </a:r>
            <a:pPr algn="l" indent="0" marL="0">
              <a:lnSpc>
                <a:spcPct val="90000"/>
              </a:lnSpc>
              <a:buNone/>
            </a:pPr>
            <a:r>
              <a:rPr lang="en-US" sz="5850" b="1" spc="-150" kern="0" dirty="0">
                <a:solidFill>
                  <a:srgbClr val="E4002B"/>
                </a:solidFill>
                <a:latin typeface="Barlow Semi Condensed" pitchFamily="34" charset="0"/>
                <a:ea typeface="Barlow Semi Condensed" pitchFamily="34" charset="-122"/>
                <a:cs typeface="Barlow Semi Condensed" pitchFamily="34" charset="-120"/>
              </a:rPr>
              <a:t>K</a:t>
            </a:r>
            <a:endParaRPr lang="en-US" sz="9750" dirty="0"/>
          </a:p>
        </p:txBody>
      </p:sp>
      <p:sp>
        <p:nvSpPr>
          <p:cNvPr id="8" name="Text 6"/>
          <p:cNvSpPr/>
          <p:nvPr/>
        </p:nvSpPr>
        <p:spPr>
          <a:xfrm>
            <a:off x="1457325" y="8315325"/>
            <a:ext cx="4525975"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b="1" dirty="0">
                <a:solidFill>
                  <a:srgbClr val="3F3F46"/>
                </a:solidFill>
                <a:latin typeface="Barlow" pitchFamily="34" charset="0"/>
                <a:ea typeface="Barlow" pitchFamily="34" charset="-122"/>
                <a:cs typeface="Barlow" pitchFamily="34" charset="-120"/>
              </a:rPr>
              <a:t>Registros históricos de planogramas de Refrescos.</a:t>
            </a:r>
            <a:endParaRPr lang="en-US" sz="2250" dirty="0"/>
          </a:p>
        </p:txBody>
      </p:sp>
      <p:sp>
        <p:nvSpPr>
          <p:cNvPr id="9" name="Shape 7"/>
          <p:cNvSpPr/>
          <p:nvPr/>
        </p:nvSpPr>
        <p:spPr>
          <a:xfrm>
            <a:off x="6546800" y="6581775"/>
            <a:ext cx="5213375" cy="2905125"/>
          </a:xfrm>
          <a:prstGeom prst="roundRect">
            <a:avLst>
              <a:gd name="adj" fmla="val 5246"/>
            </a:avLst>
          </a:prstGeom>
          <a:solidFill>
            <a:srgbClr val="FFFFFF"/>
          </a:solidFill>
          <a:ln w="9525">
            <a:solidFill>
              <a:srgbClr val="E7E5E1"/>
            </a:solidFill>
            <a:prstDash val="solid"/>
          </a:ln>
        </p:spPr>
      </p:sp>
      <p:sp>
        <p:nvSpPr>
          <p:cNvPr id="10" name="Text 8"/>
          <p:cNvSpPr/>
          <p:nvPr/>
        </p:nvSpPr>
        <p:spPr>
          <a:xfrm>
            <a:off x="6956375" y="7010400"/>
            <a:ext cx="4526052" cy="1152525"/>
          </a:xfrm>
          <a:prstGeom prst="rect">
            <a:avLst/>
          </a:prstGeom>
          <a:noFill/>
          <a:ln/>
        </p:spPr>
        <p:txBody>
          <a:bodyPr wrap="square" lIns="25400" tIns="25400" rIns="25400" bIns="25400" rtlCol="0" anchor="t">
            <a:normAutofit/>
          </a:bodyPr>
          <a:lstStyle/>
          <a:p>
            <a:pPr algn="l" indent="0" marL="0">
              <a:lnSpc>
                <a:spcPct val="90000"/>
              </a:lnSpc>
              <a:buNone/>
            </a:pPr>
            <a:r>
              <a:rPr lang="en-US" sz="9750" b="1" spc="-150" kern="0" dirty="0">
                <a:solidFill>
                  <a:srgbClr val="E4002B"/>
                </a:solidFill>
                <a:latin typeface="Barlow Semi Condensed" pitchFamily="34" charset="0"/>
                <a:ea typeface="Barlow Semi Condensed" pitchFamily="34" charset="-122"/>
                <a:cs typeface="Barlow Semi Condensed" pitchFamily="34" charset="-120"/>
              </a:rPr>
              <a:t>132</a:t>
            </a:r>
            <a:pPr algn="l" indent="0" marL="0">
              <a:lnSpc>
                <a:spcPct val="90000"/>
              </a:lnSpc>
              <a:buNone/>
            </a:pPr>
            <a:r>
              <a:rPr lang="en-US" sz="5850" b="1" spc="-150" kern="0" dirty="0">
                <a:solidFill>
                  <a:srgbClr val="D4D4D8"/>
                </a:solidFill>
                <a:latin typeface="Barlow Semi Condensed" pitchFamily="34" charset="0"/>
                <a:ea typeface="Barlow Semi Condensed" pitchFamily="34" charset="-122"/>
                <a:cs typeface="Barlow Semi Condensed" pitchFamily="34" charset="-120"/>
              </a:rPr>
              <a:t>/132</a:t>
            </a:r>
            <a:endParaRPr lang="en-US" sz="9750" dirty="0"/>
          </a:p>
        </p:txBody>
      </p:sp>
      <p:sp>
        <p:nvSpPr>
          <p:cNvPr id="11" name="Text 9"/>
          <p:cNvSpPr/>
          <p:nvPr/>
        </p:nvSpPr>
        <p:spPr>
          <a:xfrm>
            <a:off x="6956375" y="8315325"/>
            <a:ext cx="4526052"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b="1" dirty="0">
                <a:solidFill>
                  <a:srgbClr val="3F3F46"/>
                </a:solidFill>
                <a:latin typeface="Barlow" pitchFamily="34" charset="0"/>
                <a:ea typeface="Barlow" pitchFamily="34" charset="-122"/>
                <a:cs typeface="Barlow" pitchFamily="34" charset="-120"/>
              </a:rPr>
              <a:t>Planogramas validados automáticamente.</a:t>
            </a:r>
            <a:endParaRPr lang="en-US" sz="2250" dirty="0"/>
          </a:p>
        </p:txBody>
      </p:sp>
      <p:sp>
        <p:nvSpPr>
          <p:cNvPr id="12" name="Shape 10"/>
          <p:cNvSpPr/>
          <p:nvPr/>
        </p:nvSpPr>
        <p:spPr>
          <a:xfrm>
            <a:off x="12045925" y="6581775"/>
            <a:ext cx="5194325" cy="2905125"/>
          </a:xfrm>
          <a:prstGeom prst="roundRect">
            <a:avLst>
              <a:gd name="adj" fmla="val 5246"/>
            </a:avLst>
          </a:prstGeom>
          <a:solidFill>
            <a:srgbClr val="18181B"/>
          </a:solidFill>
          <a:ln/>
        </p:spPr>
      </p:sp>
      <p:sp>
        <p:nvSpPr>
          <p:cNvPr id="13" name="Text 11"/>
          <p:cNvSpPr/>
          <p:nvPr/>
        </p:nvSpPr>
        <p:spPr>
          <a:xfrm>
            <a:off x="12445975" y="7000875"/>
            <a:ext cx="4526052" cy="1152525"/>
          </a:xfrm>
          <a:prstGeom prst="rect">
            <a:avLst/>
          </a:prstGeom>
          <a:noFill/>
          <a:ln/>
        </p:spPr>
        <p:txBody>
          <a:bodyPr wrap="square" lIns="25400" tIns="25400" rIns="25400" bIns="25400" rtlCol="0" anchor="t">
            <a:normAutofit/>
          </a:bodyPr>
          <a:lstStyle/>
          <a:p>
            <a:pPr algn="l" indent="0" marL="0">
              <a:lnSpc>
                <a:spcPct val="90000"/>
              </a:lnSpc>
              <a:buNone/>
            </a:pPr>
            <a:r>
              <a:rPr lang="en-US" sz="9750" b="1" spc="-150" kern="0" dirty="0">
                <a:solidFill>
                  <a:srgbClr val="FFE600"/>
                </a:solidFill>
                <a:latin typeface="Barlow Semi Condensed" pitchFamily="34" charset="0"/>
                <a:ea typeface="Barlow Semi Condensed" pitchFamily="34" charset="-122"/>
                <a:cs typeface="Barlow Semi Condensed" pitchFamily="34" charset="-120"/>
              </a:rPr>
              <a:t>101</a:t>
            </a:r>
            <a:pPr algn="l" indent="0" marL="0">
              <a:lnSpc>
                <a:spcPct val="90000"/>
              </a:lnSpc>
              <a:buNone/>
            </a:pPr>
            <a:r>
              <a:rPr lang="en-US" sz="5850" b="1" spc="-150" kern="0" dirty="0">
                <a:solidFill>
                  <a:srgbClr val="FFFFFF">
                    <a:alpha val="45000"/>
                  </a:srgbClr>
                </a:solidFill>
                <a:latin typeface="Barlow Semi Condensed" pitchFamily="34" charset="0"/>
                <a:ea typeface="Barlow Semi Condensed" pitchFamily="34" charset="-122"/>
                <a:cs typeface="Barlow Semi Condensed" pitchFamily="34" charset="-120"/>
              </a:rPr>
              <a:t>/ 24</a:t>
            </a:r>
            <a:endParaRPr lang="en-US" sz="9750" dirty="0"/>
          </a:p>
        </p:txBody>
      </p:sp>
      <p:sp>
        <p:nvSpPr>
          <p:cNvPr id="14" name="Text 12"/>
          <p:cNvSpPr/>
          <p:nvPr/>
        </p:nvSpPr>
        <p:spPr>
          <a:xfrm>
            <a:off x="12445975" y="8305800"/>
            <a:ext cx="4526052"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b="1" dirty="0">
                <a:solidFill>
                  <a:srgbClr val="FFFFFF">
                    <a:alpha val="92000"/>
                  </a:srgbClr>
                </a:solidFill>
                <a:latin typeface="Barlow" pitchFamily="34" charset="0"/>
                <a:ea typeface="Barlow" pitchFamily="34" charset="-122"/>
                <a:cs typeface="Barlow" pitchFamily="34" charset="-120"/>
              </a:rPr>
              <a:t>Productos en charolas — ejemplo del formato BCO_CF_4.0.</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2327970"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04 · CÓMO DECIDE</a:t>
            </a:r>
            <a:endParaRPr lang="en-US" sz="1800" dirty="0"/>
          </a:p>
        </p:txBody>
      </p:sp>
      <p:sp>
        <p:nvSpPr>
          <p:cNvPr id="4" name="Text 2"/>
          <p:cNvSpPr/>
          <p:nvPr/>
        </p:nvSpPr>
        <p:spPr>
          <a:xfrm>
            <a:off x="1047750" y="131445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Las reglas salen de su histórico</a:t>
            </a:r>
            <a:endParaRPr lang="en-US" sz="5400" dirty="0"/>
          </a:p>
        </p:txBody>
      </p:sp>
      <p:sp>
        <p:nvSpPr>
          <p:cNvPr id="5" name="Shape 3"/>
          <p:cNvSpPr/>
          <p:nvPr/>
        </p:nvSpPr>
        <p:spPr>
          <a:xfrm>
            <a:off x="1047750" y="4236169"/>
            <a:ext cx="4095750" cy="3556546"/>
          </a:xfrm>
          <a:prstGeom prst="roundRect">
            <a:avLst>
              <a:gd name="adj" fmla="val 4285"/>
            </a:avLst>
          </a:prstGeom>
          <a:solidFill>
            <a:srgbClr val="FFFFFF"/>
          </a:solidFill>
          <a:ln w="9525">
            <a:solidFill>
              <a:srgbClr val="E7E5E1"/>
            </a:solidFill>
            <a:prstDash val="solid"/>
          </a:ln>
        </p:spPr>
      </p:sp>
      <p:sp>
        <p:nvSpPr>
          <p:cNvPr id="6" name="Shape 4"/>
          <p:cNvSpPr/>
          <p:nvPr/>
        </p:nvSpPr>
        <p:spPr>
          <a:xfrm>
            <a:off x="1343025" y="4531444"/>
            <a:ext cx="3505200" cy="908596"/>
          </a:xfrm>
          <a:prstGeom prst="roundRect">
            <a:avLst>
              <a:gd name="adj" fmla="val 10483"/>
            </a:avLst>
          </a:prstGeom>
          <a:solidFill>
            <a:srgbClr val="FFF7D6"/>
          </a:solidFill>
          <a:ln w="9525">
            <a:solidFill>
              <a:srgbClr val="FCE57A"/>
            </a:solidFill>
            <a:prstDash val="solid"/>
          </a:ln>
        </p:spPr>
      </p:sp>
      <p:sp>
        <p:nvSpPr>
          <p:cNvPr id="7" name="Shape 5"/>
          <p:cNvSpPr/>
          <p:nvPr/>
        </p:nvSpPr>
        <p:spPr>
          <a:xfrm>
            <a:off x="1543050" y="4738092"/>
            <a:ext cx="323850" cy="495300"/>
          </a:xfrm>
          <a:prstGeom prst="roundRect">
            <a:avLst>
              <a:gd name="adj" fmla="val 14706"/>
            </a:avLst>
          </a:prstGeom>
          <a:solidFill>
            <a:srgbClr val="E4002B"/>
          </a:solidFill>
          <a:ln/>
        </p:spPr>
      </p:sp>
      <p:sp>
        <p:nvSpPr>
          <p:cNvPr id="8" name="Text 6"/>
          <p:cNvSpPr/>
          <p:nvPr/>
        </p:nvSpPr>
        <p:spPr>
          <a:xfrm>
            <a:off x="2038350" y="4712419"/>
            <a:ext cx="1493565"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dirty="0">
                <a:solidFill>
                  <a:srgbClr val="18181B"/>
                </a:solidFill>
                <a:latin typeface="Barlow" pitchFamily="34" charset="0"/>
                <a:ea typeface="Barlow" pitchFamily="34" charset="-122"/>
                <a:cs typeface="Barlow" pitchFamily="34" charset="-120"/>
              </a:rPr>
              <a:t>Lata 355 ml</a:t>
            </a:r>
            <a:endParaRPr lang="en-US" sz="1950" dirty="0"/>
          </a:p>
        </p:txBody>
      </p:sp>
      <p:sp>
        <p:nvSpPr>
          <p:cNvPr id="9" name="Text 7"/>
          <p:cNvSpPr/>
          <p:nvPr/>
        </p:nvSpPr>
        <p:spPr>
          <a:xfrm>
            <a:off x="2038350" y="4984775"/>
            <a:ext cx="1493565" cy="31239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A16207"/>
                </a:solidFill>
                <a:latin typeface="Barlow" pitchFamily="34" charset="0"/>
                <a:ea typeface="Barlow" pitchFamily="34" charset="-122"/>
                <a:cs typeface="Barlow" pitchFamily="34" charset="-120"/>
              </a:rPr>
              <a:t>Charolas altas</a:t>
            </a:r>
            <a:endParaRPr lang="en-US" sz="1800" dirty="0"/>
          </a:p>
        </p:txBody>
      </p:sp>
      <p:sp>
        <p:nvSpPr>
          <p:cNvPr id="10" name="Shape 8"/>
          <p:cNvSpPr/>
          <p:nvPr/>
        </p:nvSpPr>
        <p:spPr>
          <a:xfrm>
            <a:off x="1343025" y="5573390"/>
            <a:ext cx="3505200" cy="133350"/>
          </a:xfrm>
          <a:prstGeom prst="roundRect">
            <a:avLst>
              <a:gd name="adj" fmla="val 14286"/>
            </a:avLst>
          </a:prstGeom>
          <a:solidFill>
            <a:srgbClr val="E7E5E1"/>
          </a:solidFill>
          <a:ln/>
        </p:spPr>
      </p:sp>
      <p:sp>
        <p:nvSpPr>
          <p:cNvPr id="11" name="Shape 9"/>
          <p:cNvSpPr/>
          <p:nvPr/>
        </p:nvSpPr>
        <p:spPr>
          <a:xfrm>
            <a:off x="1343025" y="5840090"/>
            <a:ext cx="3505200" cy="133350"/>
          </a:xfrm>
          <a:prstGeom prst="roundRect">
            <a:avLst>
              <a:gd name="adj" fmla="val 14286"/>
            </a:avLst>
          </a:prstGeom>
          <a:solidFill>
            <a:srgbClr val="E7E5E1"/>
          </a:solidFill>
          <a:ln/>
        </p:spPr>
      </p:sp>
      <p:sp>
        <p:nvSpPr>
          <p:cNvPr id="12" name="Shape 10"/>
          <p:cNvSpPr/>
          <p:nvPr/>
        </p:nvSpPr>
        <p:spPr>
          <a:xfrm>
            <a:off x="1343025" y="6106790"/>
            <a:ext cx="3505200" cy="1390650"/>
          </a:xfrm>
          <a:prstGeom prst="roundRect">
            <a:avLst>
              <a:gd name="adj" fmla="val 6849"/>
            </a:avLst>
          </a:prstGeom>
          <a:solidFill>
            <a:srgbClr val="FDE7EC"/>
          </a:solidFill>
          <a:ln w="9525">
            <a:solidFill>
              <a:srgbClr val="F6B6C5"/>
            </a:solidFill>
            <a:prstDash val="solid"/>
          </a:ln>
        </p:spPr>
      </p:sp>
      <p:sp>
        <p:nvSpPr>
          <p:cNvPr id="13" name="Shape 11"/>
          <p:cNvSpPr/>
          <p:nvPr/>
        </p:nvSpPr>
        <p:spPr>
          <a:xfrm>
            <a:off x="1543050" y="6287765"/>
            <a:ext cx="514350" cy="1028700"/>
          </a:xfrm>
          <a:prstGeom prst="roundRect">
            <a:avLst>
              <a:gd name="adj" fmla="val 12963"/>
            </a:avLst>
          </a:prstGeom>
          <a:solidFill>
            <a:srgbClr val="E4002B"/>
          </a:solidFill>
          <a:ln/>
        </p:spPr>
      </p:sp>
      <p:sp>
        <p:nvSpPr>
          <p:cNvPr id="14" name="Shape 12"/>
          <p:cNvSpPr/>
          <p:nvPr/>
        </p:nvSpPr>
        <p:spPr>
          <a:xfrm>
            <a:off x="1704975" y="6154415"/>
            <a:ext cx="190500" cy="171450"/>
          </a:xfrm>
          <a:prstGeom prst="roundRect">
            <a:avLst>
              <a:gd name="adj" fmla="val 22222"/>
            </a:avLst>
          </a:prstGeom>
          <a:solidFill>
            <a:srgbClr val="E4002B"/>
          </a:solidFill>
          <a:ln/>
        </p:spPr>
      </p:sp>
      <p:sp>
        <p:nvSpPr>
          <p:cNvPr id="15" name="Text 13"/>
          <p:cNvSpPr/>
          <p:nvPr/>
        </p:nvSpPr>
        <p:spPr>
          <a:xfrm>
            <a:off x="2228850" y="6769819"/>
            <a:ext cx="1538585"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dirty="0">
                <a:solidFill>
                  <a:srgbClr val="18181B"/>
                </a:solidFill>
                <a:latin typeface="Barlow" pitchFamily="34" charset="0"/>
                <a:ea typeface="Barlow" pitchFamily="34" charset="-122"/>
                <a:cs typeface="Barlow" pitchFamily="34" charset="-120"/>
              </a:rPr>
              <a:t>Botella 3 L</a:t>
            </a:r>
            <a:endParaRPr lang="en-US" sz="1950" dirty="0"/>
          </a:p>
        </p:txBody>
      </p:sp>
      <p:sp>
        <p:nvSpPr>
          <p:cNvPr id="16" name="Text 14"/>
          <p:cNvSpPr/>
          <p:nvPr/>
        </p:nvSpPr>
        <p:spPr>
          <a:xfrm>
            <a:off x="2228850" y="7042175"/>
            <a:ext cx="1538585" cy="31239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E4002B"/>
                </a:solidFill>
                <a:latin typeface="Barlow" pitchFamily="34" charset="0"/>
                <a:ea typeface="Barlow" pitchFamily="34" charset="-122"/>
                <a:cs typeface="Barlow" pitchFamily="34" charset="-120"/>
              </a:rPr>
              <a:t>Charolas bajas</a:t>
            </a:r>
            <a:endParaRPr lang="en-US" sz="1800" dirty="0"/>
          </a:p>
        </p:txBody>
      </p:sp>
      <p:sp>
        <p:nvSpPr>
          <p:cNvPr id="17" name="Text 15"/>
          <p:cNvSpPr/>
          <p:nvPr/>
        </p:nvSpPr>
        <p:spPr>
          <a:xfrm>
            <a:off x="5753100" y="4781996"/>
            <a:ext cx="11831765" cy="518145"/>
          </a:xfrm>
          <a:prstGeom prst="rect">
            <a:avLst/>
          </a:prstGeom>
          <a:noFill/>
          <a:ln/>
        </p:spPr>
        <p:txBody>
          <a:bodyPr wrap="square" lIns="25400" tIns="25400" rIns="25400" bIns="25400" rtlCol="0" anchor="t">
            <a:normAutofit/>
          </a:bodyPr>
          <a:lstStyle/>
          <a:p>
            <a:pPr algn="l" indent="0" marL="0">
              <a:lnSpc>
                <a:spcPct val="140000"/>
              </a:lnSpc>
              <a:buNone/>
            </a:pPr>
            <a:r>
              <a:rPr lang="en-US" sz="2700" dirty="0">
                <a:solidFill>
                  <a:srgbClr val="3F3F46"/>
                </a:solidFill>
                <a:latin typeface="Barlow" pitchFamily="34" charset="0"/>
                <a:ea typeface="Barlow" pitchFamily="34" charset="-122"/>
                <a:cs typeface="Barlow" pitchFamily="34" charset="-120"/>
              </a:rPr>
              <a:t>Ni los pesos ni las ubicaciones se fijan a mano: </a:t>
            </a:r>
            <a:pPr algn="l" indent="0" marL="0">
              <a:lnSpc>
                <a:spcPct val="140000"/>
              </a:lnSpc>
              <a:buNone/>
            </a:pPr>
            <a:r>
              <a:rPr lang="en-US" sz="2700" b="1" dirty="0">
                <a:solidFill>
                  <a:srgbClr val="18181B"/>
                </a:solidFill>
                <a:latin typeface="Barlow" pitchFamily="34" charset="0"/>
                <a:ea typeface="Barlow" pitchFamily="34" charset="-122"/>
                <a:cs typeface="Barlow" pitchFamily="34" charset="-120"/>
              </a:rPr>
              <a:t>se derivan del histórico.</a:t>
            </a:r>
            <a:endParaRPr lang="en-US" sz="2700" dirty="0"/>
          </a:p>
        </p:txBody>
      </p:sp>
      <p:sp>
        <p:nvSpPr>
          <p:cNvPr id="18" name="Text 16"/>
          <p:cNvSpPr/>
          <p:nvPr/>
        </p:nvSpPr>
        <p:spPr>
          <a:xfrm>
            <a:off x="5753100" y="5547792"/>
            <a:ext cx="1183176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52525B"/>
                </a:solidFill>
                <a:latin typeface="Barlow" pitchFamily="34" charset="0"/>
                <a:ea typeface="Barlow" pitchFamily="34" charset="-122"/>
                <a:cs typeface="Barlow" pitchFamily="34" charset="-120"/>
              </a:rPr>
              <a:t>En Coca-Cola, el </a:t>
            </a:r>
            <a:pPr algn="l" indent="0" marL="0">
              <a:lnSpc>
                <a:spcPct val="140000"/>
              </a:lnSpc>
              <a:buNone/>
            </a:pPr>
            <a:r>
              <a:rPr lang="en-US" sz="2550" b="1" dirty="0">
                <a:solidFill>
                  <a:srgbClr val="E4002B"/>
                </a:solidFill>
                <a:latin typeface="Barlow" pitchFamily="34" charset="0"/>
                <a:ea typeface="Barlow" pitchFamily="34" charset="-122"/>
                <a:cs typeface="Barlow" pitchFamily="34" charset="-120"/>
              </a:rPr>
              <a:t>tamaño del envase determina el nivel </a:t>
            </a:r>
            <a:pPr algn="l" indent="0" marL="0">
              <a:lnSpc>
                <a:spcPct val="140000"/>
              </a:lnSpc>
              <a:buNone/>
            </a:pPr>
            <a:r>
              <a:rPr lang="en-US" sz="2550" dirty="0">
                <a:solidFill>
                  <a:srgbClr val="52525B"/>
                </a:solidFill>
                <a:latin typeface="Barlow" pitchFamily="34" charset="0"/>
                <a:ea typeface="Barlow" pitchFamily="34" charset="-122"/>
                <a:cs typeface="Barlow" pitchFamily="34" charset="-120"/>
              </a:rPr>
              <a:t>— los envases grandes bajan por peso y estabilidad; los chicos suben.</a:t>
            </a:r>
            <a:endParaRPr lang="en-US" sz="2550" dirty="0"/>
          </a:p>
        </p:txBody>
      </p:sp>
      <p:sp>
        <p:nvSpPr>
          <p:cNvPr id="19" name="Shape 17"/>
          <p:cNvSpPr/>
          <p:nvPr/>
        </p:nvSpPr>
        <p:spPr>
          <a:xfrm>
            <a:off x="5753100" y="6835453"/>
            <a:ext cx="47625" cy="411435"/>
          </a:xfrm>
          <a:prstGeom prst="rect">
            <a:avLst/>
          </a:prstGeom>
          <a:solidFill>
            <a:srgbClr val="E4002B"/>
          </a:solidFill>
          <a:ln/>
        </p:spPr>
      </p:sp>
      <p:sp>
        <p:nvSpPr>
          <p:cNvPr id="20" name="Text 18"/>
          <p:cNvSpPr/>
          <p:nvPr/>
        </p:nvSpPr>
        <p:spPr>
          <a:xfrm>
            <a:off x="6048375" y="6835453"/>
            <a:ext cx="11527631" cy="449535"/>
          </a:xfrm>
          <a:prstGeom prst="rect">
            <a:avLst/>
          </a:prstGeom>
          <a:noFill/>
          <a:ln/>
        </p:spPr>
        <p:txBody>
          <a:bodyPr wrap="square" lIns="25400" tIns="25400" rIns="25400" bIns="25400" rtlCol="0" anchor="t">
            <a:normAutofit/>
          </a:bodyPr>
          <a:lstStyle/>
          <a:p>
            <a:pPr algn="l" indent="0" marL="0">
              <a:lnSpc>
                <a:spcPct val="135000"/>
              </a:lnSpc>
              <a:buNone/>
            </a:pPr>
            <a:r>
              <a:rPr lang="en-US" sz="2400" b="1" dirty="0">
                <a:solidFill>
                  <a:srgbClr val="18181B"/>
                </a:solidFill>
                <a:latin typeface="Barlow" pitchFamily="34" charset="0"/>
                <a:ea typeface="Barlow" pitchFamily="34" charset="-122"/>
                <a:cs typeface="Barlow" pitchFamily="34" charset="-120"/>
              </a:rPr>
              <a:t>El modelo aprende las reglas físicas que OXXO ya aplica.</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762000"/>
            <a:ext cx="9700245" cy="8801100"/>
          </a:xfrm>
          <a:prstGeom prst="roundRect">
            <a:avLst>
              <a:gd name="adj" fmla="val 1732"/>
            </a:avLst>
          </a:prstGeom>
          <a:solidFill>
            <a:srgbClr val="FAF9F7"/>
          </a:solidFill>
          <a:ln w="9525">
            <a:solidFill>
              <a:srgbClr val="E7E5E1"/>
            </a:solidFill>
            <a:prstDash val="solid"/>
          </a:ln>
        </p:spPr>
      </p:sp>
      <p:pic>
        <p:nvPicPr>
          <p:cNvPr id="3" name="Image 0" descr="preencoded.png">    </p:cNvPr>
          <p:cNvPicPr>
            <a:picLocks noChangeAspect="1"/>
          </p:cNvPicPr>
          <p:nvPr/>
        </p:nvPicPr>
        <p:blipFill>
          <a:blip r:embed="rId1"/>
          <a:srcRect l="0" r="0" t="0" b="0"/>
          <a:stretch/>
        </p:blipFill>
        <p:spPr>
          <a:xfrm>
            <a:off x="1341313" y="1000125"/>
            <a:ext cx="9113118" cy="8324850"/>
          </a:xfrm>
          <a:prstGeom prst="rect">
            <a:avLst/>
          </a:prstGeom>
        </p:spPr>
      </p:pic>
      <p:sp>
        <p:nvSpPr>
          <p:cNvPr id="4" name="Shape 1"/>
          <p:cNvSpPr/>
          <p:nvPr/>
        </p:nvSpPr>
        <p:spPr>
          <a:xfrm>
            <a:off x="11281395" y="2301999"/>
            <a:ext cx="285750" cy="47625"/>
          </a:xfrm>
          <a:prstGeom prst="roundRect">
            <a:avLst>
              <a:gd name="adj" fmla="val 50000"/>
            </a:avLst>
          </a:prstGeom>
          <a:solidFill>
            <a:srgbClr val="E4002B"/>
          </a:solidFill>
          <a:ln/>
        </p:spPr>
      </p:sp>
      <p:sp>
        <p:nvSpPr>
          <p:cNvPr id="5" name="Text 2"/>
          <p:cNvSpPr/>
          <p:nvPr/>
        </p:nvSpPr>
        <p:spPr>
          <a:xfrm>
            <a:off x="11700495" y="2211512"/>
            <a:ext cx="2491606"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05 · EL RESULTADO</a:t>
            </a:r>
            <a:endParaRPr lang="en-US" sz="1800" dirty="0"/>
          </a:p>
        </p:txBody>
      </p:sp>
      <p:sp>
        <p:nvSpPr>
          <p:cNvPr id="6" name="Text 3"/>
          <p:cNvSpPr/>
          <p:nvPr/>
        </p:nvSpPr>
        <p:spPr>
          <a:xfrm>
            <a:off x="11281395" y="2611562"/>
            <a:ext cx="6333836" cy="1345555"/>
          </a:xfrm>
          <a:prstGeom prst="rect">
            <a:avLst/>
          </a:prstGeom>
          <a:noFill/>
          <a:ln/>
        </p:spPr>
        <p:txBody>
          <a:bodyPr wrap="square" lIns="25400" tIns="25400" rIns="25400" bIns="25400" rtlCol="0" anchor="t">
            <a:normAutofit/>
          </a:bodyPr>
          <a:lstStyle/>
          <a:p>
            <a:pPr algn="l" indent="0" marL="0">
              <a:lnSpc>
                <a:spcPct val="104000"/>
              </a:lnSpc>
              <a:buNone/>
            </a:pPr>
            <a:r>
              <a:rPr lang="en-US" sz="4950" b="1" spc="-75" kern="0" dirty="0">
                <a:solidFill>
                  <a:srgbClr val="18181B"/>
                </a:solidFill>
                <a:latin typeface="Barlow" pitchFamily="34" charset="0"/>
                <a:ea typeface="Barlow" pitchFamily="34" charset="-122"/>
                <a:cs typeface="Barlow" pitchFamily="34" charset="-120"/>
              </a:rPr>
              <a:t>El planograma optimizado</a:t>
            </a:r>
            <a:endParaRPr lang="en-US" sz="4950" dirty="0"/>
          </a:p>
        </p:txBody>
      </p:sp>
      <p:sp>
        <p:nvSpPr>
          <p:cNvPr id="7" name="Shape 4"/>
          <p:cNvSpPr/>
          <p:nvPr/>
        </p:nvSpPr>
        <p:spPr>
          <a:xfrm>
            <a:off x="11281395" y="4433367"/>
            <a:ext cx="133350" cy="133350"/>
          </a:xfrm>
          <a:prstGeom prst="ellipse">
            <a:avLst/>
          </a:prstGeom>
          <a:solidFill>
            <a:srgbClr val="E4002B"/>
          </a:solidFill>
          <a:ln/>
        </p:spPr>
      </p:sp>
      <p:sp>
        <p:nvSpPr>
          <p:cNvPr id="8" name="Text 5"/>
          <p:cNvSpPr/>
          <p:nvPr/>
        </p:nvSpPr>
        <p:spPr>
          <a:xfrm>
            <a:off x="11605245" y="4338117"/>
            <a:ext cx="6000270" cy="1272406"/>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3F3F46"/>
                </a:solidFill>
                <a:latin typeface="Barlow" pitchFamily="34" charset="0"/>
                <a:ea typeface="Barlow" pitchFamily="34" charset="-122"/>
                <a:cs typeface="Barlow" pitchFamily="34" charset="-120"/>
              </a:rPr>
              <a:t>Coca-Cola domina los niveles superiores; Pepsi, los intermedios; marcas menores, abajo.</a:t>
            </a:r>
            <a:endParaRPr lang="en-US" sz="2400" dirty="0"/>
          </a:p>
        </p:txBody>
      </p:sp>
      <p:sp>
        <p:nvSpPr>
          <p:cNvPr id="9" name="Shape 6"/>
          <p:cNvSpPr/>
          <p:nvPr/>
        </p:nvSpPr>
        <p:spPr>
          <a:xfrm>
            <a:off x="11281395" y="5953423"/>
            <a:ext cx="133350" cy="133350"/>
          </a:xfrm>
          <a:prstGeom prst="ellipse">
            <a:avLst/>
          </a:prstGeom>
          <a:solidFill>
            <a:srgbClr val="E4002B"/>
          </a:solidFill>
          <a:ln/>
        </p:spPr>
      </p:sp>
      <p:sp>
        <p:nvSpPr>
          <p:cNvPr id="10" name="Text 7"/>
          <p:cNvSpPr/>
          <p:nvPr/>
        </p:nvSpPr>
        <p:spPr>
          <a:xfrm>
            <a:off x="11605245" y="5858173"/>
            <a:ext cx="5176014" cy="449535"/>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3F3F46"/>
                </a:solidFill>
                <a:latin typeface="Barlow" pitchFamily="34" charset="0"/>
                <a:ea typeface="Barlow" pitchFamily="34" charset="-122"/>
                <a:cs typeface="Barlow" pitchFamily="34" charset="-120"/>
              </a:rPr>
              <a:t>Charolas llenas casi al límite de 55 cm.</a:t>
            </a:r>
            <a:endParaRPr lang="en-US" sz="2400" dirty="0"/>
          </a:p>
        </p:txBody>
      </p:sp>
      <p:sp>
        <p:nvSpPr>
          <p:cNvPr id="11" name="Shape 8"/>
          <p:cNvSpPr/>
          <p:nvPr/>
        </p:nvSpPr>
        <p:spPr>
          <a:xfrm>
            <a:off x="11281395" y="6650608"/>
            <a:ext cx="133350" cy="133350"/>
          </a:xfrm>
          <a:prstGeom prst="ellipse">
            <a:avLst/>
          </a:prstGeom>
          <a:solidFill>
            <a:srgbClr val="E4002B"/>
          </a:solidFill>
          <a:ln/>
        </p:spPr>
      </p:sp>
      <p:sp>
        <p:nvSpPr>
          <p:cNvPr id="12" name="Text 9"/>
          <p:cNvSpPr/>
          <p:nvPr/>
        </p:nvSpPr>
        <p:spPr>
          <a:xfrm>
            <a:off x="11605245" y="6555358"/>
            <a:ext cx="6000270" cy="860971"/>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3F3F46"/>
                </a:solidFill>
                <a:latin typeface="Barlow" pitchFamily="34" charset="0"/>
                <a:ea typeface="Barlow" pitchFamily="34" charset="-122"/>
                <a:cs typeface="Barlow" pitchFamily="34" charset="-120"/>
              </a:rPr>
              <a:t>Bloques de marca contiguos, fáciles de surtir.</a:t>
            </a:r>
            <a:endParaRPr lang="en-US" sz="2400" dirty="0"/>
          </a:p>
        </p:txBody>
      </p:sp>
      <p:sp>
        <p:nvSpPr>
          <p:cNvPr id="13" name="Text 10"/>
          <p:cNvSpPr/>
          <p:nvPr/>
        </p:nvSpPr>
        <p:spPr>
          <a:xfrm>
            <a:off x="11281395" y="7816379"/>
            <a:ext cx="6333836" cy="335235"/>
          </a:xfrm>
          <a:prstGeom prst="rect">
            <a:avLst/>
          </a:prstGeom>
          <a:noFill/>
          <a:ln/>
        </p:spPr>
        <p:txBody>
          <a:bodyPr wrap="square" lIns="25400" tIns="25400" rIns="25400" bIns="25400" rtlCol="0" anchor="t">
            <a:normAutofit/>
          </a:bodyPr>
          <a:lstStyle/>
          <a:p>
            <a:pPr algn="l" indent="0" marL="0">
              <a:lnSpc>
                <a:spcPct val="130000"/>
              </a:lnSpc>
              <a:buNone/>
            </a:pPr>
            <a:r>
              <a:rPr lang="en-US" sz="1800" b="1" spc="75" kern="0" dirty="0">
                <a:solidFill>
                  <a:srgbClr val="A1A1AA"/>
                </a:solidFill>
                <a:latin typeface="Barlow" pitchFamily="34" charset="0"/>
                <a:ea typeface="Barlow" pitchFamily="34" charset="-122"/>
                <a:cs typeface="Barlow" pitchFamily="34" charset="-120"/>
              </a:rPr>
              <a:t>FORMATO BCO_CF_4.0 · 101 PRODUCTOS · 24 CHAROLAS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947737"/>
            <a:ext cx="285750" cy="47625"/>
          </a:xfrm>
          <a:prstGeom prst="roundRect">
            <a:avLst>
              <a:gd name="adj" fmla="val 50000"/>
            </a:avLst>
          </a:prstGeom>
          <a:solidFill>
            <a:srgbClr val="E4002B"/>
          </a:solidFill>
          <a:ln/>
        </p:spPr>
      </p:sp>
      <p:sp>
        <p:nvSpPr>
          <p:cNvPr id="3" name="Text 1"/>
          <p:cNvSpPr/>
          <p:nvPr/>
        </p:nvSpPr>
        <p:spPr>
          <a:xfrm>
            <a:off x="1466850" y="857250"/>
            <a:ext cx="2260029"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06 · RESULTADOS</a:t>
            </a:r>
            <a:endParaRPr lang="en-US" sz="1800" dirty="0"/>
          </a:p>
        </p:txBody>
      </p:sp>
      <p:sp>
        <p:nvSpPr>
          <p:cNvPr id="4" name="Text 2"/>
          <p:cNvSpPr/>
          <p:nvPr/>
        </p:nvSpPr>
        <p:spPr>
          <a:xfrm>
            <a:off x="1047750" y="1238250"/>
            <a:ext cx="16874490" cy="711696"/>
          </a:xfrm>
          <a:prstGeom prst="rect">
            <a:avLst/>
          </a:prstGeom>
          <a:noFill/>
          <a:ln/>
        </p:spPr>
        <p:txBody>
          <a:bodyPr wrap="square" lIns="25400" tIns="25400" rIns="25400" bIns="25400" rtlCol="0" anchor="t">
            <a:normAutofit/>
          </a:bodyPr>
          <a:lstStyle/>
          <a:p>
            <a:pPr algn="l" indent="0" marL="0">
              <a:lnSpc>
                <a:spcPct val="104000"/>
              </a:lnSpc>
              <a:buNone/>
            </a:pPr>
            <a:r>
              <a:rPr lang="en-US" sz="5100" b="1" spc="-75" kern="0" dirty="0">
                <a:solidFill>
                  <a:srgbClr val="18181B"/>
                </a:solidFill>
                <a:latin typeface="Barlow" pitchFamily="34" charset="0"/>
                <a:ea typeface="Barlow" pitchFamily="34" charset="-122"/>
                <a:cs typeface="Barlow" pitchFamily="34" charset="-120"/>
              </a:rPr>
              <a:t>Superamos el acomodo experto</a:t>
            </a:r>
            <a:endParaRPr lang="en-US" sz="5100" dirty="0"/>
          </a:p>
        </p:txBody>
      </p:sp>
      <p:sp>
        <p:nvSpPr>
          <p:cNvPr id="5" name="Text 3"/>
          <p:cNvSpPr/>
          <p:nvPr/>
        </p:nvSpPr>
        <p:spPr>
          <a:xfrm>
            <a:off x="1047750" y="2292846"/>
            <a:ext cx="6508283" cy="1054596"/>
          </a:xfrm>
          <a:prstGeom prst="rect">
            <a:avLst/>
          </a:prstGeom>
          <a:noFill/>
          <a:ln/>
        </p:spPr>
        <p:txBody>
          <a:bodyPr wrap="square" lIns="25400" tIns="25400" rIns="25400" bIns="25400" rtlCol="0" anchor="t">
            <a:normAutofit/>
          </a:bodyPr>
          <a:lstStyle/>
          <a:p>
            <a:pPr algn="l" indent="0" marL="0">
              <a:lnSpc>
                <a:spcPct val="92000"/>
              </a:lnSpc>
              <a:buNone/>
            </a:pPr>
            <a:r>
              <a:rPr lang="en-US" sz="8700" b="1" spc="-150" kern="0" dirty="0">
                <a:solidFill>
                  <a:srgbClr val="E4002B"/>
                </a:solidFill>
                <a:latin typeface="Barlow Semi Condensed" pitchFamily="34" charset="0"/>
                <a:ea typeface="Barlow Semi Condensed" pitchFamily="34" charset="-122"/>
                <a:cs typeface="Barlow Semi Condensed" pitchFamily="34" charset="-120"/>
              </a:rPr>
              <a:t>90.9–95.7</a:t>
            </a:r>
            <a:pPr algn="l" indent="0" marL="0">
              <a:lnSpc>
                <a:spcPct val="92000"/>
              </a:lnSpc>
              <a:buNone/>
            </a:pPr>
            <a:r>
              <a:rPr lang="en-US" sz="4800" b="1" spc="-150" kern="0" dirty="0">
                <a:solidFill>
                  <a:srgbClr val="E4002B"/>
                </a:solidFill>
                <a:latin typeface="Barlow Semi Condensed" pitchFamily="34" charset="0"/>
                <a:ea typeface="Barlow Semi Condensed" pitchFamily="34" charset="-122"/>
                <a:cs typeface="Barlow Semi Condensed" pitchFamily="34" charset="-120"/>
              </a:rPr>
              <a:t>%</a:t>
            </a:r>
            <a:endParaRPr lang="en-US" sz="8700" dirty="0"/>
          </a:p>
        </p:txBody>
      </p:sp>
      <p:sp>
        <p:nvSpPr>
          <p:cNvPr id="6" name="Text 4"/>
          <p:cNvSpPr/>
          <p:nvPr/>
        </p:nvSpPr>
        <p:spPr>
          <a:xfrm>
            <a:off x="1047750" y="3404592"/>
            <a:ext cx="6508283"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b="1" dirty="0">
                <a:solidFill>
                  <a:srgbClr val="3F3F46"/>
                </a:solidFill>
                <a:latin typeface="Barlow" pitchFamily="34" charset="0"/>
                <a:ea typeface="Barlow" pitchFamily="34" charset="-122"/>
                <a:cs typeface="Barlow" pitchFamily="34" charset="-120"/>
              </a:rPr>
              <a:t>Aprovechamiento de espacio, según el formato.</a:t>
            </a:r>
            <a:endParaRPr lang="en-US" sz="2250" dirty="0"/>
          </a:p>
        </p:txBody>
      </p:sp>
      <p:sp>
        <p:nvSpPr>
          <p:cNvPr id="7" name="Shape 5"/>
          <p:cNvSpPr/>
          <p:nvPr/>
        </p:nvSpPr>
        <p:spPr>
          <a:xfrm>
            <a:off x="1047750" y="4099917"/>
            <a:ext cx="6318721" cy="647700"/>
          </a:xfrm>
          <a:prstGeom prst="roundRect">
            <a:avLst>
              <a:gd name="adj" fmla="val 17647"/>
            </a:avLst>
          </a:prstGeom>
          <a:solidFill>
            <a:srgbClr val="FFFFFF"/>
          </a:solidFill>
          <a:ln w="9525">
            <a:solidFill>
              <a:srgbClr val="E7E5E1"/>
            </a:solidFill>
            <a:prstDash val="solid"/>
          </a:ln>
        </p:spPr>
      </p:sp>
      <p:sp>
        <p:nvSpPr>
          <p:cNvPr id="8" name="Text 6"/>
          <p:cNvSpPr/>
          <p:nvPr/>
        </p:nvSpPr>
        <p:spPr>
          <a:xfrm>
            <a:off x="1285875" y="4299942"/>
            <a:ext cx="1433885"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b="1" dirty="0">
                <a:solidFill>
                  <a:srgbClr val="52525B"/>
                </a:solidFill>
                <a:latin typeface="Barlow" pitchFamily="34" charset="0"/>
                <a:ea typeface="Barlow" pitchFamily="34" charset="-122"/>
                <a:cs typeface="Barlow" pitchFamily="34" charset="-120"/>
              </a:rPr>
              <a:t>SIN_CFC_1.0</a:t>
            </a:r>
            <a:endParaRPr lang="en-US" sz="1950" dirty="0"/>
          </a:p>
        </p:txBody>
      </p:sp>
      <p:sp>
        <p:nvSpPr>
          <p:cNvPr id="9" name="Text 7"/>
          <p:cNvSpPr/>
          <p:nvPr/>
        </p:nvSpPr>
        <p:spPr>
          <a:xfrm>
            <a:off x="5080025" y="4280892"/>
            <a:ext cx="2124521" cy="323850"/>
          </a:xfrm>
          <a:prstGeom prst="rect">
            <a:avLst/>
          </a:prstGeom>
          <a:noFill/>
          <a:ln/>
        </p:spPr>
        <p:txBody>
          <a:bodyPr wrap="square" lIns="25400" tIns="25400" rIns="25400" bIns="25400" rtlCol="0" anchor="t">
            <a:normAutofit/>
          </a:bodyPr>
          <a:lstStyle/>
          <a:p>
            <a:pPr algn="l" indent="0" marL="0">
              <a:lnSpc>
                <a:spcPct val="100000"/>
              </a:lnSpc>
              <a:buNone/>
            </a:pPr>
            <a:r>
              <a:rPr lang="en-US" sz="2250" dirty="0">
                <a:solidFill>
                  <a:srgbClr val="A1A1AA"/>
                </a:solidFill>
                <a:latin typeface="Barlow" pitchFamily="34" charset="0"/>
                <a:ea typeface="Barlow" pitchFamily="34" charset="-122"/>
                <a:cs typeface="Barlow" pitchFamily="34" charset="-120"/>
              </a:rPr>
              <a:t>75.6% </a:t>
            </a:r>
            <a:pPr algn="l" indent="0" marL="0">
              <a:lnSpc>
                <a:spcPct val="100000"/>
              </a:lnSpc>
              <a:buNone/>
            </a:pPr>
            <a:r>
              <a:rPr lang="en-US" sz="2250" dirty="0">
                <a:solidFill>
                  <a:srgbClr val="D4D4D8"/>
                </a:solidFill>
                <a:latin typeface="Barlow" pitchFamily="34" charset="0"/>
                <a:ea typeface="Barlow" pitchFamily="34" charset="-122"/>
                <a:cs typeface="Barlow" pitchFamily="34" charset="-120"/>
              </a:rPr>
              <a:t>→ </a:t>
            </a:r>
            <a:pPr algn="l" indent="0" marL="0">
              <a:lnSpc>
                <a:spcPct val="100000"/>
              </a:lnSpc>
              <a:buNone/>
            </a:pPr>
            <a:r>
              <a:rPr lang="en-US" sz="2250" b="1" dirty="0">
                <a:solidFill>
                  <a:srgbClr val="E4002B"/>
                </a:solidFill>
                <a:latin typeface="Barlow" pitchFamily="34" charset="0"/>
                <a:ea typeface="Barlow" pitchFamily="34" charset="-122"/>
                <a:cs typeface="Barlow" pitchFamily="34" charset="-120"/>
              </a:rPr>
              <a:t>90.9%</a:t>
            </a:r>
            <a:endParaRPr lang="en-US" sz="2250" dirty="0"/>
          </a:p>
        </p:txBody>
      </p:sp>
      <p:sp>
        <p:nvSpPr>
          <p:cNvPr id="10" name="Shape 8"/>
          <p:cNvSpPr/>
          <p:nvPr/>
        </p:nvSpPr>
        <p:spPr>
          <a:xfrm>
            <a:off x="1047750" y="4880967"/>
            <a:ext cx="6318721" cy="647700"/>
          </a:xfrm>
          <a:prstGeom prst="roundRect">
            <a:avLst>
              <a:gd name="adj" fmla="val 17647"/>
            </a:avLst>
          </a:prstGeom>
          <a:solidFill>
            <a:srgbClr val="FFFFFF"/>
          </a:solidFill>
          <a:ln w="9525">
            <a:solidFill>
              <a:srgbClr val="E7E5E1"/>
            </a:solidFill>
            <a:prstDash val="solid"/>
          </a:ln>
        </p:spPr>
      </p:sp>
      <p:sp>
        <p:nvSpPr>
          <p:cNvPr id="11" name="Text 9"/>
          <p:cNvSpPr/>
          <p:nvPr/>
        </p:nvSpPr>
        <p:spPr>
          <a:xfrm>
            <a:off x="1285875" y="5080992"/>
            <a:ext cx="1391766"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b="1" dirty="0">
                <a:solidFill>
                  <a:srgbClr val="52525B"/>
                </a:solidFill>
                <a:latin typeface="Barlow" pitchFamily="34" charset="0"/>
                <a:ea typeface="Barlow" pitchFamily="34" charset="-122"/>
                <a:cs typeface="Barlow" pitchFamily="34" charset="-120"/>
              </a:rPr>
              <a:t>OFC_CF_5.5</a:t>
            </a:r>
            <a:endParaRPr lang="en-US" sz="1950" dirty="0"/>
          </a:p>
        </p:txBody>
      </p:sp>
      <p:sp>
        <p:nvSpPr>
          <p:cNvPr id="12" name="Text 10"/>
          <p:cNvSpPr/>
          <p:nvPr/>
        </p:nvSpPr>
        <p:spPr>
          <a:xfrm>
            <a:off x="5073402" y="5061942"/>
            <a:ext cx="2131144" cy="323850"/>
          </a:xfrm>
          <a:prstGeom prst="rect">
            <a:avLst/>
          </a:prstGeom>
          <a:noFill/>
          <a:ln/>
        </p:spPr>
        <p:txBody>
          <a:bodyPr wrap="square" lIns="25400" tIns="25400" rIns="25400" bIns="25400" rtlCol="0" anchor="t">
            <a:normAutofit/>
          </a:bodyPr>
          <a:lstStyle/>
          <a:p>
            <a:pPr algn="l" indent="0" marL="0">
              <a:lnSpc>
                <a:spcPct val="100000"/>
              </a:lnSpc>
              <a:buNone/>
            </a:pPr>
            <a:r>
              <a:rPr lang="en-US" sz="2250" dirty="0">
                <a:solidFill>
                  <a:srgbClr val="A1A1AA"/>
                </a:solidFill>
                <a:latin typeface="Barlow" pitchFamily="34" charset="0"/>
                <a:ea typeface="Barlow" pitchFamily="34" charset="-122"/>
                <a:cs typeface="Barlow" pitchFamily="34" charset="-120"/>
              </a:rPr>
              <a:t>80.6% </a:t>
            </a:r>
            <a:pPr algn="l" indent="0" marL="0">
              <a:lnSpc>
                <a:spcPct val="100000"/>
              </a:lnSpc>
              <a:buNone/>
            </a:pPr>
            <a:r>
              <a:rPr lang="en-US" sz="2250" dirty="0">
                <a:solidFill>
                  <a:srgbClr val="D4D4D8"/>
                </a:solidFill>
                <a:latin typeface="Barlow" pitchFamily="34" charset="0"/>
                <a:ea typeface="Barlow" pitchFamily="34" charset="-122"/>
                <a:cs typeface="Barlow" pitchFamily="34" charset="-120"/>
              </a:rPr>
              <a:t>→ </a:t>
            </a:r>
            <a:pPr algn="l" indent="0" marL="0">
              <a:lnSpc>
                <a:spcPct val="100000"/>
              </a:lnSpc>
              <a:buNone/>
            </a:pPr>
            <a:r>
              <a:rPr lang="en-US" sz="2250" b="1" dirty="0">
                <a:solidFill>
                  <a:srgbClr val="E4002B"/>
                </a:solidFill>
                <a:latin typeface="Barlow" pitchFamily="34" charset="0"/>
                <a:ea typeface="Barlow" pitchFamily="34" charset="-122"/>
                <a:cs typeface="Barlow" pitchFamily="34" charset="-120"/>
              </a:rPr>
              <a:t>95.7%</a:t>
            </a:r>
            <a:endParaRPr lang="en-US" sz="2250" dirty="0"/>
          </a:p>
        </p:txBody>
      </p:sp>
      <p:sp>
        <p:nvSpPr>
          <p:cNvPr id="13" name="Shape 11"/>
          <p:cNvSpPr/>
          <p:nvPr/>
        </p:nvSpPr>
        <p:spPr>
          <a:xfrm>
            <a:off x="1047750" y="5662017"/>
            <a:ext cx="6318721" cy="647700"/>
          </a:xfrm>
          <a:prstGeom prst="roundRect">
            <a:avLst>
              <a:gd name="adj" fmla="val 17647"/>
            </a:avLst>
          </a:prstGeom>
          <a:solidFill>
            <a:srgbClr val="FFFFFF"/>
          </a:solidFill>
          <a:ln w="9525">
            <a:solidFill>
              <a:srgbClr val="E7E5E1"/>
            </a:solidFill>
            <a:prstDash val="solid"/>
          </a:ln>
        </p:spPr>
      </p:sp>
      <p:sp>
        <p:nvSpPr>
          <p:cNvPr id="14" name="Text 12"/>
          <p:cNvSpPr/>
          <p:nvPr/>
        </p:nvSpPr>
        <p:spPr>
          <a:xfrm>
            <a:off x="1285875" y="5862042"/>
            <a:ext cx="1422499"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b="1" dirty="0">
                <a:solidFill>
                  <a:srgbClr val="52525B"/>
                </a:solidFill>
                <a:latin typeface="Barlow" pitchFamily="34" charset="0"/>
                <a:ea typeface="Barlow" pitchFamily="34" charset="-122"/>
                <a:cs typeface="Barlow" pitchFamily="34" charset="-120"/>
              </a:rPr>
              <a:t>BCO_CF_4.0</a:t>
            </a:r>
            <a:endParaRPr lang="en-US" sz="1950" dirty="0"/>
          </a:p>
        </p:txBody>
      </p:sp>
      <p:sp>
        <p:nvSpPr>
          <p:cNvPr id="15" name="Text 13"/>
          <p:cNvSpPr/>
          <p:nvPr/>
        </p:nvSpPr>
        <p:spPr>
          <a:xfrm>
            <a:off x="5047431" y="5842992"/>
            <a:ext cx="2157115" cy="323850"/>
          </a:xfrm>
          <a:prstGeom prst="rect">
            <a:avLst/>
          </a:prstGeom>
          <a:noFill/>
          <a:ln/>
        </p:spPr>
        <p:txBody>
          <a:bodyPr wrap="square" lIns="25400" tIns="25400" rIns="25400" bIns="25400" rtlCol="0" anchor="t">
            <a:normAutofit/>
          </a:bodyPr>
          <a:lstStyle/>
          <a:p>
            <a:pPr algn="l" indent="0" marL="0">
              <a:lnSpc>
                <a:spcPct val="100000"/>
              </a:lnSpc>
              <a:buNone/>
            </a:pPr>
            <a:r>
              <a:rPr lang="en-US" sz="2250" dirty="0">
                <a:solidFill>
                  <a:srgbClr val="A1A1AA"/>
                </a:solidFill>
                <a:latin typeface="Barlow" pitchFamily="34" charset="0"/>
                <a:ea typeface="Barlow" pitchFamily="34" charset="-122"/>
                <a:cs typeface="Barlow" pitchFamily="34" charset="-120"/>
              </a:rPr>
              <a:t>88.5% </a:t>
            </a:r>
            <a:pPr algn="l" indent="0" marL="0">
              <a:lnSpc>
                <a:spcPct val="100000"/>
              </a:lnSpc>
              <a:buNone/>
            </a:pPr>
            <a:r>
              <a:rPr lang="en-US" sz="2250" dirty="0">
                <a:solidFill>
                  <a:srgbClr val="D4D4D8"/>
                </a:solidFill>
                <a:latin typeface="Barlow" pitchFamily="34" charset="0"/>
                <a:ea typeface="Barlow" pitchFamily="34" charset="-122"/>
                <a:cs typeface="Barlow" pitchFamily="34" charset="-120"/>
              </a:rPr>
              <a:t>→ </a:t>
            </a:r>
            <a:pPr algn="l" indent="0" marL="0">
              <a:lnSpc>
                <a:spcPct val="100000"/>
              </a:lnSpc>
              <a:buNone/>
            </a:pPr>
            <a:r>
              <a:rPr lang="en-US" sz="2250" b="1" dirty="0">
                <a:solidFill>
                  <a:srgbClr val="E4002B"/>
                </a:solidFill>
                <a:latin typeface="Barlow" pitchFamily="34" charset="0"/>
                <a:ea typeface="Barlow" pitchFamily="34" charset="-122"/>
                <a:cs typeface="Barlow" pitchFamily="34" charset="-120"/>
              </a:rPr>
              <a:t>92.4%</a:t>
            </a:r>
            <a:endParaRPr lang="en-US" sz="2250" dirty="0"/>
          </a:p>
        </p:txBody>
      </p:sp>
      <p:sp>
        <p:nvSpPr>
          <p:cNvPr id="16" name="Text 14"/>
          <p:cNvSpPr/>
          <p:nvPr/>
        </p:nvSpPr>
        <p:spPr>
          <a:xfrm>
            <a:off x="1047750" y="6557367"/>
            <a:ext cx="6508283"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71717A"/>
                </a:solidFill>
                <a:latin typeface="Barlow" pitchFamily="34" charset="0"/>
                <a:ea typeface="Barlow" pitchFamily="34" charset="-122"/>
                <a:cs typeface="Barlow" pitchFamily="34" charset="-120"/>
              </a:rPr>
              <a:t>Mayor calidad global del acomodo en los 4 formatos — impulsada sobre todo por aprovechamiento y agrupación de marca.</a:t>
            </a:r>
            <a:endParaRPr lang="en-US" sz="1800" dirty="0"/>
          </a:p>
        </p:txBody>
      </p:sp>
      <p:sp>
        <p:nvSpPr>
          <p:cNvPr id="17" name="Shape 15"/>
          <p:cNvSpPr/>
          <p:nvPr/>
        </p:nvSpPr>
        <p:spPr>
          <a:xfrm>
            <a:off x="7823671" y="2292846"/>
            <a:ext cx="9607079" cy="7232154"/>
          </a:xfrm>
          <a:prstGeom prst="roundRect">
            <a:avLst>
              <a:gd name="adj" fmla="val 2107"/>
            </a:avLst>
          </a:prstGeom>
          <a:solidFill>
            <a:srgbClr val="FFFFFF"/>
          </a:solidFill>
          <a:ln w="9525">
            <a:solidFill>
              <a:srgbClr val="E7E5E1"/>
            </a:solidFill>
            <a:prstDash val="solid"/>
          </a:ln>
        </p:spPr>
      </p:sp>
      <p:pic>
        <p:nvPicPr>
          <p:cNvPr id="18" name="Image 0" descr="preencoded.png">    </p:cNvPr>
          <p:cNvPicPr>
            <a:picLocks noChangeAspect="1"/>
          </p:cNvPicPr>
          <p:nvPr/>
        </p:nvPicPr>
        <p:blipFill>
          <a:blip r:embed="rId1"/>
          <a:srcRect l="-1" r="-1" t="0" b="0"/>
          <a:stretch/>
        </p:blipFill>
        <p:spPr>
          <a:xfrm>
            <a:off x="8080846" y="3277270"/>
            <a:ext cx="9092729" cy="52632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181B"/>
        </a:solidFill>
      </p:bgPr>
    </p:bg>
    <p:spTree>
      <p:nvGrpSpPr>
        <p:cNvPr id="1" name=""/>
        <p:cNvGrpSpPr/>
        <p:nvPr/>
      </p:nvGrpSpPr>
      <p:grpSpPr>
        <a:xfrm>
          <a:off x="0" y="0"/>
          <a:ext cx="0" cy="0"/>
          <a:chOff x="0" y="0"/>
          <a:chExt cx="0" cy="0"/>
        </a:xfrm>
      </p:grpSpPr>
      <p:sp>
        <p:nvSpPr>
          <p:cNvPr id="2" name="Shape 0"/>
          <p:cNvSpPr/>
          <p:nvPr/>
        </p:nvSpPr>
        <p:spPr>
          <a:xfrm>
            <a:off x="1047750" y="1085850"/>
            <a:ext cx="323850" cy="57150"/>
          </a:xfrm>
          <a:prstGeom prst="roundRect">
            <a:avLst>
              <a:gd name="adj" fmla="val 50000"/>
            </a:avLst>
          </a:prstGeom>
          <a:solidFill>
            <a:srgbClr val="FFE600"/>
          </a:solidFill>
          <a:ln/>
        </p:spPr>
      </p:sp>
      <p:sp>
        <p:nvSpPr>
          <p:cNvPr id="3" name="Text 1"/>
          <p:cNvSpPr/>
          <p:nvPr/>
        </p:nvSpPr>
        <p:spPr>
          <a:xfrm>
            <a:off x="1504950" y="990600"/>
            <a:ext cx="3723486"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b="1" spc="225" kern="0" dirty="0">
                <a:solidFill>
                  <a:srgbClr val="FFE600"/>
                </a:solidFill>
                <a:latin typeface="Barlow" pitchFamily="34" charset="0"/>
                <a:ea typeface="Barlow" pitchFamily="34" charset="-122"/>
                <a:cs typeface="Barlow" pitchFamily="34" charset="-120"/>
              </a:rPr>
              <a:t>SECCIÓN 2 · BAJO EL CAPÓ</a:t>
            </a:r>
            <a:endParaRPr lang="en-US" sz="1950" dirty="0"/>
          </a:p>
        </p:txBody>
      </p:sp>
      <p:sp>
        <p:nvSpPr>
          <p:cNvPr id="4" name="Text 2"/>
          <p:cNvSpPr/>
          <p:nvPr/>
        </p:nvSpPr>
        <p:spPr>
          <a:xfrm>
            <a:off x="1047750" y="3823395"/>
            <a:ext cx="12753975"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150" kern="0" dirty="0">
                <a:solidFill>
                  <a:srgbClr val="FFFFFF"/>
                </a:solidFill>
                <a:latin typeface="Barlow" pitchFamily="34" charset="0"/>
                <a:ea typeface="Barlow" pitchFamily="34" charset="-122"/>
                <a:cs typeface="Barlow" pitchFamily="34" charset="-120"/>
              </a:rPr>
              <a:t>Cómo funciona</a:t>
            </a:r>
            <a:endParaRPr lang="en-US" sz="7200" dirty="0"/>
          </a:p>
        </p:txBody>
      </p:sp>
      <p:sp>
        <p:nvSpPr>
          <p:cNvPr id="5" name="Text 3"/>
          <p:cNvSpPr/>
          <p:nvPr/>
        </p:nvSpPr>
        <p:spPr>
          <a:xfrm>
            <a:off x="1047750" y="5023545"/>
            <a:ext cx="10988040" cy="5334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FFFFFF">
                    <a:alpha val="82000"/>
                  </a:srgbClr>
                </a:solidFill>
                <a:latin typeface="Barlow" pitchFamily="34" charset="0"/>
                <a:ea typeface="Barlow" pitchFamily="34" charset="-122"/>
                <a:cs typeface="Barlow" pitchFamily="34" charset="-120"/>
              </a:rPr>
              <a:t>El modelo, el algoritmo y la simulación detrás del optimizador.</a:t>
            </a:r>
            <a:endParaRPr lang="en-US" sz="3000" dirty="0"/>
          </a:p>
        </p:txBody>
      </p:sp>
      <p:sp>
        <p:nvSpPr>
          <p:cNvPr id="6" name="Shape 4"/>
          <p:cNvSpPr/>
          <p:nvPr/>
        </p:nvSpPr>
        <p:spPr>
          <a:xfrm>
            <a:off x="1047750" y="8103915"/>
            <a:ext cx="5257800" cy="1306785"/>
          </a:xfrm>
          <a:prstGeom prst="roundRect">
            <a:avLst>
              <a:gd name="adj" fmla="val 10204"/>
            </a:avLst>
          </a:prstGeom>
          <a:solidFill>
            <a:srgbClr val="FFFFFF">
              <a:alpha val="6000"/>
            </a:srgbClr>
          </a:solidFill>
          <a:ln w="9525">
            <a:solidFill>
              <a:srgbClr val="FFFFFF">
                <a:alpha val="14000"/>
              </a:srgbClr>
            </a:solidFill>
            <a:prstDash val="solid"/>
          </a:ln>
        </p:spPr>
      </p:sp>
      <p:sp>
        <p:nvSpPr>
          <p:cNvPr id="7" name="Text 5"/>
          <p:cNvSpPr/>
          <p:nvPr/>
        </p:nvSpPr>
        <p:spPr>
          <a:xfrm>
            <a:off x="1362075" y="8351565"/>
            <a:ext cx="317674" cy="381000"/>
          </a:xfrm>
          <a:prstGeom prst="rect">
            <a:avLst/>
          </a:prstGeom>
          <a:noFill/>
          <a:ln/>
        </p:spPr>
        <p:txBody>
          <a:bodyPr wrap="square" lIns="25400" tIns="25400" rIns="25400" bIns="25400" rtlCol="0" anchor="t">
            <a:normAutofit/>
          </a:bodyPr>
          <a:lstStyle/>
          <a:p>
            <a:pPr algn="l" indent="0" marL="0">
              <a:lnSpc>
                <a:spcPct val="100000"/>
              </a:lnSpc>
              <a:buNone/>
            </a:pPr>
            <a:r>
              <a:rPr lang="en-US" sz="2250" b="1" dirty="0">
                <a:solidFill>
                  <a:srgbClr val="FFE600"/>
                </a:solidFill>
                <a:latin typeface="Barlow Semi Condensed" pitchFamily="34" charset="0"/>
                <a:ea typeface="Barlow Semi Condensed" pitchFamily="34" charset="-122"/>
                <a:cs typeface="Barlow Semi Condensed" pitchFamily="34" charset="-120"/>
              </a:rPr>
              <a:t>T1</a:t>
            </a:r>
            <a:endParaRPr lang="en-US" sz="2250" dirty="0"/>
          </a:p>
        </p:txBody>
      </p:sp>
      <p:sp>
        <p:nvSpPr>
          <p:cNvPr id="8" name="Text 6"/>
          <p:cNvSpPr/>
          <p:nvPr/>
        </p:nvSpPr>
        <p:spPr>
          <a:xfrm>
            <a:off x="1362075" y="8780190"/>
            <a:ext cx="4768025" cy="392385"/>
          </a:xfrm>
          <a:prstGeom prst="rect">
            <a:avLst/>
          </a:prstGeom>
          <a:noFill/>
          <a:ln/>
        </p:spPr>
        <p:txBody>
          <a:bodyPr wrap="square" lIns="25400" tIns="25400" rIns="25400" bIns="25400" rtlCol="0" anchor="t">
            <a:normAutofit/>
          </a:bodyPr>
          <a:lstStyle/>
          <a:p>
            <a:pPr algn="l" indent="0" marL="0">
              <a:lnSpc>
                <a:spcPct val="120000"/>
              </a:lnSpc>
              <a:buNone/>
            </a:pPr>
            <a:r>
              <a:rPr lang="en-US" sz="2325" b="1" dirty="0">
                <a:solidFill>
                  <a:srgbClr val="FFFFFF"/>
                </a:solidFill>
                <a:latin typeface="Barlow" pitchFamily="34" charset="0"/>
                <a:ea typeface="Barlow" pitchFamily="34" charset="-122"/>
                <a:cs typeface="Barlow" pitchFamily="34" charset="-120"/>
              </a:rPr>
              <a:t>El modelo de optimización</a:t>
            </a:r>
            <a:endParaRPr lang="en-US" sz="2325" dirty="0"/>
          </a:p>
        </p:txBody>
      </p:sp>
      <p:sp>
        <p:nvSpPr>
          <p:cNvPr id="9" name="Shape 7"/>
          <p:cNvSpPr/>
          <p:nvPr/>
        </p:nvSpPr>
        <p:spPr>
          <a:xfrm>
            <a:off x="6515100" y="8103915"/>
            <a:ext cx="5257800" cy="1306785"/>
          </a:xfrm>
          <a:prstGeom prst="roundRect">
            <a:avLst>
              <a:gd name="adj" fmla="val 10204"/>
            </a:avLst>
          </a:prstGeom>
          <a:solidFill>
            <a:srgbClr val="FFFFFF">
              <a:alpha val="6000"/>
            </a:srgbClr>
          </a:solidFill>
          <a:ln w="9525">
            <a:solidFill>
              <a:srgbClr val="FFFFFF">
                <a:alpha val="14000"/>
              </a:srgbClr>
            </a:solidFill>
            <a:prstDash val="solid"/>
          </a:ln>
        </p:spPr>
      </p:sp>
      <p:sp>
        <p:nvSpPr>
          <p:cNvPr id="10" name="Text 8"/>
          <p:cNvSpPr/>
          <p:nvPr/>
        </p:nvSpPr>
        <p:spPr>
          <a:xfrm>
            <a:off x="6829425" y="8351565"/>
            <a:ext cx="369094" cy="381000"/>
          </a:xfrm>
          <a:prstGeom prst="rect">
            <a:avLst/>
          </a:prstGeom>
          <a:noFill/>
          <a:ln/>
        </p:spPr>
        <p:txBody>
          <a:bodyPr wrap="square" lIns="25400" tIns="25400" rIns="25400" bIns="25400" rtlCol="0" anchor="t">
            <a:normAutofit/>
          </a:bodyPr>
          <a:lstStyle/>
          <a:p>
            <a:pPr algn="l" indent="0" marL="0">
              <a:lnSpc>
                <a:spcPct val="100000"/>
              </a:lnSpc>
              <a:buNone/>
            </a:pPr>
            <a:r>
              <a:rPr lang="en-US" sz="2250" b="1" dirty="0">
                <a:solidFill>
                  <a:srgbClr val="FFE600"/>
                </a:solidFill>
                <a:latin typeface="Barlow Semi Condensed" pitchFamily="34" charset="0"/>
                <a:ea typeface="Barlow Semi Condensed" pitchFamily="34" charset="-122"/>
                <a:cs typeface="Barlow Semi Condensed" pitchFamily="34" charset="-120"/>
              </a:rPr>
              <a:t>T2</a:t>
            </a:r>
            <a:endParaRPr lang="en-US" sz="2250" dirty="0"/>
          </a:p>
        </p:txBody>
      </p:sp>
      <p:sp>
        <p:nvSpPr>
          <p:cNvPr id="11" name="Text 9"/>
          <p:cNvSpPr/>
          <p:nvPr/>
        </p:nvSpPr>
        <p:spPr>
          <a:xfrm>
            <a:off x="6829425" y="8780190"/>
            <a:ext cx="4768025" cy="392385"/>
          </a:xfrm>
          <a:prstGeom prst="rect">
            <a:avLst/>
          </a:prstGeom>
          <a:noFill/>
          <a:ln/>
        </p:spPr>
        <p:txBody>
          <a:bodyPr wrap="square" lIns="25400" tIns="25400" rIns="25400" bIns="25400" rtlCol="0" anchor="t">
            <a:normAutofit/>
          </a:bodyPr>
          <a:lstStyle/>
          <a:p>
            <a:pPr algn="l" indent="0" marL="0">
              <a:lnSpc>
                <a:spcPct val="120000"/>
              </a:lnSpc>
              <a:buNone/>
            </a:pPr>
            <a:r>
              <a:rPr lang="en-US" sz="2325" b="1" dirty="0">
                <a:solidFill>
                  <a:srgbClr val="FFFFFF"/>
                </a:solidFill>
                <a:latin typeface="Barlow" pitchFamily="34" charset="0"/>
                <a:ea typeface="Barlow" pitchFamily="34" charset="-122"/>
                <a:cs typeface="Barlow" pitchFamily="34" charset="-120"/>
              </a:rPr>
              <a:t>El algoritmo genético</a:t>
            </a:r>
            <a:endParaRPr lang="en-US" sz="2325" dirty="0"/>
          </a:p>
        </p:txBody>
      </p:sp>
      <p:sp>
        <p:nvSpPr>
          <p:cNvPr id="12" name="Shape 10"/>
          <p:cNvSpPr/>
          <p:nvPr/>
        </p:nvSpPr>
        <p:spPr>
          <a:xfrm>
            <a:off x="11982450" y="8103915"/>
            <a:ext cx="5257800" cy="1306785"/>
          </a:xfrm>
          <a:prstGeom prst="roundRect">
            <a:avLst>
              <a:gd name="adj" fmla="val 10204"/>
            </a:avLst>
          </a:prstGeom>
          <a:solidFill>
            <a:srgbClr val="FFFFFF">
              <a:alpha val="6000"/>
            </a:srgbClr>
          </a:solidFill>
          <a:ln w="9525">
            <a:solidFill>
              <a:srgbClr val="FFFFFF">
                <a:alpha val="14000"/>
              </a:srgbClr>
            </a:solidFill>
            <a:prstDash val="solid"/>
          </a:ln>
        </p:spPr>
      </p:sp>
      <p:sp>
        <p:nvSpPr>
          <p:cNvPr id="13" name="Text 11"/>
          <p:cNvSpPr/>
          <p:nvPr/>
        </p:nvSpPr>
        <p:spPr>
          <a:xfrm>
            <a:off x="12296775" y="8351565"/>
            <a:ext cx="365671" cy="381000"/>
          </a:xfrm>
          <a:prstGeom prst="rect">
            <a:avLst/>
          </a:prstGeom>
          <a:noFill/>
          <a:ln/>
        </p:spPr>
        <p:txBody>
          <a:bodyPr wrap="square" lIns="25400" tIns="25400" rIns="25400" bIns="25400" rtlCol="0" anchor="t">
            <a:normAutofit/>
          </a:bodyPr>
          <a:lstStyle/>
          <a:p>
            <a:pPr algn="l" indent="0" marL="0">
              <a:lnSpc>
                <a:spcPct val="100000"/>
              </a:lnSpc>
              <a:buNone/>
            </a:pPr>
            <a:r>
              <a:rPr lang="en-US" sz="2250" b="1" dirty="0">
                <a:solidFill>
                  <a:srgbClr val="FFE600"/>
                </a:solidFill>
                <a:latin typeface="Barlow Semi Condensed" pitchFamily="34" charset="0"/>
                <a:ea typeface="Barlow Semi Condensed" pitchFamily="34" charset="-122"/>
                <a:cs typeface="Barlow Semi Condensed" pitchFamily="34" charset="-120"/>
              </a:rPr>
              <a:t>T3</a:t>
            </a:r>
            <a:endParaRPr lang="en-US" sz="2250" dirty="0"/>
          </a:p>
        </p:txBody>
      </p:sp>
      <p:sp>
        <p:nvSpPr>
          <p:cNvPr id="14" name="Text 12"/>
          <p:cNvSpPr/>
          <p:nvPr/>
        </p:nvSpPr>
        <p:spPr>
          <a:xfrm>
            <a:off x="12296775" y="8780190"/>
            <a:ext cx="4768025" cy="392385"/>
          </a:xfrm>
          <a:prstGeom prst="rect">
            <a:avLst/>
          </a:prstGeom>
          <a:noFill/>
          <a:ln/>
        </p:spPr>
        <p:txBody>
          <a:bodyPr wrap="square" lIns="25400" tIns="25400" rIns="25400" bIns="25400" rtlCol="0" anchor="t">
            <a:normAutofit/>
          </a:bodyPr>
          <a:lstStyle/>
          <a:p>
            <a:pPr algn="l" indent="0" marL="0">
              <a:lnSpc>
                <a:spcPct val="120000"/>
              </a:lnSpc>
              <a:buNone/>
            </a:pPr>
            <a:r>
              <a:rPr lang="en-US" sz="2325" b="1" dirty="0">
                <a:solidFill>
                  <a:srgbClr val="FFFFFF"/>
                </a:solidFill>
                <a:latin typeface="Barlow" pitchFamily="34" charset="0"/>
                <a:ea typeface="Barlow" pitchFamily="34" charset="-122"/>
                <a:cs typeface="Barlow" pitchFamily="34" charset="-120"/>
              </a:rPr>
              <a:t>La simulación y los datos</a:t>
            </a:r>
            <a:endParaRPr lang="en-US" sz="23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1997199"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T1 · EL MODELO</a:t>
            </a:r>
            <a:endParaRPr lang="en-US" sz="1800" dirty="0"/>
          </a:p>
        </p:txBody>
      </p:sp>
      <p:sp>
        <p:nvSpPr>
          <p:cNvPr id="4" name="Text 2"/>
          <p:cNvSpPr/>
          <p:nvPr/>
        </p:nvSpPr>
        <p:spPr>
          <a:xfrm>
            <a:off x="1047750" y="129540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El modelo de optimización</a:t>
            </a:r>
            <a:endParaRPr lang="en-US" sz="5400" dirty="0"/>
          </a:p>
        </p:txBody>
      </p:sp>
      <p:sp>
        <p:nvSpPr>
          <p:cNvPr id="5" name="Text 3"/>
          <p:cNvSpPr/>
          <p:nvPr/>
        </p:nvSpPr>
        <p:spPr>
          <a:xfrm>
            <a:off x="1047750" y="2199084"/>
            <a:ext cx="12950190"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52525B"/>
                </a:solidFill>
                <a:latin typeface="Barlow" pitchFamily="34" charset="0"/>
                <a:ea typeface="Barlow" pitchFamily="34" charset="-122"/>
                <a:cs typeface="Barlow" pitchFamily="34" charset="-120"/>
              </a:rPr>
              <a:t>Decidimos a qué charola y en qué orden va cada producto, maximizando una sola función objetivo.</a:t>
            </a:r>
            <a:endParaRPr lang="en-US" sz="2250" dirty="0"/>
          </a:p>
        </p:txBody>
      </p:sp>
      <p:sp>
        <p:nvSpPr>
          <p:cNvPr id="6" name="Shape 4"/>
          <p:cNvSpPr/>
          <p:nvPr/>
        </p:nvSpPr>
        <p:spPr>
          <a:xfrm>
            <a:off x="1047750" y="2870597"/>
            <a:ext cx="16192500" cy="1445419"/>
          </a:xfrm>
          <a:prstGeom prst="roundRect">
            <a:avLst>
              <a:gd name="adj" fmla="val 11862"/>
            </a:avLst>
          </a:prstGeom>
          <a:solidFill>
            <a:srgbClr val="18181B"/>
          </a:solidFill>
          <a:ln/>
        </p:spPr>
      </p:sp>
      <p:sp>
        <p:nvSpPr>
          <p:cNvPr id="7" name="Text 5"/>
          <p:cNvSpPr/>
          <p:nvPr/>
        </p:nvSpPr>
        <p:spPr>
          <a:xfrm>
            <a:off x="3082566" y="3194447"/>
            <a:ext cx="12122868" cy="266700"/>
          </a:xfrm>
          <a:prstGeom prst="rect">
            <a:avLst/>
          </a:prstGeom>
          <a:noFill/>
          <a:ln/>
        </p:spPr>
        <p:txBody>
          <a:bodyPr wrap="square" lIns="25400" tIns="25400" rIns="25400" bIns="25400" rtlCol="0" anchor="t">
            <a:normAutofit/>
          </a:bodyPr>
          <a:lstStyle/>
          <a:p>
            <a:pPr algn="ctr" indent="0" marL="0">
              <a:lnSpc>
                <a:spcPct val="100000"/>
              </a:lnSpc>
              <a:buNone/>
            </a:pPr>
            <a:r>
              <a:rPr lang="en-US" sz="1800" b="1" spc="225" kern="0" dirty="0">
                <a:solidFill>
                  <a:srgbClr val="A1A1AA"/>
                </a:solidFill>
                <a:latin typeface="Barlow" pitchFamily="34" charset="0"/>
                <a:ea typeface="Barlow" pitchFamily="34" charset="-122"/>
                <a:cs typeface="Barlow" pitchFamily="34" charset="-120"/>
              </a:rPr>
              <a:t>FUNCIÓN OBJETIVO · SE MAXIMIZA</a:t>
            </a:r>
            <a:endParaRPr lang="en-US" sz="1800" dirty="0"/>
          </a:p>
        </p:txBody>
      </p:sp>
      <p:sp>
        <p:nvSpPr>
          <p:cNvPr id="8" name="Text 6"/>
          <p:cNvSpPr/>
          <p:nvPr/>
        </p:nvSpPr>
        <p:spPr>
          <a:xfrm>
            <a:off x="3221013" y="3672260"/>
            <a:ext cx="378693" cy="365968"/>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Z</a:t>
            </a:r>
            <a:endParaRPr lang="en-US" sz="3930" dirty="0"/>
          </a:p>
        </p:txBody>
      </p:sp>
      <p:sp>
        <p:nvSpPr>
          <p:cNvPr id="9" name="Text 7"/>
          <p:cNvSpPr/>
          <p:nvPr/>
        </p:nvSpPr>
        <p:spPr>
          <a:xfrm>
            <a:off x="3801070" y="3803005"/>
            <a:ext cx="435546" cy="173906"/>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a:t>
            </a:r>
            <a:endParaRPr lang="en-US" sz="3930" dirty="0"/>
          </a:p>
        </p:txBody>
      </p:sp>
      <p:sp>
        <p:nvSpPr>
          <p:cNvPr id="10" name="Text 8"/>
          <p:cNvSpPr/>
          <p:nvPr/>
        </p:nvSpPr>
        <p:spPr>
          <a:xfrm>
            <a:off x="4437980" y="3764087"/>
            <a:ext cx="439043" cy="277118"/>
          </a:xfrm>
          <a:prstGeom prst="rect">
            <a:avLst/>
          </a:prstGeom>
          <a:noFill/>
          <a:ln/>
        </p:spPr>
        <p:txBody>
          <a:bodyPr wrap="square" lIns="25400" tIns="25400" rIns="25400" bIns="25400" rtlCol="0" anchor="t">
            <a:normAutofit/>
          </a:bodyPr>
          <a:lstStyle/>
          <a:p>
            <a:pPr algn="ctr" indent="0" marL="0">
              <a:buNone/>
            </a:pPr>
            <a:r>
              <a:rPr lang="en-US" sz="3930" dirty="0">
                <a:solidFill>
                  <a:srgbClr val="FFE600"/>
                </a:solidFill>
                <a:latin typeface="Cambria Math" pitchFamily="34" charset="0"/>
                <a:ea typeface="Cambria Math" pitchFamily="34" charset="-122"/>
                <a:cs typeface="Cambria Math" pitchFamily="34" charset="-120"/>
              </a:rPr>
              <a:t>w</a:t>
            </a:r>
            <a:endParaRPr lang="en-US" sz="3930" dirty="0"/>
          </a:p>
        </p:txBody>
      </p:sp>
      <p:sp>
        <p:nvSpPr>
          <p:cNvPr id="11" name="Text 9"/>
          <p:cNvSpPr/>
          <p:nvPr/>
        </p:nvSpPr>
        <p:spPr>
          <a:xfrm>
            <a:off x="4800823" y="3881735"/>
            <a:ext cx="249138" cy="261268"/>
          </a:xfrm>
          <a:prstGeom prst="rect">
            <a:avLst/>
          </a:prstGeom>
          <a:noFill/>
          <a:ln/>
        </p:spPr>
        <p:txBody>
          <a:bodyPr wrap="square" lIns="25400" tIns="25400" rIns="25400" bIns="25400" rtlCol="0" anchor="t">
            <a:normAutofit/>
          </a:bodyPr>
          <a:lstStyle/>
          <a:p>
            <a:pPr algn="ctr" indent="0" marL="0">
              <a:buNone/>
            </a:pPr>
            <a:r>
              <a:rPr lang="en-US" sz="2751" dirty="0">
                <a:solidFill>
                  <a:srgbClr val="FFE600"/>
                </a:solidFill>
                <a:latin typeface="Cambria Math" pitchFamily="34" charset="0"/>
                <a:ea typeface="Cambria Math" pitchFamily="34" charset="-122"/>
                <a:cs typeface="Cambria Math" pitchFamily="34" charset="-120"/>
              </a:rPr>
              <a:t>1</a:t>
            </a:r>
            <a:endParaRPr lang="en-US" sz="2751" dirty="0"/>
          </a:p>
        </p:txBody>
      </p:sp>
      <p:sp>
        <p:nvSpPr>
          <p:cNvPr id="12" name="Text 10"/>
          <p:cNvSpPr/>
          <p:nvPr/>
        </p:nvSpPr>
        <p:spPr>
          <a:xfrm>
            <a:off x="5076974" y="3672260"/>
            <a:ext cx="441052" cy="371921"/>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U</a:t>
            </a:r>
            <a:endParaRPr lang="en-US" sz="3930" dirty="0"/>
          </a:p>
        </p:txBody>
      </p:sp>
      <p:sp>
        <p:nvSpPr>
          <p:cNvPr id="13" name="Text 11"/>
          <p:cNvSpPr/>
          <p:nvPr/>
        </p:nvSpPr>
        <p:spPr>
          <a:xfrm>
            <a:off x="5691634" y="3853904"/>
            <a:ext cx="435546" cy="76200"/>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a:t>
            </a:r>
            <a:endParaRPr lang="en-US" sz="3930" dirty="0"/>
          </a:p>
        </p:txBody>
      </p:sp>
      <p:sp>
        <p:nvSpPr>
          <p:cNvPr id="14" name="Text 12"/>
          <p:cNvSpPr/>
          <p:nvPr/>
        </p:nvSpPr>
        <p:spPr>
          <a:xfrm>
            <a:off x="6300788" y="3764087"/>
            <a:ext cx="439043" cy="277118"/>
          </a:xfrm>
          <a:prstGeom prst="rect">
            <a:avLst/>
          </a:prstGeom>
          <a:noFill/>
          <a:ln/>
        </p:spPr>
        <p:txBody>
          <a:bodyPr wrap="square" lIns="25400" tIns="25400" rIns="25400" bIns="25400" rtlCol="0" anchor="t">
            <a:normAutofit/>
          </a:bodyPr>
          <a:lstStyle/>
          <a:p>
            <a:pPr algn="ctr" indent="0" marL="0">
              <a:buNone/>
            </a:pPr>
            <a:r>
              <a:rPr lang="en-US" sz="3930" dirty="0">
                <a:solidFill>
                  <a:srgbClr val="FFE600"/>
                </a:solidFill>
                <a:latin typeface="Cambria Math" pitchFamily="34" charset="0"/>
                <a:ea typeface="Cambria Math" pitchFamily="34" charset="-122"/>
                <a:cs typeface="Cambria Math" pitchFamily="34" charset="-120"/>
              </a:rPr>
              <a:t>w</a:t>
            </a:r>
            <a:endParaRPr lang="en-US" sz="3930" dirty="0"/>
          </a:p>
        </p:txBody>
      </p:sp>
      <p:sp>
        <p:nvSpPr>
          <p:cNvPr id="15" name="Text 13"/>
          <p:cNvSpPr/>
          <p:nvPr/>
        </p:nvSpPr>
        <p:spPr>
          <a:xfrm>
            <a:off x="6663630" y="3879949"/>
            <a:ext cx="249138" cy="263054"/>
          </a:xfrm>
          <a:prstGeom prst="rect">
            <a:avLst/>
          </a:prstGeom>
          <a:noFill/>
          <a:ln/>
        </p:spPr>
        <p:txBody>
          <a:bodyPr wrap="square" lIns="25400" tIns="25400" rIns="25400" bIns="25400" rtlCol="0" anchor="t">
            <a:normAutofit/>
          </a:bodyPr>
          <a:lstStyle/>
          <a:p>
            <a:pPr algn="ctr" indent="0" marL="0">
              <a:buNone/>
            </a:pPr>
            <a:r>
              <a:rPr lang="en-US" sz="2751" dirty="0">
                <a:solidFill>
                  <a:srgbClr val="FFE600"/>
                </a:solidFill>
                <a:latin typeface="Cambria Math" pitchFamily="34" charset="0"/>
                <a:ea typeface="Cambria Math" pitchFamily="34" charset="-122"/>
                <a:cs typeface="Cambria Math" pitchFamily="34" charset="-120"/>
              </a:rPr>
              <a:t>2</a:t>
            </a:r>
            <a:endParaRPr lang="en-US" sz="2751" dirty="0"/>
          </a:p>
        </p:txBody>
      </p:sp>
      <p:sp>
        <p:nvSpPr>
          <p:cNvPr id="16" name="Text 14"/>
          <p:cNvSpPr/>
          <p:nvPr/>
        </p:nvSpPr>
        <p:spPr>
          <a:xfrm>
            <a:off x="6939781" y="3666306"/>
            <a:ext cx="403622" cy="377354"/>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C</a:t>
            </a:r>
            <a:endParaRPr lang="en-US" sz="3930" dirty="0"/>
          </a:p>
        </p:txBody>
      </p:sp>
      <p:sp>
        <p:nvSpPr>
          <p:cNvPr id="17" name="Text 15"/>
          <p:cNvSpPr/>
          <p:nvPr/>
        </p:nvSpPr>
        <p:spPr>
          <a:xfrm>
            <a:off x="7267203" y="3891855"/>
            <a:ext cx="651570" cy="254571"/>
          </a:xfrm>
          <a:prstGeom prst="rect">
            <a:avLst/>
          </a:prstGeom>
          <a:noFill/>
          <a:ln/>
        </p:spPr>
        <p:txBody>
          <a:bodyPr wrap="square" lIns="25400" tIns="25400" rIns="25400" bIns="25400" rtlCol="0" anchor="t">
            <a:normAutofit/>
          </a:bodyPr>
          <a:lstStyle/>
          <a:p>
            <a:pPr algn="ctr" indent="0" marL="0">
              <a:buNone/>
            </a:pPr>
            <a:r>
              <a:rPr lang="en-US" sz="2751" dirty="0">
                <a:solidFill>
                  <a:srgbClr val="FFFFFF"/>
                </a:solidFill>
                <a:latin typeface="Cambria Math" pitchFamily="34" charset="0"/>
                <a:ea typeface="Cambria Math" pitchFamily="34" charset="-122"/>
                <a:cs typeface="Cambria Math" pitchFamily="34" charset="-120"/>
              </a:rPr>
              <a:t>tam</a:t>
            </a:r>
            <a:endParaRPr lang="en-US" sz="2751" dirty="0"/>
          </a:p>
        </p:txBody>
      </p:sp>
      <p:sp>
        <p:nvSpPr>
          <p:cNvPr id="18" name="Text 16"/>
          <p:cNvSpPr/>
          <p:nvPr/>
        </p:nvSpPr>
        <p:spPr>
          <a:xfrm>
            <a:off x="8112323" y="3721671"/>
            <a:ext cx="435546" cy="336500"/>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a:t>
            </a:r>
            <a:endParaRPr lang="en-US" sz="3930" dirty="0"/>
          </a:p>
        </p:txBody>
      </p:sp>
      <p:sp>
        <p:nvSpPr>
          <p:cNvPr id="19" name="Text 17"/>
          <p:cNvSpPr/>
          <p:nvPr/>
        </p:nvSpPr>
        <p:spPr>
          <a:xfrm>
            <a:off x="8721477" y="3764087"/>
            <a:ext cx="439043" cy="277118"/>
          </a:xfrm>
          <a:prstGeom prst="rect">
            <a:avLst/>
          </a:prstGeom>
          <a:noFill/>
          <a:ln/>
        </p:spPr>
        <p:txBody>
          <a:bodyPr wrap="square" lIns="25400" tIns="25400" rIns="25400" bIns="25400" rtlCol="0" anchor="t">
            <a:normAutofit/>
          </a:bodyPr>
          <a:lstStyle/>
          <a:p>
            <a:pPr algn="ctr" indent="0" marL="0">
              <a:buNone/>
            </a:pPr>
            <a:r>
              <a:rPr lang="en-US" sz="3930" dirty="0">
                <a:solidFill>
                  <a:srgbClr val="FFE600"/>
                </a:solidFill>
                <a:latin typeface="Cambria Math" pitchFamily="34" charset="0"/>
                <a:ea typeface="Cambria Math" pitchFamily="34" charset="-122"/>
                <a:cs typeface="Cambria Math" pitchFamily="34" charset="-120"/>
              </a:rPr>
              <a:t>w</a:t>
            </a:r>
            <a:endParaRPr lang="en-US" sz="3930" dirty="0"/>
          </a:p>
        </p:txBody>
      </p:sp>
      <p:sp>
        <p:nvSpPr>
          <p:cNvPr id="20" name="Text 18"/>
          <p:cNvSpPr/>
          <p:nvPr/>
        </p:nvSpPr>
        <p:spPr>
          <a:xfrm>
            <a:off x="9084320" y="3879949"/>
            <a:ext cx="249138" cy="267593"/>
          </a:xfrm>
          <a:prstGeom prst="rect">
            <a:avLst/>
          </a:prstGeom>
          <a:noFill/>
          <a:ln/>
        </p:spPr>
        <p:txBody>
          <a:bodyPr wrap="square" lIns="25400" tIns="25400" rIns="25400" bIns="25400" rtlCol="0" anchor="t">
            <a:normAutofit/>
          </a:bodyPr>
          <a:lstStyle/>
          <a:p>
            <a:pPr algn="ctr" indent="0" marL="0">
              <a:buNone/>
            </a:pPr>
            <a:r>
              <a:rPr lang="en-US" sz="2751" dirty="0">
                <a:solidFill>
                  <a:srgbClr val="FFE600"/>
                </a:solidFill>
                <a:latin typeface="Cambria Math" pitchFamily="34" charset="0"/>
                <a:ea typeface="Cambria Math" pitchFamily="34" charset="-122"/>
                <a:cs typeface="Cambria Math" pitchFamily="34" charset="-120"/>
              </a:rPr>
              <a:t>3</a:t>
            </a:r>
            <a:endParaRPr lang="en-US" sz="2751" dirty="0"/>
          </a:p>
        </p:txBody>
      </p:sp>
      <p:sp>
        <p:nvSpPr>
          <p:cNvPr id="21" name="Text 19"/>
          <p:cNvSpPr/>
          <p:nvPr/>
        </p:nvSpPr>
        <p:spPr>
          <a:xfrm>
            <a:off x="9360471" y="3672260"/>
            <a:ext cx="372145" cy="365968"/>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B</a:t>
            </a:r>
            <a:endParaRPr lang="en-US" sz="3930" dirty="0"/>
          </a:p>
        </p:txBody>
      </p:sp>
      <p:sp>
        <p:nvSpPr>
          <p:cNvPr id="22" name="Text 20"/>
          <p:cNvSpPr/>
          <p:nvPr/>
        </p:nvSpPr>
        <p:spPr>
          <a:xfrm>
            <a:off x="9656415" y="3934495"/>
            <a:ext cx="994246" cy="211931"/>
          </a:xfrm>
          <a:prstGeom prst="rect">
            <a:avLst/>
          </a:prstGeom>
          <a:noFill/>
          <a:ln/>
        </p:spPr>
        <p:txBody>
          <a:bodyPr wrap="square" lIns="25400" tIns="25400" rIns="25400" bIns="25400" rtlCol="0" anchor="t">
            <a:normAutofit/>
          </a:bodyPr>
          <a:lstStyle/>
          <a:p>
            <a:pPr algn="ctr" indent="0" marL="0">
              <a:buNone/>
            </a:pPr>
            <a:r>
              <a:rPr lang="en-US" sz="2751" dirty="0">
                <a:solidFill>
                  <a:srgbClr val="FFFFFF"/>
                </a:solidFill>
                <a:latin typeface="Cambria Math" pitchFamily="34" charset="0"/>
                <a:ea typeface="Cambria Math" pitchFamily="34" charset="-122"/>
                <a:cs typeface="Cambria Math" pitchFamily="34" charset="-120"/>
              </a:rPr>
              <a:t>marca</a:t>
            </a:r>
            <a:endParaRPr lang="en-US" sz="2751" dirty="0"/>
          </a:p>
        </p:txBody>
      </p:sp>
      <p:sp>
        <p:nvSpPr>
          <p:cNvPr id="23" name="Text 21"/>
          <p:cNvSpPr/>
          <p:nvPr/>
        </p:nvSpPr>
        <p:spPr>
          <a:xfrm>
            <a:off x="10844213" y="3853904"/>
            <a:ext cx="435546" cy="76200"/>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a:t>
            </a:r>
            <a:endParaRPr lang="en-US" sz="3930" dirty="0"/>
          </a:p>
        </p:txBody>
      </p:sp>
      <p:sp>
        <p:nvSpPr>
          <p:cNvPr id="24" name="Text 22"/>
          <p:cNvSpPr/>
          <p:nvPr/>
        </p:nvSpPr>
        <p:spPr>
          <a:xfrm>
            <a:off x="11453366" y="3760143"/>
            <a:ext cx="349225" cy="386358"/>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ρ</a:t>
            </a:r>
            <a:endParaRPr lang="en-US" sz="3930" dirty="0"/>
          </a:p>
        </p:txBody>
      </p:sp>
      <p:sp>
        <p:nvSpPr>
          <p:cNvPr id="25" name="Text 23"/>
          <p:cNvSpPr/>
          <p:nvPr/>
        </p:nvSpPr>
        <p:spPr>
          <a:xfrm>
            <a:off x="11948517" y="3758133"/>
            <a:ext cx="980033" cy="283518"/>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max</a:t>
            </a:r>
            <a:endParaRPr lang="en-US" sz="3930" dirty="0"/>
          </a:p>
        </p:txBody>
      </p:sp>
      <p:sp>
        <p:nvSpPr>
          <p:cNvPr id="26" name="Text 24"/>
          <p:cNvSpPr/>
          <p:nvPr/>
        </p:nvSpPr>
        <p:spPr>
          <a:xfrm>
            <a:off x="12991207" y="3575447"/>
            <a:ext cx="392088" cy="629915"/>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a:t>
            </a:r>
            <a:endParaRPr lang="en-US" sz="3930" dirty="0"/>
          </a:p>
        </p:txBody>
      </p:sp>
      <p:sp>
        <p:nvSpPr>
          <p:cNvPr id="27" name="Text 25"/>
          <p:cNvSpPr/>
          <p:nvPr/>
        </p:nvSpPr>
        <p:spPr>
          <a:xfrm>
            <a:off x="13307095" y="3679775"/>
            <a:ext cx="323255" cy="363885"/>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0</a:t>
            </a:r>
            <a:endParaRPr lang="en-US" sz="3930" dirty="0"/>
          </a:p>
        </p:txBody>
      </p:sp>
      <p:sp>
        <p:nvSpPr>
          <p:cNvPr id="28" name="Text 26"/>
          <p:cNvSpPr/>
          <p:nvPr/>
        </p:nvSpPr>
        <p:spPr>
          <a:xfrm>
            <a:off x="13554149" y="3939778"/>
            <a:ext cx="198537" cy="164306"/>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a:t>
            </a:r>
            <a:endParaRPr lang="en-US" sz="3930" dirty="0"/>
          </a:p>
        </p:txBody>
      </p:sp>
      <p:sp>
        <p:nvSpPr>
          <p:cNvPr id="29" name="Text 27"/>
          <p:cNvSpPr/>
          <p:nvPr/>
        </p:nvSpPr>
        <p:spPr>
          <a:xfrm>
            <a:off x="13898538" y="3672260"/>
            <a:ext cx="509885" cy="365968"/>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M</a:t>
            </a:r>
            <a:endParaRPr lang="en-US" sz="3930" dirty="0"/>
          </a:p>
        </p:txBody>
      </p:sp>
      <p:sp>
        <p:nvSpPr>
          <p:cNvPr id="30" name="Text 28"/>
          <p:cNvSpPr/>
          <p:nvPr/>
        </p:nvSpPr>
        <p:spPr>
          <a:xfrm>
            <a:off x="14332223" y="3858295"/>
            <a:ext cx="1074986" cy="288503"/>
          </a:xfrm>
          <a:prstGeom prst="rect">
            <a:avLst/>
          </a:prstGeom>
          <a:noFill/>
          <a:ln/>
        </p:spPr>
        <p:txBody>
          <a:bodyPr wrap="square" lIns="25400" tIns="25400" rIns="25400" bIns="25400" rtlCol="0" anchor="t">
            <a:normAutofit/>
          </a:bodyPr>
          <a:lstStyle/>
          <a:p>
            <a:pPr algn="ctr" indent="0" marL="0">
              <a:buNone/>
            </a:pPr>
            <a:r>
              <a:rPr lang="en-US" sz="2751" dirty="0">
                <a:solidFill>
                  <a:srgbClr val="FFFFFF"/>
                </a:solidFill>
                <a:latin typeface="Cambria Math" pitchFamily="34" charset="0"/>
                <a:ea typeface="Cambria Math" pitchFamily="34" charset="-122"/>
                <a:cs typeface="Cambria Math" pitchFamily="34" charset="-120"/>
              </a:rPr>
              <a:t>usadas</a:t>
            </a:r>
            <a:endParaRPr lang="en-US" sz="2751" dirty="0"/>
          </a:p>
        </p:txBody>
      </p:sp>
      <p:sp>
        <p:nvSpPr>
          <p:cNvPr id="31" name="Text 29"/>
          <p:cNvSpPr/>
          <p:nvPr/>
        </p:nvSpPr>
        <p:spPr>
          <a:xfrm>
            <a:off x="15462052" y="3853904"/>
            <a:ext cx="435546" cy="76200"/>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a:t>
            </a:r>
            <a:endParaRPr lang="en-US" sz="3930" dirty="0"/>
          </a:p>
        </p:txBody>
      </p:sp>
      <p:sp>
        <p:nvSpPr>
          <p:cNvPr id="32" name="Text 30"/>
          <p:cNvSpPr/>
          <p:nvPr/>
        </p:nvSpPr>
        <p:spPr>
          <a:xfrm>
            <a:off x="15932497" y="3672260"/>
            <a:ext cx="509885" cy="365968"/>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M</a:t>
            </a:r>
            <a:endParaRPr lang="en-US" sz="3930" dirty="0"/>
          </a:p>
        </p:txBody>
      </p:sp>
      <p:sp>
        <p:nvSpPr>
          <p:cNvPr id="33" name="Text 31"/>
          <p:cNvSpPr/>
          <p:nvPr/>
        </p:nvSpPr>
        <p:spPr>
          <a:xfrm>
            <a:off x="16366182" y="3575447"/>
            <a:ext cx="392088" cy="629915"/>
          </a:xfrm>
          <a:prstGeom prst="rect">
            <a:avLst/>
          </a:prstGeom>
          <a:noFill/>
          <a:ln/>
        </p:spPr>
        <p:txBody>
          <a:bodyPr wrap="square" lIns="25400" tIns="25400" rIns="25400" bIns="25400" rtlCol="0" anchor="t">
            <a:normAutofit/>
          </a:bodyPr>
          <a:lstStyle/>
          <a:p>
            <a:pPr algn="ctr" indent="0" marL="0">
              <a:buNone/>
            </a:pPr>
            <a:r>
              <a:rPr lang="en-US" sz="3930" dirty="0">
                <a:solidFill>
                  <a:srgbClr val="FFFFFF"/>
                </a:solidFill>
                <a:latin typeface="Cambria Math" pitchFamily="34" charset="0"/>
                <a:ea typeface="Cambria Math" pitchFamily="34" charset="-122"/>
                <a:cs typeface="Cambria Math" pitchFamily="34" charset="-120"/>
              </a:rPr>
              <a:t>)</a:t>
            </a:r>
            <a:endParaRPr lang="en-US" sz="3930" dirty="0"/>
          </a:p>
        </p:txBody>
      </p:sp>
      <p:sp>
        <p:nvSpPr>
          <p:cNvPr id="34" name="Shape 32"/>
          <p:cNvSpPr/>
          <p:nvPr/>
        </p:nvSpPr>
        <p:spPr>
          <a:xfrm>
            <a:off x="1047750" y="4544616"/>
            <a:ext cx="5257800" cy="2193280"/>
          </a:xfrm>
          <a:prstGeom prst="roundRect">
            <a:avLst>
              <a:gd name="adj" fmla="val 6080"/>
            </a:avLst>
          </a:prstGeom>
          <a:solidFill>
            <a:srgbClr val="FFFFFF"/>
          </a:solidFill>
          <a:ln w="9525">
            <a:solidFill>
              <a:srgbClr val="E7E5E1"/>
            </a:solidFill>
            <a:prstDash val="solid"/>
          </a:ln>
        </p:spPr>
      </p:sp>
      <p:sp>
        <p:nvSpPr>
          <p:cNvPr id="35" name="Text 33"/>
          <p:cNvSpPr/>
          <p:nvPr/>
        </p:nvSpPr>
        <p:spPr>
          <a:xfrm>
            <a:off x="1323975" y="4801791"/>
            <a:ext cx="4846511" cy="323850"/>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E4002B"/>
                </a:solidFill>
                <a:latin typeface="Barlow" pitchFamily="34" charset="0"/>
                <a:ea typeface="Barlow" pitchFamily="34" charset="-122"/>
                <a:cs typeface="Barlow" pitchFamily="34" charset="-120"/>
              </a:rPr>
              <a:t>Aprovechamiento · U</a:t>
            </a:r>
            <a:endParaRPr lang="en-US" sz="1875" dirty="0"/>
          </a:p>
        </p:txBody>
      </p:sp>
      <p:sp>
        <p:nvSpPr>
          <p:cNvPr id="36" name="Shape 34"/>
          <p:cNvSpPr/>
          <p:nvPr/>
        </p:nvSpPr>
        <p:spPr>
          <a:xfrm>
            <a:off x="2910483" y="5620941"/>
            <a:ext cx="484882" cy="14288"/>
          </a:xfrm>
          <a:prstGeom prst="rect">
            <a:avLst/>
          </a:prstGeom>
          <a:solidFill>
            <a:srgbClr val="18181B"/>
          </a:solidFill>
          <a:ln/>
        </p:spPr>
      </p:sp>
      <p:sp>
        <p:nvSpPr>
          <p:cNvPr id="37" name="Shape 35"/>
          <p:cNvSpPr/>
          <p:nvPr/>
        </p:nvSpPr>
        <p:spPr>
          <a:xfrm>
            <a:off x="3989487" y="5620941"/>
            <a:ext cx="1071935" cy="14288"/>
          </a:xfrm>
          <a:prstGeom prst="rect">
            <a:avLst/>
          </a:prstGeom>
          <a:solidFill>
            <a:srgbClr val="18181B"/>
          </a:solidFill>
          <a:ln/>
        </p:spPr>
      </p:sp>
      <p:sp>
        <p:nvSpPr>
          <p:cNvPr id="38" name="Shape 36"/>
          <p:cNvSpPr/>
          <p:nvPr/>
        </p:nvSpPr>
        <p:spPr>
          <a:xfrm>
            <a:off x="2799383" y="5688583"/>
            <a:ext cx="555203" cy="19050"/>
          </a:xfrm>
          <a:prstGeom prst="rect">
            <a:avLst/>
          </a:prstGeom>
          <a:solidFill>
            <a:srgbClr val="18181B"/>
          </a:solidFill>
          <a:ln/>
        </p:spPr>
      </p:sp>
      <p:sp>
        <p:nvSpPr>
          <p:cNvPr id="39" name="Shape 37"/>
          <p:cNvSpPr/>
          <p:nvPr/>
        </p:nvSpPr>
        <p:spPr>
          <a:xfrm>
            <a:off x="4034730" y="5688583"/>
            <a:ext cx="1227460" cy="19050"/>
          </a:xfrm>
          <a:prstGeom prst="rect">
            <a:avLst/>
          </a:prstGeom>
          <a:solidFill>
            <a:srgbClr val="18181B"/>
          </a:solidFill>
          <a:ln/>
        </p:spPr>
      </p:sp>
      <p:sp>
        <p:nvSpPr>
          <p:cNvPr id="40" name="Text 38"/>
          <p:cNvSpPr/>
          <p:nvPr/>
        </p:nvSpPr>
        <p:spPr>
          <a:xfrm>
            <a:off x="2136279" y="5623843"/>
            <a:ext cx="322659" cy="26357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U</a:t>
            </a:r>
            <a:endParaRPr lang="en-US" sz="2655" dirty="0"/>
          </a:p>
        </p:txBody>
      </p:sp>
      <p:sp>
        <p:nvSpPr>
          <p:cNvPr id="41" name="Text 39"/>
          <p:cNvSpPr/>
          <p:nvPr/>
        </p:nvSpPr>
        <p:spPr>
          <a:xfrm>
            <a:off x="2476649" y="5712172"/>
            <a:ext cx="319013" cy="129778"/>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42" name="Text 40"/>
          <p:cNvSpPr/>
          <p:nvPr/>
        </p:nvSpPr>
        <p:spPr>
          <a:xfrm>
            <a:off x="2951634" y="5414144"/>
            <a:ext cx="243111" cy="253529"/>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1</a:t>
            </a:r>
            <a:endParaRPr lang="en-US" sz="2655" dirty="0"/>
          </a:p>
        </p:txBody>
      </p:sp>
      <p:sp>
        <p:nvSpPr>
          <p:cNvPr id="43" name="Text 41"/>
          <p:cNvSpPr/>
          <p:nvPr/>
        </p:nvSpPr>
        <p:spPr>
          <a:xfrm>
            <a:off x="2813372" y="5896198"/>
            <a:ext cx="166241" cy="350193"/>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44" name="Text 42"/>
          <p:cNvSpPr/>
          <p:nvPr/>
        </p:nvSpPr>
        <p:spPr>
          <a:xfrm>
            <a:off x="2903413" y="5908700"/>
            <a:ext cx="256282" cy="268560"/>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S</a:t>
            </a:r>
            <a:endParaRPr lang="en-US" sz="2655" dirty="0"/>
          </a:p>
        </p:txBody>
      </p:sp>
      <p:sp>
        <p:nvSpPr>
          <p:cNvPr id="45" name="Text 43"/>
          <p:cNvSpPr/>
          <p:nvPr/>
        </p:nvSpPr>
        <p:spPr>
          <a:xfrm>
            <a:off x="3083496" y="5820370"/>
            <a:ext cx="146075" cy="109835"/>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a:t>
            </a:r>
            <a:endParaRPr lang="en-US" sz="1858" dirty="0"/>
          </a:p>
        </p:txBody>
      </p:sp>
      <p:sp>
        <p:nvSpPr>
          <p:cNvPr id="46" name="Text 44"/>
          <p:cNvSpPr/>
          <p:nvPr/>
        </p:nvSpPr>
        <p:spPr>
          <a:xfrm>
            <a:off x="3166839" y="5896198"/>
            <a:ext cx="166241" cy="350193"/>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47" name="Text 45"/>
          <p:cNvSpPr/>
          <p:nvPr/>
        </p:nvSpPr>
        <p:spPr>
          <a:xfrm>
            <a:off x="3404369" y="5535067"/>
            <a:ext cx="451024" cy="484733"/>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48" name="Text 46"/>
          <p:cNvSpPr/>
          <p:nvPr/>
        </p:nvSpPr>
        <p:spPr>
          <a:xfrm>
            <a:off x="3313212" y="6102251"/>
            <a:ext cx="140866" cy="196900"/>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i</a:t>
            </a:r>
            <a:endParaRPr lang="en-US" sz="1858" dirty="0"/>
          </a:p>
        </p:txBody>
      </p:sp>
      <p:sp>
        <p:nvSpPr>
          <p:cNvPr id="49" name="Text 47"/>
          <p:cNvSpPr/>
          <p:nvPr/>
        </p:nvSpPr>
        <p:spPr>
          <a:xfrm>
            <a:off x="3443957" y="6132984"/>
            <a:ext cx="246162" cy="172269"/>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a:t>
            </a:r>
            <a:endParaRPr lang="en-US" sz="1858" dirty="0"/>
          </a:p>
        </p:txBody>
      </p:sp>
      <p:sp>
        <p:nvSpPr>
          <p:cNvPr id="50" name="Text 48"/>
          <p:cNvSpPr/>
          <p:nvPr/>
        </p:nvSpPr>
        <p:spPr>
          <a:xfrm>
            <a:off x="3679999" y="6103218"/>
            <a:ext cx="202257" cy="199430"/>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S</a:t>
            </a:r>
            <a:endParaRPr lang="en-US" sz="1858" dirty="0"/>
          </a:p>
        </p:txBody>
      </p:sp>
      <p:sp>
        <p:nvSpPr>
          <p:cNvPr id="51" name="Text 49"/>
          <p:cNvSpPr/>
          <p:nvPr/>
        </p:nvSpPr>
        <p:spPr>
          <a:xfrm>
            <a:off x="3806056" y="6027167"/>
            <a:ext cx="131118" cy="94431"/>
          </a:xfrm>
          <a:prstGeom prst="rect">
            <a:avLst/>
          </a:prstGeom>
          <a:noFill/>
          <a:ln/>
        </p:spPr>
        <p:txBody>
          <a:bodyPr wrap="square" lIns="25400" tIns="25400" rIns="25400" bIns="25400" rtlCol="0" anchor="t">
            <a:normAutofit/>
          </a:bodyPr>
          <a:lstStyle/>
          <a:p>
            <a:pPr algn="ctr" indent="0" marL="0">
              <a:buNone/>
            </a:pPr>
            <a:r>
              <a:rPr lang="en-US" sz="1460" dirty="0">
                <a:solidFill>
                  <a:srgbClr val="18181B"/>
                </a:solidFill>
                <a:latin typeface="Cambria Math" pitchFamily="34" charset="0"/>
                <a:ea typeface="Cambria Math" pitchFamily="34" charset="-122"/>
                <a:cs typeface="Cambria Math" pitchFamily="34" charset="-120"/>
              </a:rPr>
              <a:t>′</a:t>
            </a:r>
            <a:endParaRPr lang="en-US" sz="1460" dirty="0"/>
          </a:p>
        </p:txBody>
      </p:sp>
      <p:sp>
        <p:nvSpPr>
          <p:cNvPr id="52" name="Text 50"/>
          <p:cNvSpPr/>
          <p:nvPr/>
        </p:nvSpPr>
        <p:spPr>
          <a:xfrm>
            <a:off x="3983013" y="5239941"/>
            <a:ext cx="391790" cy="385242"/>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53" name="Text 51"/>
          <p:cNvSpPr/>
          <p:nvPr/>
        </p:nvSpPr>
        <p:spPr>
          <a:xfrm>
            <a:off x="4298603" y="5482158"/>
            <a:ext cx="177924" cy="252338"/>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j</a:t>
            </a:r>
            <a:endParaRPr lang="en-US" sz="1858" dirty="0"/>
          </a:p>
        </p:txBody>
      </p:sp>
      <p:sp>
        <p:nvSpPr>
          <p:cNvPr id="54" name="Text 52"/>
          <p:cNvSpPr/>
          <p:nvPr/>
        </p:nvSpPr>
        <p:spPr>
          <a:xfrm>
            <a:off x="4470127" y="5340028"/>
            <a:ext cx="263351" cy="20389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a:t>
            </a:r>
            <a:endParaRPr lang="en-US" sz="2655" dirty="0"/>
          </a:p>
        </p:txBody>
      </p:sp>
      <p:sp>
        <p:nvSpPr>
          <p:cNvPr id="55" name="Text 53"/>
          <p:cNvSpPr/>
          <p:nvPr/>
        </p:nvSpPr>
        <p:spPr>
          <a:xfrm>
            <a:off x="4657279" y="5415483"/>
            <a:ext cx="177924" cy="252338"/>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j</a:t>
            </a:r>
            <a:endParaRPr lang="en-US" sz="1858" dirty="0"/>
          </a:p>
        </p:txBody>
      </p:sp>
      <p:sp>
        <p:nvSpPr>
          <p:cNvPr id="56" name="Text 54"/>
          <p:cNvSpPr/>
          <p:nvPr/>
        </p:nvSpPr>
        <p:spPr>
          <a:xfrm>
            <a:off x="4772471" y="5344120"/>
            <a:ext cx="264691" cy="19749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x</a:t>
            </a:r>
            <a:endParaRPr lang="en-US" sz="2655" dirty="0"/>
          </a:p>
        </p:txBody>
      </p:sp>
      <p:sp>
        <p:nvSpPr>
          <p:cNvPr id="57" name="Text 55"/>
          <p:cNvSpPr/>
          <p:nvPr/>
        </p:nvSpPr>
        <p:spPr>
          <a:xfrm>
            <a:off x="4960962" y="5415483"/>
            <a:ext cx="140866" cy="196900"/>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i</a:t>
            </a:r>
            <a:endParaRPr lang="en-US" sz="1858" dirty="0"/>
          </a:p>
        </p:txBody>
      </p:sp>
      <p:sp>
        <p:nvSpPr>
          <p:cNvPr id="58" name="Text 56"/>
          <p:cNvSpPr/>
          <p:nvPr/>
        </p:nvSpPr>
        <p:spPr>
          <a:xfrm>
            <a:off x="5025628" y="5415483"/>
            <a:ext cx="177924" cy="252338"/>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j</a:t>
            </a:r>
            <a:endParaRPr lang="en-US" sz="1858" dirty="0"/>
          </a:p>
        </p:txBody>
      </p:sp>
      <p:sp>
        <p:nvSpPr>
          <p:cNvPr id="59" name="Text 57"/>
          <p:cNvSpPr/>
          <p:nvPr/>
        </p:nvSpPr>
        <p:spPr>
          <a:xfrm>
            <a:off x="4379788" y="5839569"/>
            <a:ext cx="384051" cy="26156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W</a:t>
            </a:r>
            <a:endParaRPr lang="en-US" sz="2655" dirty="0"/>
          </a:p>
        </p:txBody>
      </p:sp>
      <p:sp>
        <p:nvSpPr>
          <p:cNvPr id="60" name="Text 58"/>
          <p:cNvSpPr/>
          <p:nvPr/>
        </p:nvSpPr>
        <p:spPr>
          <a:xfrm>
            <a:off x="1323975" y="6183585"/>
            <a:ext cx="4846511" cy="335235"/>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71717A"/>
                </a:solidFill>
                <a:latin typeface="Barlow" pitchFamily="34" charset="0"/>
                <a:ea typeface="Barlow" pitchFamily="34" charset="-122"/>
                <a:cs typeface="Barlow" pitchFamily="34" charset="-120"/>
              </a:rPr>
              <a:t>Charolas llenas hasta el ancho W.</a:t>
            </a:r>
            <a:endParaRPr lang="en-US" sz="1800" dirty="0"/>
          </a:p>
        </p:txBody>
      </p:sp>
      <p:sp>
        <p:nvSpPr>
          <p:cNvPr id="61" name="Shape 59"/>
          <p:cNvSpPr/>
          <p:nvPr/>
        </p:nvSpPr>
        <p:spPr>
          <a:xfrm>
            <a:off x="6515100" y="4544616"/>
            <a:ext cx="5257800" cy="2193280"/>
          </a:xfrm>
          <a:prstGeom prst="roundRect">
            <a:avLst>
              <a:gd name="adj" fmla="val 6080"/>
            </a:avLst>
          </a:prstGeom>
          <a:solidFill>
            <a:srgbClr val="FFFFFF"/>
          </a:solidFill>
          <a:ln w="9525">
            <a:solidFill>
              <a:srgbClr val="E7E5E1"/>
            </a:solidFill>
            <a:prstDash val="solid"/>
          </a:ln>
        </p:spPr>
      </p:sp>
      <p:sp>
        <p:nvSpPr>
          <p:cNvPr id="62" name="Text 60"/>
          <p:cNvSpPr/>
          <p:nvPr/>
        </p:nvSpPr>
        <p:spPr>
          <a:xfrm>
            <a:off x="6791325" y="4801791"/>
            <a:ext cx="4846511" cy="366713"/>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E4002B"/>
                </a:solidFill>
                <a:latin typeface="Barlow" pitchFamily="34" charset="0"/>
                <a:ea typeface="Barlow" pitchFamily="34" charset="-122"/>
                <a:cs typeface="Barlow" pitchFamily="34" charset="-120"/>
              </a:rPr>
              <a:t>Incoherencia · C</a:t>
            </a:r>
            <a:pPr algn="l" indent="0" marL="0">
              <a:lnSpc>
                <a:spcPct val="120000"/>
              </a:lnSpc>
              <a:buNone/>
            </a:pPr>
            <a:r>
              <a:rPr lang="en-US" sz="1562" b="1" baseline="-40000" dirty="0">
                <a:solidFill>
                  <a:srgbClr val="E4002B"/>
                </a:solidFill>
                <a:latin typeface="Barlow" pitchFamily="34" charset="0"/>
                <a:ea typeface="Barlow" pitchFamily="34" charset="-122"/>
                <a:cs typeface="Barlow" pitchFamily="34" charset="-120"/>
              </a:rPr>
              <a:t>tam</a:t>
            </a:r>
            <a:endParaRPr lang="en-US" sz="1875" dirty="0"/>
          </a:p>
        </p:txBody>
      </p:sp>
      <p:sp>
        <p:nvSpPr>
          <p:cNvPr id="63" name="Shape 61"/>
          <p:cNvSpPr/>
          <p:nvPr/>
        </p:nvSpPr>
        <p:spPr>
          <a:xfrm>
            <a:off x="8600852" y="5576664"/>
            <a:ext cx="484882" cy="14288"/>
          </a:xfrm>
          <a:prstGeom prst="rect">
            <a:avLst/>
          </a:prstGeom>
          <a:solidFill>
            <a:srgbClr val="18181B"/>
          </a:solidFill>
          <a:ln/>
        </p:spPr>
      </p:sp>
      <p:sp>
        <p:nvSpPr>
          <p:cNvPr id="64" name="Shape 62"/>
          <p:cNvSpPr/>
          <p:nvPr/>
        </p:nvSpPr>
        <p:spPr>
          <a:xfrm>
            <a:off x="8522122" y="5631582"/>
            <a:ext cx="555203" cy="19050"/>
          </a:xfrm>
          <a:prstGeom prst="rect">
            <a:avLst/>
          </a:prstGeom>
          <a:solidFill>
            <a:srgbClr val="18181B"/>
          </a:solidFill>
          <a:ln/>
        </p:spPr>
      </p:sp>
      <p:sp>
        <p:nvSpPr>
          <p:cNvPr id="65" name="Text 63"/>
          <p:cNvSpPr/>
          <p:nvPr/>
        </p:nvSpPr>
        <p:spPr>
          <a:xfrm>
            <a:off x="7366769" y="5488484"/>
            <a:ext cx="297433" cy="267221"/>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C</a:t>
            </a:r>
            <a:endParaRPr lang="en-US" sz="2655" dirty="0"/>
          </a:p>
        </p:txBody>
      </p:sp>
      <p:sp>
        <p:nvSpPr>
          <p:cNvPr id="66" name="Text 64"/>
          <p:cNvSpPr/>
          <p:nvPr/>
        </p:nvSpPr>
        <p:spPr>
          <a:xfrm>
            <a:off x="7588002" y="5640809"/>
            <a:ext cx="464865" cy="184324"/>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tam</a:t>
            </a:r>
            <a:endParaRPr lang="en-US" sz="1858" dirty="0"/>
          </a:p>
        </p:txBody>
      </p:sp>
      <p:sp>
        <p:nvSpPr>
          <p:cNvPr id="67" name="Text 65"/>
          <p:cNvSpPr/>
          <p:nvPr/>
        </p:nvSpPr>
        <p:spPr>
          <a:xfrm>
            <a:off x="8084046" y="5580831"/>
            <a:ext cx="319013" cy="129778"/>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68" name="Text 66"/>
          <p:cNvSpPr/>
          <p:nvPr/>
        </p:nvSpPr>
        <p:spPr>
          <a:xfrm>
            <a:off x="8559031" y="5282803"/>
            <a:ext cx="243111" cy="253529"/>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1</a:t>
            </a:r>
            <a:endParaRPr lang="en-US" sz="2655" dirty="0"/>
          </a:p>
        </p:txBody>
      </p:sp>
      <p:sp>
        <p:nvSpPr>
          <p:cNvPr id="69" name="Text 67"/>
          <p:cNvSpPr/>
          <p:nvPr/>
        </p:nvSpPr>
        <p:spPr>
          <a:xfrm>
            <a:off x="8420770" y="5764857"/>
            <a:ext cx="166241" cy="350193"/>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70" name="Text 68"/>
          <p:cNvSpPr/>
          <p:nvPr/>
        </p:nvSpPr>
        <p:spPr>
          <a:xfrm>
            <a:off x="8510811" y="5777359"/>
            <a:ext cx="256282" cy="268560"/>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S</a:t>
            </a:r>
            <a:endParaRPr lang="en-US" sz="2655" dirty="0"/>
          </a:p>
        </p:txBody>
      </p:sp>
      <p:sp>
        <p:nvSpPr>
          <p:cNvPr id="71" name="Text 69"/>
          <p:cNvSpPr/>
          <p:nvPr/>
        </p:nvSpPr>
        <p:spPr>
          <a:xfrm>
            <a:off x="8690893" y="5689029"/>
            <a:ext cx="146075" cy="109835"/>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a:t>
            </a:r>
            <a:endParaRPr lang="en-US" sz="1858" dirty="0"/>
          </a:p>
        </p:txBody>
      </p:sp>
      <p:sp>
        <p:nvSpPr>
          <p:cNvPr id="72" name="Text 70"/>
          <p:cNvSpPr/>
          <p:nvPr/>
        </p:nvSpPr>
        <p:spPr>
          <a:xfrm>
            <a:off x="8774237" y="5764857"/>
            <a:ext cx="166241" cy="350193"/>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73" name="Text 71"/>
          <p:cNvSpPr/>
          <p:nvPr/>
        </p:nvSpPr>
        <p:spPr>
          <a:xfrm>
            <a:off x="9011766" y="5403726"/>
            <a:ext cx="451024" cy="484733"/>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74" name="Text 72"/>
          <p:cNvSpPr/>
          <p:nvPr/>
        </p:nvSpPr>
        <p:spPr>
          <a:xfrm>
            <a:off x="8920609" y="5970910"/>
            <a:ext cx="140866" cy="196900"/>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i</a:t>
            </a:r>
            <a:endParaRPr lang="en-US" sz="1858" dirty="0"/>
          </a:p>
        </p:txBody>
      </p:sp>
      <p:sp>
        <p:nvSpPr>
          <p:cNvPr id="75" name="Text 73"/>
          <p:cNvSpPr/>
          <p:nvPr/>
        </p:nvSpPr>
        <p:spPr>
          <a:xfrm>
            <a:off x="9051354" y="6001643"/>
            <a:ext cx="246162" cy="172269"/>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a:t>
            </a:r>
            <a:endParaRPr lang="en-US" sz="1858" dirty="0"/>
          </a:p>
        </p:txBody>
      </p:sp>
      <p:sp>
        <p:nvSpPr>
          <p:cNvPr id="76" name="Text 74"/>
          <p:cNvSpPr/>
          <p:nvPr/>
        </p:nvSpPr>
        <p:spPr>
          <a:xfrm>
            <a:off x="9287396" y="5971877"/>
            <a:ext cx="202257" cy="199430"/>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S</a:t>
            </a:r>
            <a:endParaRPr lang="en-US" sz="1858" dirty="0"/>
          </a:p>
        </p:txBody>
      </p:sp>
      <p:sp>
        <p:nvSpPr>
          <p:cNvPr id="77" name="Text 75"/>
          <p:cNvSpPr/>
          <p:nvPr/>
        </p:nvSpPr>
        <p:spPr>
          <a:xfrm>
            <a:off x="9413453" y="5895826"/>
            <a:ext cx="131118" cy="94431"/>
          </a:xfrm>
          <a:prstGeom prst="rect">
            <a:avLst/>
          </a:prstGeom>
          <a:noFill/>
          <a:ln/>
        </p:spPr>
        <p:txBody>
          <a:bodyPr wrap="square" lIns="25400" tIns="25400" rIns="25400" bIns="25400" rtlCol="0" anchor="t">
            <a:normAutofit/>
          </a:bodyPr>
          <a:lstStyle/>
          <a:p>
            <a:pPr algn="ctr" indent="0" marL="0">
              <a:buNone/>
            </a:pPr>
            <a:r>
              <a:rPr lang="en-US" sz="1460" dirty="0">
                <a:solidFill>
                  <a:srgbClr val="18181B"/>
                </a:solidFill>
                <a:latin typeface="Cambria Math" pitchFamily="34" charset="0"/>
                <a:ea typeface="Cambria Math" pitchFamily="34" charset="-122"/>
                <a:cs typeface="Cambria Math" pitchFamily="34" charset="-120"/>
              </a:rPr>
              <a:t>′</a:t>
            </a:r>
            <a:endParaRPr lang="en-US" sz="1460" dirty="0"/>
          </a:p>
        </p:txBody>
      </p:sp>
      <p:sp>
        <p:nvSpPr>
          <p:cNvPr id="78" name="Text 76"/>
          <p:cNvSpPr/>
          <p:nvPr/>
        </p:nvSpPr>
        <p:spPr>
          <a:xfrm>
            <a:off x="9534079" y="5492502"/>
            <a:ext cx="575221" cy="261863"/>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Var</a:t>
            </a:r>
            <a:endParaRPr lang="en-US" sz="2655" dirty="0"/>
          </a:p>
        </p:txBody>
      </p:sp>
      <p:sp>
        <p:nvSpPr>
          <p:cNvPr id="79" name="Text 77"/>
          <p:cNvSpPr/>
          <p:nvPr/>
        </p:nvSpPr>
        <p:spPr>
          <a:xfrm>
            <a:off x="10033099" y="5625926"/>
            <a:ext cx="140866" cy="196900"/>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i</a:t>
            </a:r>
            <a:endParaRPr lang="en-US" sz="1858" dirty="0"/>
          </a:p>
        </p:txBody>
      </p:sp>
      <p:sp>
        <p:nvSpPr>
          <p:cNvPr id="80" name="Text 78"/>
          <p:cNvSpPr/>
          <p:nvPr/>
        </p:nvSpPr>
        <p:spPr>
          <a:xfrm>
            <a:off x="10111234" y="5386685"/>
            <a:ext cx="289545" cy="51881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81" name="Text 79"/>
          <p:cNvSpPr/>
          <p:nvPr/>
        </p:nvSpPr>
        <p:spPr>
          <a:xfrm>
            <a:off x="10324579" y="5475982"/>
            <a:ext cx="268039" cy="276076"/>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h</a:t>
            </a:r>
            <a:endParaRPr lang="en-US" sz="2655" dirty="0"/>
          </a:p>
        </p:txBody>
      </p:sp>
      <p:sp>
        <p:nvSpPr>
          <p:cNvPr id="82" name="Text 80"/>
          <p:cNvSpPr/>
          <p:nvPr/>
        </p:nvSpPr>
        <p:spPr>
          <a:xfrm>
            <a:off x="10516419" y="5625926"/>
            <a:ext cx="177924" cy="252338"/>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j</a:t>
            </a:r>
            <a:endParaRPr lang="en-US" sz="1858" dirty="0"/>
          </a:p>
        </p:txBody>
      </p:sp>
      <p:sp>
        <p:nvSpPr>
          <p:cNvPr id="83" name="Text 81"/>
          <p:cNvSpPr/>
          <p:nvPr/>
        </p:nvSpPr>
        <p:spPr>
          <a:xfrm>
            <a:off x="10631612" y="5386685"/>
            <a:ext cx="289545" cy="51881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84" name="Text 82"/>
          <p:cNvSpPr/>
          <p:nvPr/>
        </p:nvSpPr>
        <p:spPr>
          <a:xfrm>
            <a:off x="6791325" y="6139309"/>
            <a:ext cx="4846511" cy="335235"/>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71717A"/>
                </a:solidFill>
                <a:latin typeface="Barlow" pitchFamily="34" charset="0"/>
                <a:ea typeface="Barlow" pitchFamily="34" charset="-122"/>
                <a:cs typeface="Barlow" pitchFamily="34" charset="-120"/>
              </a:rPr>
              <a:t>Alturas similares por charola.</a:t>
            </a:r>
            <a:endParaRPr lang="en-US" sz="1800" dirty="0"/>
          </a:p>
        </p:txBody>
      </p:sp>
      <p:sp>
        <p:nvSpPr>
          <p:cNvPr id="85" name="Shape 83"/>
          <p:cNvSpPr/>
          <p:nvPr/>
        </p:nvSpPr>
        <p:spPr>
          <a:xfrm>
            <a:off x="11982450" y="4544616"/>
            <a:ext cx="5257800" cy="2193280"/>
          </a:xfrm>
          <a:prstGeom prst="roundRect">
            <a:avLst>
              <a:gd name="adj" fmla="val 6080"/>
            </a:avLst>
          </a:prstGeom>
          <a:solidFill>
            <a:srgbClr val="FFFFFF"/>
          </a:solidFill>
          <a:ln w="9525">
            <a:solidFill>
              <a:srgbClr val="E7E5E1"/>
            </a:solidFill>
            <a:prstDash val="solid"/>
          </a:ln>
        </p:spPr>
      </p:sp>
      <p:sp>
        <p:nvSpPr>
          <p:cNvPr id="86" name="Text 84"/>
          <p:cNvSpPr/>
          <p:nvPr/>
        </p:nvSpPr>
        <p:spPr>
          <a:xfrm>
            <a:off x="12258675" y="4801791"/>
            <a:ext cx="4846511" cy="366713"/>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E4002B"/>
                </a:solidFill>
                <a:latin typeface="Barlow" pitchFamily="34" charset="0"/>
                <a:ea typeface="Barlow" pitchFamily="34" charset="-122"/>
                <a:cs typeface="Barlow" pitchFamily="34" charset="-120"/>
              </a:rPr>
              <a:t>Marca · B</a:t>
            </a:r>
            <a:pPr algn="l" indent="0" marL="0">
              <a:lnSpc>
                <a:spcPct val="120000"/>
              </a:lnSpc>
              <a:buNone/>
            </a:pPr>
            <a:r>
              <a:rPr lang="en-US" sz="1562" b="1" baseline="-40000" dirty="0">
                <a:solidFill>
                  <a:srgbClr val="E4002B"/>
                </a:solidFill>
                <a:latin typeface="Barlow" pitchFamily="34" charset="0"/>
                <a:ea typeface="Barlow" pitchFamily="34" charset="-122"/>
                <a:cs typeface="Barlow" pitchFamily="34" charset="-120"/>
              </a:rPr>
              <a:t>marca</a:t>
            </a:r>
            <a:endParaRPr lang="en-US" sz="1875" dirty="0"/>
          </a:p>
        </p:txBody>
      </p:sp>
      <p:sp>
        <p:nvSpPr>
          <p:cNvPr id="87" name="Shape 85"/>
          <p:cNvSpPr/>
          <p:nvPr/>
        </p:nvSpPr>
        <p:spPr>
          <a:xfrm>
            <a:off x="13673510" y="5584924"/>
            <a:ext cx="3047256" cy="14288"/>
          </a:xfrm>
          <a:prstGeom prst="rect">
            <a:avLst/>
          </a:prstGeom>
          <a:solidFill>
            <a:srgbClr val="18181B"/>
          </a:solidFill>
          <a:ln/>
        </p:spPr>
      </p:sp>
      <p:sp>
        <p:nvSpPr>
          <p:cNvPr id="88" name="Shape 86"/>
          <p:cNvSpPr/>
          <p:nvPr/>
        </p:nvSpPr>
        <p:spPr>
          <a:xfrm>
            <a:off x="13640619" y="5641032"/>
            <a:ext cx="3489275" cy="19050"/>
          </a:xfrm>
          <a:prstGeom prst="rect">
            <a:avLst/>
          </a:prstGeom>
          <a:solidFill>
            <a:srgbClr val="18181B"/>
          </a:solidFill>
          <a:ln/>
        </p:spPr>
      </p:sp>
      <p:sp>
        <p:nvSpPr>
          <p:cNvPr id="89" name="Text 87"/>
          <p:cNvSpPr/>
          <p:nvPr/>
        </p:nvSpPr>
        <p:spPr>
          <a:xfrm>
            <a:off x="12257633" y="5503962"/>
            <a:ext cx="276151" cy="259556"/>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B</a:t>
            </a:r>
            <a:endParaRPr lang="en-US" sz="2655" dirty="0"/>
          </a:p>
        </p:txBody>
      </p:sp>
      <p:sp>
        <p:nvSpPr>
          <p:cNvPr id="90" name="Text 88"/>
          <p:cNvSpPr/>
          <p:nvPr/>
        </p:nvSpPr>
        <p:spPr>
          <a:xfrm>
            <a:off x="12457584" y="5681067"/>
            <a:ext cx="696367" cy="155525"/>
          </a:xfrm>
          <a:prstGeom prst="rect">
            <a:avLst/>
          </a:prstGeom>
          <a:noFill/>
          <a:ln/>
        </p:spPr>
        <p:txBody>
          <a:bodyPr wrap="square" lIns="25400" tIns="25400" rIns="25400" bIns="25400" rtlCol="0" anchor="t">
            <a:normAutofit/>
          </a:bodyPr>
          <a:lstStyle/>
          <a:p>
            <a:pPr algn="ctr" indent="0" marL="0">
              <a:buNone/>
            </a:pPr>
            <a:r>
              <a:rPr lang="en-US" sz="1858" dirty="0">
                <a:solidFill>
                  <a:srgbClr val="18181B"/>
                </a:solidFill>
                <a:latin typeface="Cambria Math" pitchFamily="34" charset="0"/>
                <a:ea typeface="Cambria Math" pitchFamily="34" charset="-122"/>
                <a:cs typeface="Cambria Math" pitchFamily="34" charset="-120"/>
              </a:rPr>
              <a:t>marca</a:t>
            </a:r>
            <a:endParaRPr lang="en-US" sz="1858" dirty="0"/>
          </a:p>
        </p:txBody>
      </p:sp>
      <p:sp>
        <p:nvSpPr>
          <p:cNvPr id="91" name="Text 89"/>
          <p:cNvSpPr/>
          <p:nvPr/>
        </p:nvSpPr>
        <p:spPr>
          <a:xfrm>
            <a:off x="13185130" y="5592291"/>
            <a:ext cx="319013" cy="129778"/>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92" name="Text 90"/>
          <p:cNvSpPr/>
          <p:nvPr/>
        </p:nvSpPr>
        <p:spPr>
          <a:xfrm>
            <a:off x="13521854" y="5288235"/>
            <a:ext cx="312911" cy="26729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93" name="Text 91"/>
          <p:cNvSpPr/>
          <p:nvPr/>
        </p:nvSpPr>
        <p:spPr>
          <a:xfrm>
            <a:off x="13806811" y="5282803"/>
            <a:ext cx="3166266" cy="26863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vecinos misma marca</a:t>
            </a:r>
            <a:endParaRPr lang="en-US" sz="2655" dirty="0"/>
          </a:p>
        </p:txBody>
      </p:sp>
      <p:sp>
        <p:nvSpPr>
          <p:cNvPr id="94" name="Text 92"/>
          <p:cNvSpPr/>
          <p:nvPr/>
        </p:nvSpPr>
        <p:spPr>
          <a:xfrm>
            <a:off x="13796293" y="5719688"/>
            <a:ext cx="312911" cy="26729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a:t>
            </a:r>
            <a:endParaRPr lang="en-US" sz="2655" dirty="0"/>
          </a:p>
        </p:txBody>
      </p:sp>
      <p:sp>
        <p:nvSpPr>
          <p:cNvPr id="95" name="Text 93"/>
          <p:cNvSpPr/>
          <p:nvPr/>
        </p:nvSpPr>
        <p:spPr>
          <a:xfrm>
            <a:off x="14089261" y="5714256"/>
            <a:ext cx="2601367" cy="344165"/>
          </a:xfrm>
          <a:prstGeom prst="rect">
            <a:avLst/>
          </a:prstGeom>
          <a:noFill/>
          <a:ln/>
        </p:spPr>
        <p:txBody>
          <a:bodyPr wrap="square" lIns="25400" tIns="25400" rIns="25400" bIns="25400" rtlCol="0" anchor="t">
            <a:normAutofit/>
          </a:bodyPr>
          <a:lstStyle/>
          <a:p>
            <a:pPr algn="ctr" indent="0" marL="0">
              <a:buNone/>
            </a:pPr>
            <a:r>
              <a:rPr lang="en-US" sz="2655" dirty="0">
                <a:solidFill>
                  <a:srgbClr val="18181B"/>
                </a:solidFill>
                <a:latin typeface="Cambria Math" pitchFamily="34" charset="0"/>
                <a:ea typeface="Cambria Math" pitchFamily="34" charset="-122"/>
                <a:cs typeface="Cambria Math" pitchFamily="34" charset="-120"/>
              </a:rPr>
              <a:t>vecinos contiguos</a:t>
            </a:r>
            <a:endParaRPr lang="en-US" sz="2655" dirty="0"/>
          </a:p>
        </p:txBody>
      </p:sp>
      <p:sp>
        <p:nvSpPr>
          <p:cNvPr id="96" name="Text 94"/>
          <p:cNvSpPr/>
          <p:nvPr/>
        </p:nvSpPr>
        <p:spPr>
          <a:xfrm>
            <a:off x="12258675" y="6044208"/>
            <a:ext cx="4846511" cy="335235"/>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71717A"/>
                </a:solidFill>
                <a:latin typeface="Barlow" pitchFamily="34" charset="0"/>
                <a:ea typeface="Barlow" pitchFamily="34" charset="-122"/>
                <a:cs typeface="Barlow" pitchFamily="34" charset="-120"/>
              </a:rPr>
              <a:t>Bloques de marca contiguos.</a:t>
            </a:r>
            <a:endParaRPr lang="en-US" sz="1800" dirty="0"/>
          </a:p>
        </p:txBody>
      </p:sp>
      <p:sp>
        <p:nvSpPr>
          <p:cNvPr id="97" name="Shape 95"/>
          <p:cNvSpPr/>
          <p:nvPr/>
        </p:nvSpPr>
        <p:spPr>
          <a:xfrm>
            <a:off x="1047750" y="6966496"/>
            <a:ext cx="16192500" cy="1133698"/>
          </a:xfrm>
          <a:prstGeom prst="roundRect">
            <a:avLst>
              <a:gd name="adj" fmla="val 11762"/>
            </a:avLst>
          </a:prstGeom>
          <a:solidFill>
            <a:srgbClr val="FCFBFA"/>
          </a:solidFill>
          <a:ln w="9525">
            <a:solidFill>
              <a:srgbClr val="E7E5E1"/>
            </a:solidFill>
            <a:prstDash val="solid"/>
          </a:ln>
        </p:spPr>
      </p:sp>
      <p:sp>
        <p:nvSpPr>
          <p:cNvPr id="98" name="Text 96"/>
          <p:cNvSpPr/>
          <p:nvPr/>
        </p:nvSpPr>
        <p:spPr>
          <a:xfrm>
            <a:off x="1362075" y="7262813"/>
            <a:ext cx="2307134" cy="289545"/>
          </a:xfrm>
          <a:prstGeom prst="rect">
            <a:avLst/>
          </a:prstGeom>
          <a:noFill/>
          <a:ln/>
        </p:spPr>
        <p:txBody>
          <a:bodyPr wrap="square" lIns="25400" tIns="25400" rIns="25400" bIns="25400" rtlCol="0" anchor="t">
            <a:normAutofit/>
          </a:bodyPr>
          <a:lstStyle/>
          <a:p>
            <a:pPr algn="l" indent="0" marL="0">
              <a:lnSpc>
                <a:spcPct val="110000"/>
              </a:lnSpc>
              <a:buNone/>
            </a:pPr>
            <a:r>
              <a:rPr lang="en-US" sz="1800" b="1" spc="113" kern="0" dirty="0">
                <a:solidFill>
                  <a:srgbClr val="E4002B"/>
                </a:solidFill>
                <a:latin typeface="Barlow" pitchFamily="34" charset="0"/>
                <a:ea typeface="Barlow" pitchFamily="34" charset="-122"/>
                <a:cs typeface="Barlow" pitchFamily="34" charset="-120"/>
              </a:rPr>
              <a:t>RESTRICCIÓN DURA</a:t>
            </a:r>
            <a:endParaRPr lang="en-US" sz="1800" dirty="0"/>
          </a:p>
        </p:txBody>
      </p:sp>
      <p:sp>
        <p:nvSpPr>
          <p:cNvPr id="99" name="Text 97"/>
          <p:cNvSpPr/>
          <p:nvPr/>
        </p:nvSpPr>
        <p:spPr>
          <a:xfrm>
            <a:off x="1362075" y="7552358"/>
            <a:ext cx="2307134"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dirty="0">
                <a:solidFill>
                  <a:srgbClr val="71717A"/>
                </a:solidFill>
                <a:latin typeface="Barlow" pitchFamily="34" charset="0"/>
                <a:ea typeface="Barlow" pitchFamily="34" charset="-122"/>
                <a:cs typeface="Barlow" pitchFamily="34" charset="-120"/>
              </a:rPr>
              <a:t>capacidad de charola</a:t>
            </a:r>
            <a:endParaRPr lang="en-US" sz="1650" dirty="0"/>
          </a:p>
        </p:txBody>
      </p:sp>
      <p:sp>
        <p:nvSpPr>
          <p:cNvPr id="100" name="Text 98"/>
          <p:cNvSpPr/>
          <p:nvPr/>
        </p:nvSpPr>
        <p:spPr>
          <a:xfrm>
            <a:off x="7390209" y="7204621"/>
            <a:ext cx="464641" cy="500881"/>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t>
            </a:r>
            <a:endParaRPr lang="en-US" sz="2751" dirty="0"/>
          </a:p>
        </p:txBody>
      </p:sp>
      <p:sp>
        <p:nvSpPr>
          <p:cNvPr id="101" name="Text 99"/>
          <p:cNvSpPr/>
          <p:nvPr/>
        </p:nvSpPr>
        <p:spPr>
          <a:xfrm>
            <a:off x="7531671" y="7736904"/>
            <a:ext cx="181645" cy="260077"/>
          </a:xfrm>
          <a:prstGeom prst="rect">
            <a:avLst/>
          </a:prstGeom>
          <a:noFill/>
          <a:ln/>
        </p:spPr>
        <p:txBody>
          <a:bodyPr wrap="square" lIns="25400" tIns="25400" rIns="25400" bIns="25400" rtlCol="0" anchor="t">
            <a:normAutofit/>
          </a:bodyPr>
          <a:lstStyle/>
          <a:p>
            <a:pPr algn="ctr" indent="0" marL="0">
              <a:buNone/>
            </a:pPr>
            <a:r>
              <a:rPr lang="en-US" sz="1926" dirty="0">
                <a:solidFill>
                  <a:srgbClr val="18181B"/>
                </a:solidFill>
                <a:latin typeface="Cambria Math" pitchFamily="34" charset="0"/>
                <a:ea typeface="Cambria Math" pitchFamily="34" charset="-122"/>
                <a:cs typeface="Cambria Math" pitchFamily="34" charset="-120"/>
              </a:rPr>
              <a:t>j</a:t>
            </a:r>
            <a:endParaRPr lang="en-US" sz="1926" dirty="0"/>
          </a:p>
        </p:txBody>
      </p:sp>
      <p:sp>
        <p:nvSpPr>
          <p:cNvPr id="102" name="Text 100"/>
          <p:cNvSpPr/>
          <p:nvPr/>
        </p:nvSpPr>
        <p:spPr>
          <a:xfrm>
            <a:off x="7836545" y="7356723"/>
            <a:ext cx="270123" cy="209848"/>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a:t>
            </a:r>
            <a:endParaRPr lang="en-US" sz="2751" dirty="0"/>
          </a:p>
        </p:txBody>
      </p:sp>
      <p:sp>
        <p:nvSpPr>
          <p:cNvPr id="103" name="Text 101"/>
          <p:cNvSpPr/>
          <p:nvPr/>
        </p:nvSpPr>
        <p:spPr>
          <a:xfrm>
            <a:off x="8030468" y="7434858"/>
            <a:ext cx="181645" cy="260077"/>
          </a:xfrm>
          <a:prstGeom prst="rect">
            <a:avLst/>
          </a:prstGeom>
          <a:noFill/>
          <a:ln/>
        </p:spPr>
        <p:txBody>
          <a:bodyPr wrap="square" lIns="25400" tIns="25400" rIns="25400" bIns="25400" rtlCol="0" anchor="t">
            <a:normAutofit/>
          </a:bodyPr>
          <a:lstStyle/>
          <a:p>
            <a:pPr algn="ctr" indent="0" marL="0">
              <a:buNone/>
            </a:pPr>
            <a:r>
              <a:rPr lang="en-US" sz="1926" dirty="0">
                <a:solidFill>
                  <a:srgbClr val="18181B"/>
                </a:solidFill>
                <a:latin typeface="Cambria Math" pitchFamily="34" charset="0"/>
                <a:ea typeface="Cambria Math" pitchFamily="34" charset="-122"/>
                <a:cs typeface="Cambria Math" pitchFamily="34" charset="-120"/>
              </a:rPr>
              <a:t>j</a:t>
            </a:r>
            <a:endParaRPr lang="en-US" sz="1926" dirty="0"/>
          </a:p>
        </p:txBody>
      </p:sp>
      <p:sp>
        <p:nvSpPr>
          <p:cNvPr id="104" name="Text 102"/>
          <p:cNvSpPr/>
          <p:nvPr/>
        </p:nvSpPr>
        <p:spPr>
          <a:xfrm>
            <a:off x="8208094" y="7360890"/>
            <a:ext cx="271537" cy="203299"/>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x</a:t>
            </a:r>
            <a:endParaRPr lang="en-US" sz="2751" dirty="0"/>
          </a:p>
        </p:txBody>
      </p:sp>
      <p:sp>
        <p:nvSpPr>
          <p:cNvPr id="105" name="Text 103"/>
          <p:cNvSpPr/>
          <p:nvPr/>
        </p:nvSpPr>
        <p:spPr>
          <a:xfrm>
            <a:off x="8403431" y="7434858"/>
            <a:ext cx="143247" cy="202629"/>
          </a:xfrm>
          <a:prstGeom prst="rect">
            <a:avLst/>
          </a:prstGeom>
          <a:noFill/>
          <a:ln/>
        </p:spPr>
        <p:txBody>
          <a:bodyPr wrap="square" lIns="25400" tIns="25400" rIns="25400" bIns="25400" rtlCol="0" anchor="t">
            <a:normAutofit/>
          </a:bodyPr>
          <a:lstStyle/>
          <a:p>
            <a:pPr algn="ctr" indent="0" marL="0">
              <a:buNone/>
            </a:pPr>
            <a:r>
              <a:rPr lang="en-US" sz="1926" dirty="0">
                <a:solidFill>
                  <a:srgbClr val="18181B"/>
                </a:solidFill>
                <a:latin typeface="Cambria Math" pitchFamily="34" charset="0"/>
                <a:ea typeface="Cambria Math" pitchFamily="34" charset="-122"/>
                <a:cs typeface="Cambria Math" pitchFamily="34" charset="-120"/>
              </a:rPr>
              <a:t>i</a:t>
            </a:r>
            <a:endParaRPr lang="en-US" sz="1926" dirty="0"/>
          </a:p>
        </p:txBody>
      </p:sp>
      <p:sp>
        <p:nvSpPr>
          <p:cNvPr id="106" name="Text 104"/>
          <p:cNvSpPr/>
          <p:nvPr/>
        </p:nvSpPr>
        <p:spPr>
          <a:xfrm>
            <a:off x="8470478" y="7434858"/>
            <a:ext cx="181645" cy="260077"/>
          </a:xfrm>
          <a:prstGeom prst="rect">
            <a:avLst/>
          </a:prstGeom>
          <a:noFill/>
          <a:ln/>
        </p:spPr>
        <p:txBody>
          <a:bodyPr wrap="square" lIns="25400" tIns="25400" rIns="25400" bIns="25400" rtlCol="0" anchor="t">
            <a:normAutofit/>
          </a:bodyPr>
          <a:lstStyle/>
          <a:p>
            <a:pPr algn="ctr" indent="0" marL="0">
              <a:buNone/>
            </a:pPr>
            <a:r>
              <a:rPr lang="en-US" sz="1926" dirty="0">
                <a:solidFill>
                  <a:srgbClr val="18181B"/>
                </a:solidFill>
                <a:latin typeface="Cambria Math" pitchFamily="34" charset="0"/>
                <a:ea typeface="Cambria Math" pitchFamily="34" charset="-122"/>
                <a:cs typeface="Cambria Math" pitchFamily="34" charset="-120"/>
              </a:rPr>
              <a:t>j</a:t>
            </a:r>
            <a:endParaRPr lang="en-US" sz="1926" dirty="0"/>
          </a:p>
        </p:txBody>
      </p:sp>
      <p:sp>
        <p:nvSpPr>
          <p:cNvPr id="107" name="Text 105"/>
          <p:cNvSpPr/>
          <p:nvPr/>
        </p:nvSpPr>
        <p:spPr>
          <a:xfrm>
            <a:off x="8667080" y="7331199"/>
            <a:ext cx="327720" cy="246906"/>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t>
            </a:r>
            <a:endParaRPr lang="en-US" sz="2751" dirty="0"/>
          </a:p>
        </p:txBody>
      </p:sp>
      <p:sp>
        <p:nvSpPr>
          <p:cNvPr id="108" name="Text 106"/>
          <p:cNvSpPr/>
          <p:nvPr/>
        </p:nvSpPr>
        <p:spPr>
          <a:xfrm>
            <a:off x="8995842" y="7292429"/>
            <a:ext cx="669727" cy="276969"/>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SEP</a:t>
            </a:r>
            <a:endParaRPr lang="en-US" sz="2751" dirty="0"/>
          </a:p>
        </p:txBody>
      </p:sp>
      <p:sp>
        <p:nvSpPr>
          <p:cNvPr id="109" name="Text 107"/>
          <p:cNvSpPr/>
          <p:nvPr/>
        </p:nvSpPr>
        <p:spPr>
          <a:xfrm>
            <a:off x="9647634" y="7268989"/>
            <a:ext cx="200918" cy="363662"/>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t>
            </a:r>
            <a:endParaRPr lang="en-US" sz="2751" dirty="0"/>
          </a:p>
        </p:txBody>
      </p:sp>
      <p:sp>
        <p:nvSpPr>
          <p:cNvPr id="110" name="Text 108"/>
          <p:cNvSpPr/>
          <p:nvPr/>
        </p:nvSpPr>
        <p:spPr>
          <a:xfrm>
            <a:off x="9772352" y="7356723"/>
            <a:ext cx="273621" cy="207466"/>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n</a:t>
            </a:r>
            <a:endParaRPr lang="en-US" sz="2751" dirty="0"/>
          </a:p>
        </p:txBody>
      </p:sp>
      <p:sp>
        <p:nvSpPr>
          <p:cNvPr id="111" name="Text 109"/>
          <p:cNvSpPr/>
          <p:nvPr/>
        </p:nvSpPr>
        <p:spPr>
          <a:xfrm>
            <a:off x="9969773" y="7434858"/>
            <a:ext cx="143247" cy="202629"/>
          </a:xfrm>
          <a:prstGeom prst="rect">
            <a:avLst/>
          </a:prstGeom>
          <a:noFill/>
          <a:ln/>
        </p:spPr>
        <p:txBody>
          <a:bodyPr wrap="square" lIns="25400" tIns="25400" rIns="25400" bIns="25400" rtlCol="0" anchor="t">
            <a:normAutofit/>
          </a:bodyPr>
          <a:lstStyle/>
          <a:p>
            <a:pPr algn="ctr" indent="0" marL="0">
              <a:buNone/>
            </a:pPr>
            <a:r>
              <a:rPr lang="en-US" sz="1926" dirty="0">
                <a:solidFill>
                  <a:srgbClr val="18181B"/>
                </a:solidFill>
                <a:latin typeface="Cambria Math" pitchFamily="34" charset="0"/>
                <a:ea typeface="Cambria Math" pitchFamily="34" charset="-122"/>
                <a:cs typeface="Cambria Math" pitchFamily="34" charset="-120"/>
              </a:rPr>
              <a:t>i</a:t>
            </a:r>
            <a:endParaRPr lang="en-US" sz="1926" dirty="0"/>
          </a:p>
        </p:txBody>
      </p:sp>
      <p:sp>
        <p:nvSpPr>
          <p:cNvPr id="112" name="Text 110"/>
          <p:cNvSpPr/>
          <p:nvPr/>
        </p:nvSpPr>
        <p:spPr>
          <a:xfrm>
            <a:off x="10127977" y="7423770"/>
            <a:ext cx="327720" cy="76200"/>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t>
            </a:r>
            <a:endParaRPr lang="en-US" sz="2751" dirty="0"/>
          </a:p>
        </p:txBody>
      </p:sp>
      <p:sp>
        <p:nvSpPr>
          <p:cNvPr id="113" name="Text 111"/>
          <p:cNvSpPr/>
          <p:nvPr/>
        </p:nvSpPr>
        <p:spPr>
          <a:xfrm>
            <a:off x="10456738" y="7302922"/>
            <a:ext cx="249138" cy="261268"/>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1</a:t>
            </a:r>
            <a:endParaRPr lang="en-US" sz="2751" dirty="0"/>
          </a:p>
        </p:txBody>
      </p:sp>
      <p:sp>
        <p:nvSpPr>
          <p:cNvPr id="114" name="Text 112"/>
          <p:cNvSpPr/>
          <p:nvPr/>
        </p:nvSpPr>
        <p:spPr>
          <a:xfrm>
            <a:off x="10629677" y="7268989"/>
            <a:ext cx="200918" cy="363662"/>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t>
            </a:r>
            <a:endParaRPr lang="en-US" sz="2751" dirty="0"/>
          </a:p>
        </p:txBody>
      </p:sp>
      <p:sp>
        <p:nvSpPr>
          <p:cNvPr id="115" name="Text 113"/>
          <p:cNvSpPr/>
          <p:nvPr/>
        </p:nvSpPr>
        <p:spPr>
          <a:xfrm>
            <a:off x="10948020" y="7308503"/>
            <a:ext cx="327720" cy="292671"/>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t>
            </a:r>
            <a:endParaRPr lang="en-US" sz="2751" dirty="0"/>
          </a:p>
        </p:txBody>
      </p:sp>
      <p:sp>
        <p:nvSpPr>
          <p:cNvPr id="116" name="Text 114"/>
          <p:cNvSpPr/>
          <p:nvPr/>
        </p:nvSpPr>
        <p:spPr>
          <a:xfrm>
            <a:off x="11393165" y="7296596"/>
            <a:ext cx="395139" cy="269677"/>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W</a:t>
            </a:r>
            <a:endParaRPr lang="en-US" sz="2751" dirty="0"/>
          </a:p>
        </p:txBody>
      </p:sp>
      <p:sp>
        <p:nvSpPr>
          <p:cNvPr id="117" name="Text 115"/>
          <p:cNvSpPr/>
          <p:nvPr/>
        </p:nvSpPr>
        <p:spPr>
          <a:xfrm>
            <a:off x="12410777" y="7289304"/>
            <a:ext cx="276374" cy="274886"/>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t>
            </a:r>
            <a:endParaRPr lang="en-US" sz="2751" dirty="0"/>
          </a:p>
        </p:txBody>
      </p:sp>
      <p:sp>
        <p:nvSpPr>
          <p:cNvPr id="118" name="Text 116"/>
          <p:cNvSpPr/>
          <p:nvPr/>
        </p:nvSpPr>
        <p:spPr>
          <a:xfrm>
            <a:off x="12669217" y="7291015"/>
            <a:ext cx="171971" cy="273174"/>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i</a:t>
            </a:r>
            <a:endParaRPr lang="en-US" sz="2751" dirty="0"/>
          </a:p>
        </p:txBody>
      </p:sp>
      <p:sp>
        <p:nvSpPr>
          <p:cNvPr id="119" name="Text 117"/>
          <p:cNvSpPr/>
          <p:nvPr/>
        </p:nvSpPr>
        <p:spPr>
          <a:xfrm>
            <a:off x="12861503" y="7336408"/>
            <a:ext cx="327720" cy="236860"/>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a:t>
            </a:r>
            <a:endParaRPr lang="en-US" sz="2751" dirty="0"/>
          </a:p>
        </p:txBody>
      </p:sp>
      <p:sp>
        <p:nvSpPr>
          <p:cNvPr id="120" name="Text 118"/>
          <p:cNvSpPr/>
          <p:nvPr/>
        </p:nvSpPr>
        <p:spPr>
          <a:xfrm>
            <a:off x="13209538" y="7292429"/>
            <a:ext cx="262756" cy="276969"/>
          </a:xfrm>
          <a:prstGeom prst="rect">
            <a:avLst/>
          </a:prstGeom>
          <a:noFill/>
          <a:ln/>
        </p:spPr>
        <p:txBody>
          <a:bodyPr wrap="square" lIns="25400" tIns="25400" rIns="25400" bIns="25400" rtlCol="0" anchor="t">
            <a:normAutofit/>
          </a:bodyPr>
          <a:lstStyle/>
          <a:p>
            <a:pPr algn="ctr" indent="0" marL="0">
              <a:buNone/>
            </a:pPr>
            <a:r>
              <a:rPr lang="en-US" sz="2751" dirty="0">
                <a:solidFill>
                  <a:srgbClr val="18181B"/>
                </a:solidFill>
                <a:latin typeface="Cambria Math" pitchFamily="34" charset="0"/>
                <a:ea typeface="Cambria Math" pitchFamily="34" charset="-122"/>
                <a:cs typeface="Cambria Math" pitchFamily="34" charset="-120"/>
              </a:rPr>
              <a:t>S</a:t>
            </a:r>
            <a:endParaRPr lang="en-US" sz="2751" dirty="0"/>
          </a:p>
        </p:txBody>
      </p:sp>
      <p:sp>
        <p:nvSpPr>
          <p:cNvPr id="121" name="Text 119"/>
          <p:cNvSpPr/>
          <p:nvPr/>
        </p:nvSpPr>
        <p:spPr>
          <a:xfrm>
            <a:off x="804862" y="8290694"/>
            <a:ext cx="16678275" cy="360015"/>
          </a:xfrm>
          <a:prstGeom prst="rect">
            <a:avLst/>
          </a:prstGeom>
          <a:noFill/>
          <a:ln/>
        </p:spPr>
        <p:txBody>
          <a:bodyPr wrap="square" lIns="25400" tIns="25400" rIns="25400" bIns="25400" rtlCol="0" anchor="t">
            <a:normAutofit/>
          </a:bodyPr>
          <a:lstStyle/>
          <a:p>
            <a:pPr algn="ctr" indent="0" marL="0">
              <a:lnSpc>
                <a:spcPct val="130000"/>
              </a:lnSpc>
              <a:buNone/>
            </a:pPr>
            <a:r>
              <a:rPr lang="en-US" sz="1950" b="1" dirty="0">
                <a:solidFill>
                  <a:srgbClr val="52525B"/>
                </a:solidFill>
                <a:latin typeface="Barlow" pitchFamily="34" charset="0"/>
                <a:ea typeface="Barlow" pitchFamily="34" charset="-122"/>
                <a:cs typeface="Barlow" pitchFamily="34" charset="-120"/>
              </a:rPr>
              <a:t>No lineal por la varianza · NP-duro </a:t>
            </a:r>
            <a:pPr algn="ctr" indent="0" marL="0">
              <a:lnSpc>
                <a:spcPct val="130000"/>
              </a:lnSpc>
              <a:buNone/>
            </a:pPr>
            <a:r>
              <a:rPr lang="en-US" sz="1950" b="1" dirty="0">
                <a:solidFill>
                  <a:srgbClr val="A1A1AA"/>
                </a:solidFill>
                <a:latin typeface="Barlow" pitchFamily="34" charset="0"/>
                <a:ea typeface="Barlow" pitchFamily="34" charset="-122"/>
                <a:cs typeface="Barlow" pitchFamily="34" charset="-120"/>
              </a:rPr>
              <a:t>→ </a:t>
            </a:r>
            <a:pPr algn="ctr" indent="0" marL="0">
              <a:lnSpc>
                <a:spcPct val="130000"/>
              </a:lnSpc>
              <a:buNone/>
            </a:pPr>
            <a:r>
              <a:rPr lang="en-US" sz="1950" b="1" dirty="0">
                <a:solidFill>
                  <a:srgbClr val="52525B"/>
                </a:solidFill>
                <a:latin typeface="Barlow" pitchFamily="34" charset="0"/>
                <a:ea typeface="Barlow" pitchFamily="34" charset="-122"/>
                <a:cs typeface="Barlow" pitchFamily="34" charset="-120"/>
              </a:rPr>
              <a:t>se resuelve con </a:t>
            </a:r>
            <a:pPr algn="ctr" indent="0" marL="0">
              <a:lnSpc>
                <a:spcPct val="130000"/>
              </a:lnSpc>
              <a:buNone/>
            </a:pPr>
            <a:r>
              <a:rPr lang="en-US" sz="1950" b="1" dirty="0">
                <a:solidFill>
                  <a:srgbClr val="E4002B"/>
                </a:solidFill>
                <a:latin typeface="Barlow" pitchFamily="34" charset="0"/>
                <a:ea typeface="Barlow" pitchFamily="34" charset="-122"/>
                <a:cs typeface="Barlow" pitchFamily="34" charset="-120"/>
              </a:rPr>
              <a:t>algoritmo genético</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762000"/>
            <a:ext cx="8583364" cy="8801100"/>
          </a:xfrm>
          <a:prstGeom prst="roundRect">
            <a:avLst>
              <a:gd name="adj" fmla="val 1776"/>
            </a:avLst>
          </a:prstGeom>
          <a:solidFill>
            <a:srgbClr val="FAF9F7"/>
          </a:solidFill>
          <a:ln w="9525">
            <a:solidFill>
              <a:srgbClr val="E7E5E1"/>
            </a:solidFill>
            <a:prstDash val="solid"/>
          </a:ln>
        </p:spPr>
      </p:sp>
      <p:pic>
        <p:nvPicPr>
          <p:cNvPr id="3" name="Image 0" descr="preencoded.png">    </p:cNvPr>
          <p:cNvPicPr>
            <a:picLocks noChangeAspect="1"/>
          </p:cNvPicPr>
          <p:nvPr/>
        </p:nvPicPr>
        <p:blipFill>
          <a:blip r:embed="rId1"/>
          <a:srcRect l="0" r="0" t="0" b="0"/>
          <a:stretch/>
        </p:blipFill>
        <p:spPr>
          <a:xfrm>
            <a:off x="1343025" y="2434977"/>
            <a:ext cx="7992740" cy="4986561"/>
          </a:xfrm>
          <a:prstGeom prst="rect">
            <a:avLst/>
          </a:prstGeom>
        </p:spPr>
      </p:pic>
      <p:sp>
        <p:nvSpPr>
          <p:cNvPr id="4" name="Text 1"/>
          <p:cNvSpPr/>
          <p:nvPr/>
        </p:nvSpPr>
        <p:spPr>
          <a:xfrm>
            <a:off x="1960932" y="7592988"/>
            <a:ext cx="6757001" cy="335235"/>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71717A"/>
                </a:solidFill>
                <a:latin typeface="Barlow" pitchFamily="34" charset="0"/>
                <a:ea typeface="Barlow" pitchFamily="34" charset="-122"/>
                <a:cs typeface="Barlow" pitchFamily="34" charset="-120"/>
              </a:rPr>
              <a:t>Convergencia GA1 · el fitness se estabiliza en pocas generaciones.</a:t>
            </a:r>
            <a:endParaRPr lang="en-US" sz="1800" dirty="0"/>
          </a:p>
        </p:txBody>
      </p:sp>
      <p:sp>
        <p:nvSpPr>
          <p:cNvPr id="5" name="Shape 2"/>
          <p:cNvSpPr/>
          <p:nvPr/>
        </p:nvSpPr>
        <p:spPr>
          <a:xfrm>
            <a:off x="10164514" y="2621087"/>
            <a:ext cx="285750" cy="47625"/>
          </a:xfrm>
          <a:prstGeom prst="roundRect">
            <a:avLst>
              <a:gd name="adj" fmla="val 50000"/>
            </a:avLst>
          </a:prstGeom>
          <a:solidFill>
            <a:srgbClr val="E4002B"/>
          </a:solidFill>
          <a:ln/>
        </p:spPr>
      </p:sp>
      <p:sp>
        <p:nvSpPr>
          <p:cNvPr id="6" name="Text 3"/>
          <p:cNvSpPr/>
          <p:nvPr/>
        </p:nvSpPr>
        <p:spPr>
          <a:xfrm>
            <a:off x="10583614" y="2530599"/>
            <a:ext cx="2482676"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T2 · EL ALGORITMO</a:t>
            </a:r>
            <a:endParaRPr lang="en-US" sz="1800" dirty="0"/>
          </a:p>
        </p:txBody>
      </p:sp>
      <p:sp>
        <p:nvSpPr>
          <p:cNvPr id="7" name="Text 4"/>
          <p:cNvSpPr/>
          <p:nvPr/>
        </p:nvSpPr>
        <p:spPr>
          <a:xfrm>
            <a:off x="10164514" y="2930649"/>
            <a:ext cx="7484223" cy="691828"/>
          </a:xfrm>
          <a:prstGeom prst="rect">
            <a:avLst/>
          </a:prstGeom>
          <a:noFill/>
          <a:ln/>
        </p:spPr>
        <p:txBody>
          <a:bodyPr wrap="square" lIns="25400" tIns="25400" rIns="25400" bIns="25400" rtlCol="0" anchor="t">
            <a:normAutofit/>
          </a:bodyPr>
          <a:lstStyle/>
          <a:p>
            <a:pPr algn="l" indent="0" marL="0">
              <a:lnSpc>
                <a:spcPct val="104000"/>
              </a:lnSpc>
              <a:buNone/>
            </a:pPr>
            <a:r>
              <a:rPr lang="en-US" sz="4950" b="1" spc="-75" kern="0" dirty="0">
                <a:solidFill>
                  <a:srgbClr val="18181B"/>
                </a:solidFill>
                <a:latin typeface="Barlow" pitchFamily="34" charset="0"/>
                <a:ea typeface="Barlow" pitchFamily="34" charset="-122"/>
                <a:cs typeface="Barlow" pitchFamily="34" charset="-120"/>
              </a:rPr>
              <a:t>El algoritmo genético</a:t>
            </a:r>
            <a:endParaRPr lang="en-US" sz="4950" dirty="0"/>
          </a:p>
        </p:txBody>
      </p:sp>
      <p:sp>
        <p:nvSpPr>
          <p:cNvPr id="8" name="Shape 5"/>
          <p:cNvSpPr/>
          <p:nvPr/>
        </p:nvSpPr>
        <p:spPr>
          <a:xfrm>
            <a:off x="10164514" y="4051102"/>
            <a:ext cx="133350" cy="133350"/>
          </a:xfrm>
          <a:prstGeom prst="ellipse">
            <a:avLst/>
          </a:prstGeom>
          <a:solidFill>
            <a:srgbClr val="E4002B"/>
          </a:solidFill>
          <a:ln/>
        </p:spPr>
      </p:sp>
      <p:sp>
        <p:nvSpPr>
          <p:cNvPr id="9" name="Text 6"/>
          <p:cNvSpPr/>
          <p:nvPr/>
        </p:nvSpPr>
        <p:spPr>
          <a:xfrm>
            <a:off x="10488364" y="3965377"/>
            <a:ext cx="7150657"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Una solución = un orden de productos; un decoder </a:t>
            </a:r>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first-fit </a:t>
            </a:r>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lo vuelve charolas siempre factibles.</a:t>
            </a:r>
            <a:endParaRPr lang="en-US" sz="2250" dirty="0"/>
          </a:p>
        </p:txBody>
      </p:sp>
      <p:sp>
        <p:nvSpPr>
          <p:cNvPr id="10" name="Shape 7"/>
          <p:cNvSpPr/>
          <p:nvPr/>
        </p:nvSpPr>
        <p:spPr>
          <a:xfrm>
            <a:off x="10164514" y="5070277"/>
            <a:ext cx="133350" cy="133350"/>
          </a:xfrm>
          <a:prstGeom prst="ellipse">
            <a:avLst/>
          </a:prstGeom>
          <a:solidFill>
            <a:srgbClr val="E4002B"/>
          </a:solidFill>
          <a:ln/>
        </p:spPr>
      </p:sp>
      <p:sp>
        <p:nvSpPr>
          <p:cNvPr id="11" name="Text 8"/>
          <p:cNvSpPr/>
          <p:nvPr/>
        </p:nvSpPr>
        <p:spPr>
          <a:xfrm>
            <a:off x="10488364" y="4984552"/>
            <a:ext cx="7150657"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150 soluciones × 400 generaciones </a:t>
            </a:r>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 torneo, cruce OX, mutación y elitismo.</a:t>
            </a:r>
            <a:endParaRPr lang="en-US" sz="2250" dirty="0"/>
          </a:p>
        </p:txBody>
      </p:sp>
      <p:sp>
        <p:nvSpPr>
          <p:cNvPr id="12" name="Shape 9"/>
          <p:cNvSpPr/>
          <p:nvPr/>
        </p:nvSpPr>
        <p:spPr>
          <a:xfrm>
            <a:off x="10164514" y="6089452"/>
            <a:ext cx="133350" cy="133350"/>
          </a:xfrm>
          <a:prstGeom prst="ellipse">
            <a:avLst/>
          </a:prstGeom>
          <a:solidFill>
            <a:srgbClr val="E4002B"/>
          </a:solidFill>
          <a:ln/>
        </p:spPr>
      </p:sp>
      <p:sp>
        <p:nvSpPr>
          <p:cNvPr id="13" name="Text 10"/>
          <p:cNvSpPr/>
          <p:nvPr/>
        </p:nvSpPr>
        <p:spPr>
          <a:xfrm>
            <a:off x="10488364" y="6003727"/>
            <a:ext cx="7150657"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Arranque inteligente por altura → converge en </a:t>
            </a:r>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~10 generaciones </a:t>
            </a:r>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a:t>
            </a:r>
            <a:endParaRPr lang="en-US" sz="2250" dirty="0"/>
          </a:p>
        </p:txBody>
      </p:sp>
      <p:sp>
        <p:nvSpPr>
          <p:cNvPr id="14" name="Shape 11"/>
          <p:cNvSpPr/>
          <p:nvPr/>
        </p:nvSpPr>
        <p:spPr>
          <a:xfrm>
            <a:off x="10164514" y="7108627"/>
            <a:ext cx="133350" cy="133350"/>
          </a:xfrm>
          <a:prstGeom prst="ellipse">
            <a:avLst/>
          </a:prstGeom>
          <a:solidFill>
            <a:srgbClr val="E4002B"/>
          </a:solidFill>
          <a:ln/>
        </p:spPr>
      </p:sp>
      <p:sp>
        <p:nvSpPr>
          <p:cNvPr id="15" name="Text 12"/>
          <p:cNvSpPr/>
          <p:nvPr/>
        </p:nvSpPr>
        <p:spPr>
          <a:xfrm>
            <a:off x="10488364" y="7022902"/>
            <a:ext cx="7150657"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Dos versiones: </a:t>
            </a:r>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GA1 </a:t>
            </a:r>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(base, lo que comparamos) y </a:t>
            </a:r>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GA2 </a:t>
            </a:r>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(extendido — ver adelante).</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2606353"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T3 · LA SIMULACIÓN</a:t>
            </a:r>
            <a:endParaRPr lang="en-US" sz="1800" dirty="0"/>
          </a:p>
        </p:txBody>
      </p:sp>
      <p:sp>
        <p:nvSpPr>
          <p:cNvPr id="4" name="Text 2"/>
          <p:cNvSpPr/>
          <p:nvPr/>
        </p:nvSpPr>
        <p:spPr>
          <a:xfrm>
            <a:off x="1047750" y="129540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La simulación y los datos</a:t>
            </a:r>
            <a:endParaRPr lang="en-US" sz="5400" dirty="0"/>
          </a:p>
        </p:txBody>
      </p:sp>
      <p:sp>
        <p:nvSpPr>
          <p:cNvPr id="5" name="Shape 3"/>
          <p:cNvSpPr/>
          <p:nvPr/>
        </p:nvSpPr>
        <p:spPr>
          <a:xfrm>
            <a:off x="1047750" y="2332434"/>
            <a:ext cx="16192500" cy="6521053"/>
          </a:xfrm>
          <a:prstGeom prst="roundRect">
            <a:avLst>
              <a:gd name="adj" fmla="val 2337"/>
            </a:avLst>
          </a:prstGeom>
          <a:solidFill>
            <a:srgbClr val="FFFFFF"/>
          </a:solidFill>
          <a:ln w="9525">
            <a:solidFill>
              <a:srgbClr val="E7E5E1"/>
            </a:solidFill>
            <a:prstDash val="solid"/>
          </a:ln>
        </p:spPr>
      </p:sp>
      <p:pic>
        <p:nvPicPr>
          <p:cNvPr id="6" name="Image 0" descr="preencoded.png">    </p:cNvPr>
          <p:cNvPicPr>
            <a:picLocks noChangeAspect="1"/>
          </p:cNvPicPr>
          <p:nvPr/>
        </p:nvPicPr>
        <p:blipFill>
          <a:blip r:embed="rId1"/>
          <a:srcRect l="-1" r="-1" t="0" b="0"/>
          <a:stretch/>
        </p:blipFill>
        <p:spPr>
          <a:xfrm>
            <a:off x="3031034" y="2627709"/>
            <a:ext cx="12225933" cy="5930429"/>
          </a:xfrm>
          <a:prstGeom prst="rect">
            <a:avLst/>
          </a:prstGeom>
        </p:spPr>
      </p:pic>
      <p:sp>
        <p:nvSpPr>
          <p:cNvPr id="7" name="Text 4"/>
          <p:cNvSpPr/>
          <p:nvPr/>
        </p:nvSpPr>
        <p:spPr>
          <a:xfrm>
            <a:off x="1047750" y="9101138"/>
            <a:ext cx="1667827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Los pesos se </a:t>
            </a:r>
            <a:pPr algn="l" indent="0" marL="0">
              <a:lnSpc>
                <a:spcPct val="135000"/>
              </a:lnSpc>
              <a:buNone/>
            </a:pPr>
            <a:r>
              <a:rPr lang="en-US" sz="2250" b="1" dirty="0">
                <a:solidFill>
                  <a:srgbClr val="E4002B"/>
                </a:solidFill>
                <a:latin typeface="Barlow" pitchFamily="34" charset="0"/>
                <a:ea typeface="Barlow" pitchFamily="34" charset="-122"/>
                <a:cs typeface="Barlow" pitchFamily="34" charset="-120"/>
              </a:rPr>
              <a:t>derivan de su histórico</a:t>
            </a:r>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 no a mano — todo reproducible, auditable y escalable a los 132 formatos.</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2159719"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T4 · VALIDACIÓN</a:t>
            </a:r>
            <a:endParaRPr lang="en-US" sz="1800" dirty="0"/>
          </a:p>
        </p:txBody>
      </p:sp>
      <p:sp>
        <p:nvSpPr>
          <p:cNvPr id="4" name="Text 2"/>
          <p:cNvSpPr/>
          <p:nvPr/>
        </p:nvSpPr>
        <p:spPr>
          <a:xfrm>
            <a:off x="1047750" y="131445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Validamos el método</a:t>
            </a:r>
            <a:endParaRPr lang="en-US" sz="5400" dirty="0"/>
          </a:p>
        </p:txBody>
      </p:sp>
      <p:sp>
        <p:nvSpPr>
          <p:cNvPr id="5" name="Text 3"/>
          <p:cNvSpPr/>
          <p:nvPr/>
        </p:nvSpPr>
        <p:spPr>
          <a:xfrm>
            <a:off x="1047750" y="2256234"/>
            <a:ext cx="12557760" cy="860971"/>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52525B"/>
                </a:solidFill>
                <a:latin typeface="Barlow" pitchFamily="34" charset="0"/>
                <a:ea typeface="Barlow" pitchFamily="34" charset="-122"/>
                <a:cs typeface="Barlow" pitchFamily="34" charset="-120"/>
              </a:rPr>
              <a:t>Comparamos el algoritmo genético contra una optimización no lineal sobre la misma instancia y la misma función objetivo.</a:t>
            </a:r>
            <a:endParaRPr lang="en-US" sz="2400" dirty="0"/>
          </a:p>
        </p:txBody>
      </p:sp>
      <p:sp>
        <p:nvSpPr>
          <p:cNvPr id="6" name="Shape 4"/>
          <p:cNvSpPr/>
          <p:nvPr/>
        </p:nvSpPr>
        <p:spPr>
          <a:xfrm>
            <a:off x="1047750" y="3364855"/>
            <a:ext cx="16192500" cy="5526732"/>
          </a:xfrm>
          <a:prstGeom prst="roundRect">
            <a:avLst>
              <a:gd name="adj" fmla="val 2758"/>
            </a:avLst>
          </a:prstGeom>
          <a:solidFill>
            <a:srgbClr val="FFFFFF"/>
          </a:solidFill>
          <a:ln w="9525">
            <a:solidFill>
              <a:srgbClr val="E7E5E1"/>
            </a:solidFill>
            <a:prstDash val="solid"/>
          </a:ln>
        </p:spPr>
      </p:sp>
      <p:pic>
        <p:nvPicPr>
          <p:cNvPr id="7" name="Image 0" descr="preencoded.png">    </p:cNvPr>
          <p:cNvPicPr>
            <a:picLocks noChangeAspect="1"/>
          </p:cNvPicPr>
          <p:nvPr/>
        </p:nvPicPr>
        <p:blipFill>
          <a:blip r:embed="rId1"/>
          <a:srcRect l="-1" r="-1" t="0" b="0"/>
          <a:stretch/>
        </p:blipFill>
        <p:spPr>
          <a:xfrm>
            <a:off x="4759896" y="3641080"/>
            <a:ext cx="8768209" cy="4974208"/>
          </a:xfrm>
          <a:prstGeom prst="rect">
            <a:avLst/>
          </a:prstGeom>
        </p:spPr>
      </p:pic>
      <p:sp>
        <p:nvSpPr>
          <p:cNvPr id="8" name="Text 5"/>
          <p:cNvSpPr/>
          <p:nvPr/>
        </p:nvSpPr>
        <p:spPr>
          <a:xfrm>
            <a:off x="1047750" y="9101138"/>
            <a:ext cx="1667827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Gana en los </a:t>
            </a:r>
            <a:pPr algn="l" indent="0" marL="0">
              <a:lnSpc>
                <a:spcPct val="135000"/>
              </a:lnSpc>
              <a:buNone/>
            </a:pPr>
            <a:r>
              <a:rPr lang="en-US" sz="2250" b="1" dirty="0">
                <a:solidFill>
                  <a:srgbClr val="E4002B"/>
                </a:solidFill>
                <a:latin typeface="Barlow" pitchFamily="34" charset="0"/>
                <a:ea typeface="Barlow" pitchFamily="34" charset="-122"/>
                <a:cs typeface="Barlow" pitchFamily="34" charset="-120"/>
              </a:rPr>
              <a:t>4 formatos (+2% a +7%) </a:t>
            </a:r>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 y en menos tiempo de cómputo.</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762000"/>
            <a:ext cx="8033965" cy="8801100"/>
          </a:xfrm>
          <a:prstGeom prst="roundRect">
            <a:avLst>
              <a:gd name="adj" fmla="val 1897"/>
            </a:avLst>
          </a:prstGeom>
          <a:solidFill>
            <a:srgbClr val="FAF9F7"/>
          </a:solidFill>
          <a:ln w="9525">
            <a:solidFill>
              <a:srgbClr val="E7E5E1"/>
            </a:solidFill>
            <a:prstDash val="solid"/>
          </a:ln>
        </p:spPr>
      </p:sp>
      <p:pic>
        <p:nvPicPr>
          <p:cNvPr id="3" name="Image 0" descr="preencoded.png">    </p:cNvPr>
          <p:cNvPicPr>
            <a:picLocks noChangeAspect="1"/>
          </p:cNvPicPr>
          <p:nvPr/>
        </p:nvPicPr>
        <p:blipFill>
          <a:blip r:embed="rId1"/>
          <a:srcRect l="0" r="0" t="0" b="0"/>
          <a:stretch/>
        </p:blipFill>
        <p:spPr>
          <a:xfrm>
            <a:off x="1343025" y="2606353"/>
            <a:ext cx="7443341" cy="4643810"/>
          </a:xfrm>
          <a:prstGeom prst="rect">
            <a:avLst/>
          </a:prstGeom>
        </p:spPr>
      </p:pic>
      <p:sp>
        <p:nvSpPr>
          <p:cNvPr id="4" name="Text 1"/>
          <p:cNvSpPr/>
          <p:nvPr/>
        </p:nvSpPr>
        <p:spPr>
          <a:xfrm>
            <a:off x="2759323" y="7421612"/>
            <a:ext cx="4610746" cy="335235"/>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71717A"/>
                </a:solidFill>
                <a:latin typeface="Barlow" pitchFamily="34" charset="0"/>
                <a:ea typeface="Barlow" pitchFamily="34" charset="-122"/>
                <a:cs typeface="Barlow" pitchFamily="34" charset="-120"/>
              </a:rPr>
              <a:t>Convergencia GA2 (extendido) · BCO_CF_4.0.</a:t>
            </a:r>
            <a:endParaRPr lang="en-US" sz="1800" dirty="0"/>
          </a:p>
        </p:txBody>
      </p:sp>
      <p:sp>
        <p:nvSpPr>
          <p:cNvPr id="5" name="Shape 2"/>
          <p:cNvSpPr/>
          <p:nvPr/>
        </p:nvSpPr>
        <p:spPr>
          <a:xfrm>
            <a:off x="9615115" y="2083594"/>
            <a:ext cx="285750" cy="47625"/>
          </a:xfrm>
          <a:prstGeom prst="roundRect">
            <a:avLst>
              <a:gd name="adj" fmla="val 50000"/>
            </a:avLst>
          </a:prstGeom>
          <a:solidFill>
            <a:srgbClr val="E4002B"/>
          </a:solidFill>
          <a:ln/>
        </p:spPr>
      </p:sp>
      <p:sp>
        <p:nvSpPr>
          <p:cNvPr id="6" name="Text 3"/>
          <p:cNvSpPr/>
          <p:nvPr/>
        </p:nvSpPr>
        <p:spPr>
          <a:xfrm>
            <a:off x="10034215" y="1993106"/>
            <a:ext cx="3016499"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EXTENSIÓN · MODELO 2</a:t>
            </a:r>
            <a:endParaRPr lang="en-US" sz="1800" dirty="0"/>
          </a:p>
        </p:txBody>
      </p:sp>
      <p:sp>
        <p:nvSpPr>
          <p:cNvPr id="7" name="Text 4"/>
          <p:cNvSpPr/>
          <p:nvPr/>
        </p:nvSpPr>
        <p:spPr>
          <a:xfrm>
            <a:off x="9615115" y="2393156"/>
            <a:ext cx="8050104" cy="1305967"/>
          </a:xfrm>
          <a:prstGeom prst="rect">
            <a:avLst/>
          </a:prstGeom>
          <a:noFill/>
          <a:ln/>
        </p:spPr>
        <p:txBody>
          <a:bodyPr wrap="square" lIns="25400" tIns="25400" rIns="25400" bIns="25400" rtlCol="0" anchor="t">
            <a:normAutofit/>
          </a:bodyPr>
          <a:lstStyle/>
          <a:p>
            <a:pPr algn="l" indent="0" marL="0">
              <a:lnSpc>
                <a:spcPct val="104000"/>
              </a:lnSpc>
              <a:buNone/>
            </a:pPr>
            <a:r>
              <a:rPr lang="en-US" sz="4800" b="1" spc="-75" kern="0" dirty="0">
                <a:solidFill>
                  <a:srgbClr val="18181B"/>
                </a:solidFill>
                <a:latin typeface="Barlow" pitchFamily="34" charset="0"/>
                <a:ea typeface="Barlow" pitchFamily="34" charset="-122"/>
                <a:cs typeface="Barlow" pitchFamily="34" charset="-120"/>
              </a:rPr>
              <a:t>Un paso más cerca del negocio</a:t>
            </a:r>
            <a:endParaRPr lang="en-US" sz="4800" dirty="0"/>
          </a:p>
        </p:txBody>
      </p:sp>
      <p:sp>
        <p:nvSpPr>
          <p:cNvPr id="8" name="Shape 5"/>
          <p:cNvSpPr/>
          <p:nvPr/>
        </p:nvSpPr>
        <p:spPr>
          <a:xfrm>
            <a:off x="9615115" y="3965823"/>
            <a:ext cx="7815635" cy="1499146"/>
          </a:xfrm>
          <a:prstGeom prst="roundRect">
            <a:avLst>
              <a:gd name="adj" fmla="val 10166"/>
            </a:avLst>
          </a:prstGeom>
          <a:solidFill>
            <a:srgbClr val="18181B"/>
          </a:solidFill>
          <a:ln/>
        </p:spPr>
      </p:sp>
      <p:sp>
        <p:nvSpPr>
          <p:cNvPr id="9" name="Text 6"/>
          <p:cNvSpPr/>
          <p:nvPr/>
        </p:nvSpPr>
        <p:spPr>
          <a:xfrm>
            <a:off x="9958015" y="4415358"/>
            <a:ext cx="3103953" cy="638175"/>
          </a:xfrm>
          <a:prstGeom prst="rect">
            <a:avLst/>
          </a:prstGeom>
          <a:noFill/>
          <a:ln/>
        </p:spPr>
        <p:txBody>
          <a:bodyPr wrap="square" lIns="25400" tIns="25400" rIns="25400" bIns="25400" rtlCol="0" anchor="t">
            <a:normAutofit/>
          </a:bodyPr>
          <a:lstStyle/>
          <a:p>
            <a:pPr algn="l" indent="0" marL="0">
              <a:lnSpc>
                <a:spcPct val="90000"/>
              </a:lnSpc>
              <a:buNone/>
            </a:pPr>
            <a:r>
              <a:rPr lang="en-US" sz="5250" b="1" dirty="0">
                <a:solidFill>
                  <a:srgbClr val="FFFFFF"/>
                </a:solidFill>
                <a:latin typeface="Barlow Semi Condensed" pitchFamily="34" charset="0"/>
                <a:ea typeface="Barlow Semi Condensed" pitchFamily="34" charset="-122"/>
                <a:cs typeface="Barlow Semi Condensed" pitchFamily="34" charset="-120"/>
              </a:rPr>
              <a:t>0.76 </a:t>
            </a:r>
            <a:pPr algn="l" indent="0" marL="0">
              <a:lnSpc>
                <a:spcPct val="90000"/>
              </a:lnSpc>
              <a:buNone/>
            </a:pPr>
            <a:r>
              <a:rPr lang="en-US" sz="5250" b="1" dirty="0">
                <a:solidFill>
                  <a:srgbClr val="71717A"/>
                </a:solidFill>
                <a:latin typeface="Barlow Semi Condensed" pitchFamily="34" charset="0"/>
                <a:ea typeface="Barlow Semi Condensed" pitchFamily="34" charset="-122"/>
                <a:cs typeface="Barlow Semi Condensed" pitchFamily="34" charset="-120"/>
              </a:rPr>
              <a:t>→ </a:t>
            </a:r>
            <a:pPr algn="l" indent="0" marL="0">
              <a:lnSpc>
                <a:spcPct val="90000"/>
              </a:lnSpc>
              <a:buNone/>
            </a:pPr>
            <a:r>
              <a:rPr lang="en-US" sz="5250" b="1" dirty="0">
                <a:solidFill>
                  <a:srgbClr val="FFE600"/>
                </a:solidFill>
                <a:latin typeface="Barlow Semi Condensed" pitchFamily="34" charset="0"/>
                <a:ea typeface="Barlow Semi Condensed" pitchFamily="34" charset="-122"/>
                <a:cs typeface="Barlow Semi Condensed" pitchFamily="34" charset="-120"/>
              </a:rPr>
              <a:t>0.81</a:t>
            </a:r>
            <a:endParaRPr lang="en-US" sz="5250" dirty="0"/>
          </a:p>
        </p:txBody>
      </p:sp>
      <p:sp>
        <p:nvSpPr>
          <p:cNvPr id="10" name="Text 7"/>
          <p:cNvSpPr/>
          <p:nvPr/>
        </p:nvSpPr>
        <p:spPr>
          <a:xfrm>
            <a:off x="13238262" y="4232523"/>
            <a:ext cx="3965076" cy="1003846"/>
          </a:xfrm>
          <a:prstGeom prst="rect">
            <a:avLst/>
          </a:prstGeom>
          <a:noFill/>
          <a:ln/>
        </p:spPr>
        <p:txBody>
          <a:bodyPr wrap="square" lIns="25400" tIns="25400" rIns="25400" bIns="25400" rtlCol="0" anchor="t">
            <a:normAutofit/>
          </a:bodyPr>
          <a:lstStyle/>
          <a:p>
            <a:pPr algn="l" indent="0" marL="0">
              <a:lnSpc>
                <a:spcPct val="130000"/>
              </a:lnSpc>
              <a:buNone/>
            </a:pPr>
            <a:r>
              <a:rPr lang="en-US" sz="1950" b="1" dirty="0">
                <a:solidFill>
                  <a:srgbClr val="FFFFFF">
                    <a:alpha val="85000"/>
                  </a:srgbClr>
                </a:solidFill>
                <a:latin typeface="Barlow" pitchFamily="34" charset="0"/>
                <a:ea typeface="Barlow" pitchFamily="34" charset="-122"/>
                <a:cs typeface="Barlow" pitchFamily="34" charset="-120"/>
              </a:rPr>
              <a:t>Consistencia de ubicación manteniendo </a:t>
            </a:r>
            <a:pPr algn="l" indent="0" marL="0">
              <a:lnSpc>
                <a:spcPct val="130000"/>
              </a:lnSpc>
              <a:buNone/>
            </a:pPr>
            <a:r>
              <a:rPr lang="en-US" sz="1950" b="1" dirty="0">
                <a:solidFill>
                  <a:srgbClr val="FFFFFF"/>
                </a:solidFill>
                <a:latin typeface="Barlow" pitchFamily="34" charset="0"/>
                <a:ea typeface="Barlow" pitchFamily="34" charset="-122"/>
                <a:cs typeface="Barlow" pitchFamily="34" charset="-120"/>
              </a:rPr>
              <a:t>92.4% </a:t>
            </a:r>
            <a:pPr algn="l" indent="0" marL="0">
              <a:lnSpc>
                <a:spcPct val="130000"/>
              </a:lnSpc>
              <a:buNone/>
            </a:pPr>
            <a:r>
              <a:rPr lang="en-US" sz="1950" b="1" dirty="0">
                <a:solidFill>
                  <a:srgbClr val="FFFFFF">
                    <a:alpha val="85000"/>
                  </a:srgbClr>
                </a:solidFill>
                <a:latin typeface="Barlow" pitchFamily="34" charset="0"/>
                <a:ea typeface="Barlow" pitchFamily="34" charset="-122"/>
                <a:cs typeface="Barlow" pitchFamily="34" charset="-120"/>
              </a:rPr>
              <a:t>de aprovechamiento.</a:t>
            </a:r>
            <a:endParaRPr lang="en-US" sz="1950" dirty="0"/>
          </a:p>
        </p:txBody>
      </p:sp>
      <p:sp>
        <p:nvSpPr>
          <p:cNvPr id="11" name="Shape 8"/>
          <p:cNvSpPr/>
          <p:nvPr/>
        </p:nvSpPr>
        <p:spPr>
          <a:xfrm>
            <a:off x="9615115" y="5874544"/>
            <a:ext cx="133350" cy="133350"/>
          </a:xfrm>
          <a:prstGeom prst="ellipse">
            <a:avLst/>
          </a:prstGeom>
          <a:solidFill>
            <a:srgbClr val="E4002B"/>
          </a:solidFill>
          <a:ln/>
        </p:spPr>
      </p:sp>
      <p:sp>
        <p:nvSpPr>
          <p:cNvPr id="12" name="Text 9"/>
          <p:cNvSpPr/>
          <p:nvPr/>
        </p:nvSpPr>
        <p:spPr>
          <a:xfrm>
            <a:off x="9938965" y="5788819"/>
            <a:ext cx="7716538" cy="1195388"/>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Añade un </a:t>
            </a:r>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4.º criterio </a:t>
            </a:r>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 cada producto cerca de su ubicación histórica esperada — respeta el merchandising que OXXO ya aplica.</a:t>
            </a:r>
            <a:endParaRPr lang="en-US" sz="2250" dirty="0"/>
          </a:p>
        </p:txBody>
      </p:sp>
      <p:sp>
        <p:nvSpPr>
          <p:cNvPr id="13" name="Shape 10"/>
          <p:cNvSpPr/>
          <p:nvPr/>
        </p:nvSpPr>
        <p:spPr>
          <a:xfrm>
            <a:off x="9615115" y="7260431"/>
            <a:ext cx="133350" cy="133350"/>
          </a:xfrm>
          <a:prstGeom prst="ellipse">
            <a:avLst/>
          </a:prstGeom>
          <a:solidFill>
            <a:srgbClr val="E4002B"/>
          </a:solidFill>
          <a:ln/>
        </p:spPr>
      </p:sp>
      <p:sp>
        <p:nvSpPr>
          <p:cNvPr id="14" name="Text 11"/>
          <p:cNvSpPr/>
          <p:nvPr/>
        </p:nvSpPr>
        <p:spPr>
          <a:xfrm>
            <a:off x="9938965" y="7174706"/>
            <a:ext cx="7716538" cy="1195388"/>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Es la </a:t>
            </a:r>
            <a:pPr algn="l" indent="0" marL="0">
              <a:lnSpc>
                <a:spcPct val="135000"/>
              </a:lnSpc>
              <a:buNone/>
            </a:pPr>
            <a:r>
              <a:rPr lang="en-US" sz="2250" b="1" dirty="0">
                <a:solidFill>
                  <a:srgbClr val="18181B"/>
                </a:solidFill>
                <a:latin typeface="Barlow" pitchFamily="34" charset="0"/>
                <a:ea typeface="Barlow" pitchFamily="34" charset="-122"/>
                <a:cs typeface="Barlow" pitchFamily="34" charset="-120"/>
              </a:rPr>
              <a:t>arquitectura del modelo final </a:t>
            </a:r>
            <a:pPr algn="l" indent="0" marL="0">
              <a:lnSpc>
                <a:spcPct val="135000"/>
              </a:lnSpc>
              <a:buNone/>
            </a:pPr>
            <a:r>
              <a:rPr lang="en-US" sz="2250" dirty="0">
                <a:solidFill>
                  <a:srgbClr val="3F3F46"/>
                </a:solidFill>
                <a:latin typeface="Barlow" pitchFamily="34" charset="0"/>
                <a:ea typeface="Barlow" pitchFamily="34" charset="-122"/>
                <a:cs typeface="Barlow" pitchFamily="34" charset="-120"/>
              </a:rPr>
              <a:t>: hoy con multiplicador placeholder; mañana con demanda y margen reales → rentabilidad esperada.</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3034358"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07 · VALOR DE NEGOCIO</a:t>
            </a:r>
            <a:endParaRPr lang="en-US" sz="1800" dirty="0"/>
          </a:p>
        </p:txBody>
      </p:sp>
      <p:sp>
        <p:nvSpPr>
          <p:cNvPr id="4" name="Text 2"/>
          <p:cNvSpPr/>
          <p:nvPr/>
        </p:nvSpPr>
        <p:spPr>
          <a:xfrm>
            <a:off x="1047750" y="131445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Qué significa para OXXO</a:t>
            </a:r>
            <a:endParaRPr lang="en-US" sz="5400" dirty="0"/>
          </a:p>
        </p:txBody>
      </p:sp>
      <p:sp>
        <p:nvSpPr>
          <p:cNvPr id="5" name="Shape 3"/>
          <p:cNvSpPr/>
          <p:nvPr/>
        </p:nvSpPr>
        <p:spPr>
          <a:xfrm>
            <a:off x="1047750" y="6092428"/>
            <a:ext cx="7972425" cy="1573411"/>
          </a:xfrm>
          <a:prstGeom prst="roundRect">
            <a:avLst>
              <a:gd name="adj" fmla="val 9686"/>
            </a:avLst>
          </a:prstGeom>
          <a:solidFill>
            <a:srgbClr val="FFFFFF"/>
          </a:solidFill>
          <a:ln w="9525">
            <a:solidFill>
              <a:srgbClr val="E7E5E1"/>
            </a:solidFill>
            <a:prstDash val="solid"/>
          </a:ln>
        </p:spPr>
      </p:sp>
      <p:sp>
        <p:nvSpPr>
          <p:cNvPr id="6" name="Text 4"/>
          <p:cNvSpPr/>
          <p:nvPr/>
        </p:nvSpPr>
        <p:spPr>
          <a:xfrm>
            <a:off x="1457325" y="6482953"/>
            <a:ext cx="396478" cy="415230"/>
          </a:xfrm>
          <a:prstGeom prst="rect">
            <a:avLst/>
          </a:prstGeom>
          <a:noFill/>
          <a:ln/>
        </p:spPr>
        <p:txBody>
          <a:bodyPr wrap="square" lIns="25400" tIns="25400" rIns="25400" bIns="25400" rtlCol="0" anchor="t">
            <a:normAutofit/>
          </a:bodyPr>
          <a:lstStyle/>
          <a:p>
            <a:pPr algn="l" indent="0" marL="0">
              <a:lnSpc>
                <a:spcPct val="90000"/>
              </a:lnSpc>
              <a:buNone/>
            </a:pPr>
            <a:r>
              <a:rPr lang="en-US" sz="3300" b="1" dirty="0">
                <a:solidFill>
                  <a:srgbClr val="E4002B"/>
                </a:solidFill>
                <a:latin typeface="Barlow" pitchFamily="34" charset="0"/>
                <a:ea typeface="Barlow" pitchFamily="34" charset="-122"/>
                <a:cs typeface="Barlow" pitchFamily="34" charset="-120"/>
              </a:rPr>
              <a:t>✓</a:t>
            </a:r>
            <a:endParaRPr lang="en-US" sz="3300" dirty="0"/>
          </a:p>
        </p:txBody>
      </p:sp>
      <p:sp>
        <p:nvSpPr>
          <p:cNvPr id="7" name="Text 5"/>
          <p:cNvSpPr/>
          <p:nvPr/>
        </p:nvSpPr>
        <p:spPr>
          <a:xfrm>
            <a:off x="2006203" y="6482953"/>
            <a:ext cx="6802529"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b="1" dirty="0">
                <a:solidFill>
                  <a:srgbClr val="27272A"/>
                </a:solidFill>
                <a:latin typeface="Barlow" pitchFamily="34" charset="0"/>
                <a:ea typeface="Barlow" pitchFamily="34" charset="-122"/>
                <a:cs typeface="Barlow" pitchFamily="34" charset="-120"/>
              </a:rPr>
              <a:t>Acomodos consistentes y reproducibles </a:t>
            </a:r>
            <a:pPr algn="l" indent="0" marL="0">
              <a:lnSpc>
                <a:spcPct val="130000"/>
              </a:lnSpc>
              <a:buNone/>
            </a:pPr>
            <a:r>
              <a:rPr lang="en-US" sz="2400" b="1" dirty="0">
                <a:solidFill>
                  <a:srgbClr val="E4002B"/>
                </a:solidFill>
                <a:latin typeface="Barlow" pitchFamily="34" charset="0"/>
                <a:ea typeface="Barlow" pitchFamily="34" charset="-122"/>
                <a:cs typeface="Barlow" pitchFamily="34" charset="-120"/>
              </a:rPr>
              <a:t>en segundos </a:t>
            </a:r>
            <a:pPr algn="l" indent="0" marL="0">
              <a:lnSpc>
                <a:spcPct val="130000"/>
              </a:lnSpc>
              <a:buNone/>
            </a:pPr>
            <a:r>
              <a:rPr lang="en-US" sz="2400" b="1" dirty="0">
                <a:solidFill>
                  <a:srgbClr val="27272A"/>
                </a:solidFill>
                <a:latin typeface="Barlow" pitchFamily="34" charset="0"/>
                <a:ea typeface="Barlow" pitchFamily="34" charset="-122"/>
                <a:cs typeface="Barlow" pitchFamily="34" charset="-120"/>
              </a:rPr>
              <a:t>, frente al trabajo manual.</a:t>
            </a:r>
            <a:endParaRPr lang="en-US" sz="2400" dirty="0"/>
          </a:p>
        </p:txBody>
      </p:sp>
      <p:sp>
        <p:nvSpPr>
          <p:cNvPr id="8" name="Shape 6"/>
          <p:cNvSpPr/>
          <p:nvPr/>
        </p:nvSpPr>
        <p:spPr>
          <a:xfrm>
            <a:off x="9267825" y="6092428"/>
            <a:ext cx="7972425" cy="1573411"/>
          </a:xfrm>
          <a:prstGeom prst="roundRect">
            <a:avLst>
              <a:gd name="adj" fmla="val 9686"/>
            </a:avLst>
          </a:prstGeom>
          <a:solidFill>
            <a:srgbClr val="FFFFFF"/>
          </a:solidFill>
          <a:ln w="9525">
            <a:solidFill>
              <a:srgbClr val="E7E5E1"/>
            </a:solidFill>
            <a:prstDash val="solid"/>
          </a:ln>
        </p:spPr>
      </p:sp>
      <p:sp>
        <p:nvSpPr>
          <p:cNvPr id="9" name="Text 7"/>
          <p:cNvSpPr/>
          <p:nvPr/>
        </p:nvSpPr>
        <p:spPr>
          <a:xfrm>
            <a:off x="9677400" y="6482953"/>
            <a:ext cx="396478" cy="415230"/>
          </a:xfrm>
          <a:prstGeom prst="rect">
            <a:avLst/>
          </a:prstGeom>
          <a:noFill/>
          <a:ln/>
        </p:spPr>
        <p:txBody>
          <a:bodyPr wrap="square" lIns="25400" tIns="25400" rIns="25400" bIns="25400" rtlCol="0" anchor="t">
            <a:normAutofit/>
          </a:bodyPr>
          <a:lstStyle/>
          <a:p>
            <a:pPr algn="l" indent="0" marL="0">
              <a:lnSpc>
                <a:spcPct val="90000"/>
              </a:lnSpc>
              <a:buNone/>
            </a:pPr>
            <a:r>
              <a:rPr lang="en-US" sz="3300" b="1" dirty="0">
                <a:solidFill>
                  <a:srgbClr val="E4002B"/>
                </a:solidFill>
                <a:latin typeface="Barlow" pitchFamily="34" charset="0"/>
                <a:ea typeface="Barlow" pitchFamily="34" charset="-122"/>
                <a:cs typeface="Barlow" pitchFamily="34" charset="-120"/>
              </a:rPr>
              <a:t>✓</a:t>
            </a:r>
            <a:endParaRPr lang="en-US" sz="3300" dirty="0"/>
          </a:p>
        </p:txBody>
      </p:sp>
      <p:sp>
        <p:nvSpPr>
          <p:cNvPr id="10" name="Text 8"/>
          <p:cNvSpPr/>
          <p:nvPr/>
        </p:nvSpPr>
        <p:spPr>
          <a:xfrm>
            <a:off x="10226278" y="6482953"/>
            <a:ext cx="6802529"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b="1" dirty="0">
                <a:solidFill>
                  <a:srgbClr val="27272A"/>
                </a:solidFill>
                <a:latin typeface="Barlow" pitchFamily="34" charset="0"/>
                <a:ea typeface="Barlow" pitchFamily="34" charset="-122"/>
                <a:cs typeface="Barlow" pitchFamily="34" charset="-120"/>
              </a:rPr>
              <a:t>Respeta los bloques de marca — y los </a:t>
            </a:r>
            <a:pPr algn="l" indent="0" marL="0">
              <a:lnSpc>
                <a:spcPct val="130000"/>
              </a:lnSpc>
              <a:buNone/>
            </a:pPr>
            <a:r>
              <a:rPr lang="en-US" sz="2400" b="1" dirty="0">
                <a:solidFill>
                  <a:srgbClr val="E4002B"/>
                </a:solidFill>
                <a:latin typeface="Barlow" pitchFamily="34" charset="0"/>
                <a:ea typeface="Barlow" pitchFamily="34" charset="-122"/>
                <a:cs typeface="Barlow" pitchFamily="34" charset="-120"/>
              </a:rPr>
              <a:t>acuerdos con proveedores </a:t>
            </a:r>
            <a:pPr algn="l" indent="0" marL="0">
              <a:lnSpc>
                <a:spcPct val="130000"/>
              </a:lnSpc>
              <a:buNone/>
            </a:pPr>
            <a:r>
              <a:rPr lang="en-US" sz="2400" b="1" dirty="0">
                <a:solidFill>
                  <a:srgbClr val="27272A"/>
                </a:solidFill>
                <a:latin typeface="Barlow" pitchFamily="34" charset="0"/>
                <a:ea typeface="Barlow" pitchFamily="34" charset="-122"/>
                <a:cs typeface="Barlow" pitchFamily="34" charset="-120"/>
              </a:rPr>
              <a:t>.</a:t>
            </a:r>
            <a:endParaRPr lang="en-US" sz="2400" dirty="0"/>
          </a:p>
        </p:txBody>
      </p:sp>
      <p:sp>
        <p:nvSpPr>
          <p:cNvPr id="11" name="Shape 9"/>
          <p:cNvSpPr/>
          <p:nvPr/>
        </p:nvSpPr>
        <p:spPr>
          <a:xfrm>
            <a:off x="1047750" y="7913489"/>
            <a:ext cx="7972425" cy="1573411"/>
          </a:xfrm>
          <a:prstGeom prst="roundRect">
            <a:avLst>
              <a:gd name="adj" fmla="val 9686"/>
            </a:avLst>
          </a:prstGeom>
          <a:solidFill>
            <a:srgbClr val="FFFFFF"/>
          </a:solidFill>
          <a:ln w="9525">
            <a:solidFill>
              <a:srgbClr val="E7E5E1"/>
            </a:solidFill>
            <a:prstDash val="solid"/>
          </a:ln>
        </p:spPr>
      </p:sp>
      <p:sp>
        <p:nvSpPr>
          <p:cNvPr id="12" name="Text 10"/>
          <p:cNvSpPr/>
          <p:nvPr/>
        </p:nvSpPr>
        <p:spPr>
          <a:xfrm>
            <a:off x="1457325" y="8304014"/>
            <a:ext cx="396478" cy="415230"/>
          </a:xfrm>
          <a:prstGeom prst="rect">
            <a:avLst/>
          </a:prstGeom>
          <a:noFill/>
          <a:ln/>
        </p:spPr>
        <p:txBody>
          <a:bodyPr wrap="square" lIns="25400" tIns="25400" rIns="25400" bIns="25400" rtlCol="0" anchor="t">
            <a:normAutofit/>
          </a:bodyPr>
          <a:lstStyle/>
          <a:p>
            <a:pPr algn="l" indent="0" marL="0">
              <a:lnSpc>
                <a:spcPct val="90000"/>
              </a:lnSpc>
              <a:buNone/>
            </a:pPr>
            <a:r>
              <a:rPr lang="en-US" sz="3300" b="1" dirty="0">
                <a:solidFill>
                  <a:srgbClr val="E4002B"/>
                </a:solidFill>
                <a:latin typeface="Barlow" pitchFamily="34" charset="0"/>
                <a:ea typeface="Barlow" pitchFamily="34" charset="-122"/>
                <a:cs typeface="Barlow" pitchFamily="34" charset="-120"/>
              </a:rPr>
              <a:t>✓</a:t>
            </a:r>
            <a:endParaRPr lang="en-US" sz="3300" dirty="0"/>
          </a:p>
        </p:txBody>
      </p:sp>
      <p:sp>
        <p:nvSpPr>
          <p:cNvPr id="13" name="Text 11"/>
          <p:cNvSpPr/>
          <p:nvPr/>
        </p:nvSpPr>
        <p:spPr>
          <a:xfrm>
            <a:off x="2006203" y="8304014"/>
            <a:ext cx="6802529"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b="1" dirty="0">
                <a:solidFill>
                  <a:srgbClr val="27272A"/>
                </a:solidFill>
                <a:latin typeface="Barlow" pitchFamily="34" charset="0"/>
                <a:ea typeface="Barlow" pitchFamily="34" charset="-122"/>
                <a:cs typeface="Barlow" pitchFamily="34" charset="-120"/>
              </a:rPr>
              <a:t>Parametrizable: cuarto frío (55 cm) → góndola central (91 cm), </a:t>
            </a:r>
            <a:pPr algn="l" indent="0" marL="0">
              <a:lnSpc>
                <a:spcPct val="130000"/>
              </a:lnSpc>
              <a:buNone/>
            </a:pPr>
            <a:r>
              <a:rPr lang="en-US" sz="2400" b="1" dirty="0">
                <a:solidFill>
                  <a:srgbClr val="E4002B"/>
                </a:solidFill>
                <a:latin typeface="Barlow" pitchFamily="34" charset="0"/>
                <a:ea typeface="Barlow" pitchFamily="34" charset="-122"/>
                <a:cs typeface="Barlow" pitchFamily="34" charset="-120"/>
              </a:rPr>
              <a:t>sin reprogramar</a:t>
            </a:r>
            <a:pPr algn="l" indent="0" marL="0">
              <a:lnSpc>
                <a:spcPct val="130000"/>
              </a:lnSpc>
              <a:buNone/>
            </a:pPr>
            <a:r>
              <a:rPr lang="en-US" sz="2400" b="1" dirty="0">
                <a:solidFill>
                  <a:srgbClr val="27272A"/>
                </a:solidFill>
                <a:latin typeface="Barlow" pitchFamily="34" charset="0"/>
                <a:ea typeface="Barlow" pitchFamily="34" charset="-122"/>
                <a:cs typeface="Barlow" pitchFamily="34" charset="-120"/>
              </a:rPr>
              <a:t>.</a:t>
            </a:r>
            <a:endParaRPr lang="en-US" sz="2400" dirty="0"/>
          </a:p>
        </p:txBody>
      </p:sp>
      <p:sp>
        <p:nvSpPr>
          <p:cNvPr id="14" name="Shape 12"/>
          <p:cNvSpPr/>
          <p:nvPr/>
        </p:nvSpPr>
        <p:spPr>
          <a:xfrm>
            <a:off x="9267825" y="7913489"/>
            <a:ext cx="7972425" cy="1573411"/>
          </a:xfrm>
          <a:prstGeom prst="roundRect">
            <a:avLst>
              <a:gd name="adj" fmla="val 9686"/>
            </a:avLst>
          </a:prstGeom>
          <a:solidFill>
            <a:srgbClr val="FFFFFF"/>
          </a:solidFill>
          <a:ln w="9525">
            <a:solidFill>
              <a:srgbClr val="E7E5E1"/>
            </a:solidFill>
            <a:prstDash val="solid"/>
          </a:ln>
        </p:spPr>
      </p:sp>
      <p:sp>
        <p:nvSpPr>
          <p:cNvPr id="15" name="Text 13"/>
          <p:cNvSpPr/>
          <p:nvPr/>
        </p:nvSpPr>
        <p:spPr>
          <a:xfrm>
            <a:off x="9677400" y="8304014"/>
            <a:ext cx="396478" cy="415230"/>
          </a:xfrm>
          <a:prstGeom prst="rect">
            <a:avLst/>
          </a:prstGeom>
          <a:noFill/>
          <a:ln/>
        </p:spPr>
        <p:txBody>
          <a:bodyPr wrap="square" lIns="25400" tIns="25400" rIns="25400" bIns="25400" rtlCol="0" anchor="t">
            <a:normAutofit/>
          </a:bodyPr>
          <a:lstStyle/>
          <a:p>
            <a:pPr algn="l" indent="0" marL="0">
              <a:lnSpc>
                <a:spcPct val="90000"/>
              </a:lnSpc>
              <a:buNone/>
            </a:pPr>
            <a:r>
              <a:rPr lang="en-US" sz="3300" b="1" dirty="0">
                <a:solidFill>
                  <a:srgbClr val="E4002B"/>
                </a:solidFill>
                <a:latin typeface="Barlow" pitchFamily="34" charset="0"/>
                <a:ea typeface="Barlow" pitchFamily="34" charset="-122"/>
                <a:cs typeface="Barlow" pitchFamily="34" charset="-120"/>
              </a:rPr>
              <a:t>✓</a:t>
            </a:r>
            <a:endParaRPr lang="en-US" sz="3300" dirty="0"/>
          </a:p>
        </p:txBody>
      </p:sp>
      <p:sp>
        <p:nvSpPr>
          <p:cNvPr id="16" name="Text 14"/>
          <p:cNvSpPr/>
          <p:nvPr/>
        </p:nvSpPr>
        <p:spPr>
          <a:xfrm>
            <a:off x="10226278" y="8304014"/>
            <a:ext cx="481508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b="1" dirty="0">
                <a:solidFill>
                  <a:srgbClr val="27272A"/>
                </a:solidFill>
                <a:latin typeface="Barlow" pitchFamily="34" charset="0"/>
                <a:ea typeface="Barlow" pitchFamily="34" charset="-122"/>
                <a:cs typeface="Barlow" pitchFamily="34" charset="-120"/>
              </a:rPr>
              <a:t>Escala a los </a:t>
            </a:r>
            <a:pPr algn="l" indent="0" marL="0">
              <a:lnSpc>
                <a:spcPct val="130000"/>
              </a:lnSpc>
              <a:buNone/>
            </a:pPr>
            <a:r>
              <a:rPr lang="en-US" sz="2400" b="1" dirty="0">
                <a:solidFill>
                  <a:srgbClr val="E4002B"/>
                </a:solidFill>
                <a:latin typeface="Barlow" pitchFamily="34" charset="0"/>
                <a:ea typeface="Barlow" pitchFamily="34" charset="-122"/>
                <a:cs typeface="Barlow" pitchFamily="34" charset="-120"/>
              </a:rPr>
              <a:t>132 formatos </a:t>
            </a:r>
            <a:pPr algn="l" indent="0" marL="0">
              <a:lnSpc>
                <a:spcPct val="130000"/>
              </a:lnSpc>
              <a:buNone/>
            </a:pPr>
            <a:r>
              <a:rPr lang="en-US" sz="2400" b="1" dirty="0">
                <a:solidFill>
                  <a:srgbClr val="27272A"/>
                </a:solidFill>
                <a:latin typeface="Barlow" pitchFamily="34" charset="0"/>
                <a:ea typeface="Barlow" pitchFamily="34" charset="-122"/>
                <a:cs typeface="Barlow" pitchFamily="34" charset="-120"/>
              </a:rPr>
              <a:t>distintos.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1047750" y="1004887"/>
            <a:ext cx="285750" cy="47625"/>
          </a:xfrm>
          <a:prstGeom prst="roundRect">
            <a:avLst>
              <a:gd name="adj" fmla="val 50000"/>
            </a:avLst>
          </a:prstGeom>
          <a:solidFill>
            <a:srgbClr val="E4002B"/>
          </a:solidFill>
          <a:ln/>
        </p:spPr>
      </p:sp>
      <p:sp>
        <p:nvSpPr>
          <p:cNvPr id="3" name="Text 1"/>
          <p:cNvSpPr/>
          <p:nvPr/>
        </p:nvSpPr>
        <p:spPr>
          <a:xfrm>
            <a:off x="1466850" y="914400"/>
            <a:ext cx="2851632"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25" kern="0" dirty="0">
                <a:solidFill>
                  <a:srgbClr val="E4002B"/>
                </a:solidFill>
                <a:latin typeface="Barlow" pitchFamily="34" charset="0"/>
                <a:ea typeface="Barlow" pitchFamily="34" charset="-122"/>
                <a:cs typeface="Barlow" pitchFamily="34" charset="-120"/>
              </a:rPr>
              <a:t>08 · HACIA ADELANTE</a:t>
            </a:r>
            <a:endParaRPr lang="en-US" sz="1800" dirty="0"/>
          </a:p>
        </p:txBody>
      </p:sp>
      <p:sp>
        <p:nvSpPr>
          <p:cNvPr id="4" name="Text 2"/>
          <p:cNvSpPr/>
          <p:nvPr/>
        </p:nvSpPr>
        <p:spPr>
          <a:xfrm>
            <a:off x="1047750" y="1314450"/>
            <a:ext cx="16678275" cy="751284"/>
          </a:xfrm>
          <a:prstGeom prst="rect">
            <a:avLst/>
          </a:prstGeom>
          <a:noFill/>
          <a:ln/>
        </p:spPr>
        <p:txBody>
          <a:bodyPr wrap="square" lIns="25400" tIns="25400" rIns="25400" bIns="25400" rtlCol="0" anchor="t">
            <a:normAutofit/>
          </a:bodyPr>
          <a:lstStyle/>
          <a:p>
            <a:pPr algn="l" indent="0" marL="0">
              <a:lnSpc>
                <a:spcPct val="104000"/>
              </a:lnSpc>
              <a:buNone/>
            </a:pPr>
            <a:r>
              <a:rPr lang="en-US" sz="5400" b="1" spc="-75" kern="0" dirty="0">
                <a:solidFill>
                  <a:srgbClr val="18181B"/>
                </a:solidFill>
                <a:latin typeface="Barlow" pitchFamily="34" charset="0"/>
                <a:ea typeface="Barlow" pitchFamily="34" charset="-122"/>
                <a:cs typeface="Barlow" pitchFamily="34" charset="-120"/>
              </a:rPr>
              <a:t>Próximos pasos</a:t>
            </a:r>
            <a:endParaRPr lang="en-US" sz="5400" dirty="0"/>
          </a:p>
        </p:txBody>
      </p:sp>
      <p:sp>
        <p:nvSpPr>
          <p:cNvPr id="5" name="Shape 3"/>
          <p:cNvSpPr/>
          <p:nvPr/>
        </p:nvSpPr>
        <p:spPr>
          <a:xfrm>
            <a:off x="1047750" y="3464570"/>
            <a:ext cx="16192500" cy="1266825"/>
          </a:xfrm>
          <a:prstGeom prst="roundRect">
            <a:avLst>
              <a:gd name="adj" fmla="val 12030"/>
            </a:avLst>
          </a:prstGeom>
          <a:solidFill>
            <a:srgbClr val="FFFFFF"/>
          </a:solidFill>
          <a:ln w="9525">
            <a:solidFill>
              <a:srgbClr val="E7E5E1"/>
            </a:solidFill>
            <a:prstDash val="solid"/>
          </a:ln>
        </p:spPr>
      </p:sp>
      <p:sp>
        <p:nvSpPr>
          <p:cNvPr id="6" name="Text 4"/>
          <p:cNvSpPr/>
          <p:nvPr/>
        </p:nvSpPr>
        <p:spPr>
          <a:xfrm>
            <a:off x="1476375" y="3797945"/>
            <a:ext cx="990600" cy="638175"/>
          </a:xfrm>
          <a:prstGeom prst="rect">
            <a:avLst/>
          </a:prstGeom>
          <a:noFill/>
          <a:ln/>
        </p:spPr>
        <p:txBody>
          <a:bodyPr wrap="square" lIns="25400" tIns="25400" rIns="25400" bIns="25400" rtlCol="0" anchor="t">
            <a:normAutofit/>
          </a:bodyPr>
          <a:lstStyle/>
          <a:p>
            <a:pPr algn="l" indent="0" marL="0">
              <a:lnSpc>
                <a:spcPct val="90000"/>
              </a:lnSpc>
              <a:buNone/>
            </a:pPr>
            <a:r>
              <a:rPr lang="en-US" sz="5250" b="1" dirty="0">
                <a:solidFill>
                  <a:srgbClr val="E4002B"/>
                </a:solidFill>
                <a:latin typeface="Barlow Semi Condensed" pitchFamily="34" charset="0"/>
                <a:ea typeface="Barlow Semi Condensed" pitchFamily="34" charset="-122"/>
                <a:cs typeface="Barlow Semi Condensed" pitchFamily="34" charset="-120"/>
              </a:rPr>
              <a:t>01</a:t>
            </a:r>
            <a:endParaRPr lang="en-US" sz="5250" dirty="0"/>
          </a:p>
        </p:txBody>
      </p:sp>
      <p:sp>
        <p:nvSpPr>
          <p:cNvPr id="7" name="Text 5"/>
          <p:cNvSpPr/>
          <p:nvPr/>
        </p:nvSpPr>
        <p:spPr>
          <a:xfrm>
            <a:off x="2714625" y="3887465"/>
            <a:ext cx="10284272" cy="459060"/>
          </a:xfrm>
          <a:prstGeom prst="rect">
            <a:avLst/>
          </a:prstGeom>
          <a:noFill/>
          <a:ln/>
        </p:spPr>
        <p:txBody>
          <a:bodyPr wrap="square" lIns="25400" tIns="25400" rIns="25400" bIns="25400" rtlCol="0" anchor="t">
            <a:normAutofit/>
          </a:bodyPr>
          <a:lstStyle/>
          <a:p>
            <a:pPr algn="l" indent="0" marL="0">
              <a:lnSpc>
                <a:spcPct val="130000"/>
              </a:lnSpc>
              <a:buNone/>
            </a:pPr>
            <a:r>
              <a:rPr lang="en-US" sz="2550" b="1" dirty="0">
                <a:solidFill>
                  <a:srgbClr val="27272A"/>
                </a:solidFill>
                <a:latin typeface="Barlow" pitchFamily="34" charset="0"/>
                <a:ea typeface="Barlow" pitchFamily="34" charset="-122"/>
                <a:cs typeface="Barlow" pitchFamily="34" charset="-120"/>
              </a:rPr>
              <a:t>Incorporar </a:t>
            </a:r>
            <a:pPr algn="l" indent="0" marL="0">
              <a:lnSpc>
                <a:spcPct val="130000"/>
              </a:lnSpc>
              <a:buNone/>
            </a:pPr>
            <a:r>
              <a:rPr lang="en-US" sz="2550" b="1" dirty="0">
                <a:solidFill>
                  <a:srgbClr val="E4002B"/>
                </a:solidFill>
                <a:latin typeface="Barlow" pitchFamily="34" charset="0"/>
                <a:ea typeface="Barlow" pitchFamily="34" charset="-122"/>
                <a:cs typeface="Barlow" pitchFamily="34" charset="-120"/>
              </a:rPr>
              <a:t>demanda y margen reales </a:t>
            </a:r>
            <a:pPr algn="l" indent="0" marL="0">
              <a:lnSpc>
                <a:spcPct val="130000"/>
              </a:lnSpc>
              <a:buNone/>
            </a:pPr>
            <a:r>
              <a:rPr lang="en-US" sz="2550" b="1" dirty="0">
                <a:solidFill>
                  <a:srgbClr val="27272A"/>
                </a:solidFill>
                <a:latin typeface="Barlow" pitchFamily="34" charset="0"/>
                <a:ea typeface="Barlow" pitchFamily="34" charset="-122"/>
                <a:cs typeface="Barlow" pitchFamily="34" charset="-120"/>
              </a:rPr>
              <a:t>— Modelo 2 (por ahora supuestos)</a:t>
            </a:r>
            <a:endParaRPr lang="en-US" sz="2550" dirty="0"/>
          </a:p>
        </p:txBody>
      </p:sp>
      <p:sp>
        <p:nvSpPr>
          <p:cNvPr id="8" name="Shape 6"/>
          <p:cNvSpPr/>
          <p:nvPr/>
        </p:nvSpPr>
        <p:spPr>
          <a:xfrm>
            <a:off x="1047750" y="4940945"/>
            <a:ext cx="16192500" cy="1266825"/>
          </a:xfrm>
          <a:prstGeom prst="roundRect">
            <a:avLst>
              <a:gd name="adj" fmla="val 12030"/>
            </a:avLst>
          </a:prstGeom>
          <a:solidFill>
            <a:srgbClr val="FFFFFF"/>
          </a:solidFill>
          <a:ln w="9525">
            <a:solidFill>
              <a:srgbClr val="E7E5E1"/>
            </a:solidFill>
            <a:prstDash val="solid"/>
          </a:ln>
        </p:spPr>
      </p:sp>
      <p:sp>
        <p:nvSpPr>
          <p:cNvPr id="9" name="Text 7"/>
          <p:cNvSpPr/>
          <p:nvPr/>
        </p:nvSpPr>
        <p:spPr>
          <a:xfrm>
            <a:off x="1476375" y="5274320"/>
            <a:ext cx="990600" cy="638175"/>
          </a:xfrm>
          <a:prstGeom prst="rect">
            <a:avLst/>
          </a:prstGeom>
          <a:noFill/>
          <a:ln/>
        </p:spPr>
        <p:txBody>
          <a:bodyPr wrap="square" lIns="25400" tIns="25400" rIns="25400" bIns="25400" rtlCol="0" anchor="t">
            <a:normAutofit/>
          </a:bodyPr>
          <a:lstStyle/>
          <a:p>
            <a:pPr algn="l" indent="0" marL="0">
              <a:lnSpc>
                <a:spcPct val="90000"/>
              </a:lnSpc>
              <a:buNone/>
            </a:pPr>
            <a:r>
              <a:rPr lang="en-US" sz="5250" b="1" dirty="0">
                <a:solidFill>
                  <a:srgbClr val="E4002B"/>
                </a:solidFill>
                <a:latin typeface="Barlow Semi Condensed" pitchFamily="34" charset="0"/>
                <a:ea typeface="Barlow Semi Condensed" pitchFamily="34" charset="-122"/>
                <a:cs typeface="Barlow Semi Condensed" pitchFamily="34" charset="-120"/>
              </a:rPr>
              <a:t>02</a:t>
            </a:r>
            <a:endParaRPr lang="en-US" sz="5250" dirty="0"/>
          </a:p>
        </p:txBody>
      </p:sp>
      <p:sp>
        <p:nvSpPr>
          <p:cNvPr id="10" name="Text 8"/>
          <p:cNvSpPr/>
          <p:nvPr/>
        </p:nvSpPr>
        <p:spPr>
          <a:xfrm>
            <a:off x="2714625" y="5363840"/>
            <a:ext cx="8062750" cy="459060"/>
          </a:xfrm>
          <a:prstGeom prst="rect">
            <a:avLst/>
          </a:prstGeom>
          <a:noFill/>
          <a:ln/>
        </p:spPr>
        <p:txBody>
          <a:bodyPr wrap="square" lIns="25400" tIns="25400" rIns="25400" bIns="25400" rtlCol="0" anchor="t">
            <a:normAutofit/>
          </a:bodyPr>
          <a:lstStyle/>
          <a:p>
            <a:pPr algn="l" indent="0" marL="0">
              <a:lnSpc>
                <a:spcPct val="130000"/>
              </a:lnSpc>
              <a:buNone/>
            </a:pPr>
            <a:r>
              <a:rPr lang="en-US" sz="2550" b="1" dirty="0">
                <a:solidFill>
                  <a:srgbClr val="27272A"/>
                </a:solidFill>
                <a:latin typeface="Barlow" pitchFamily="34" charset="0"/>
                <a:ea typeface="Barlow" pitchFamily="34" charset="-122"/>
                <a:cs typeface="Barlow" pitchFamily="34" charset="-120"/>
              </a:rPr>
              <a:t>Pasar de “calidad de acomodo” a </a:t>
            </a:r>
            <a:pPr algn="l" indent="0" marL="0">
              <a:lnSpc>
                <a:spcPct val="130000"/>
              </a:lnSpc>
              <a:buNone/>
            </a:pPr>
            <a:r>
              <a:rPr lang="en-US" sz="2550" b="1" dirty="0">
                <a:solidFill>
                  <a:srgbClr val="E4002B"/>
                </a:solidFill>
                <a:latin typeface="Barlow" pitchFamily="34" charset="0"/>
                <a:ea typeface="Barlow" pitchFamily="34" charset="-122"/>
                <a:cs typeface="Barlow" pitchFamily="34" charset="-120"/>
              </a:rPr>
              <a:t>rentabilidad esperada</a:t>
            </a:r>
            <a:pPr algn="l" indent="0" marL="0">
              <a:lnSpc>
                <a:spcPct val="130000"/>
              </a:lnSpc>
              <a:buNone/>
            </a:pPr>
            <a:r>
              <a:rPr lang="en-US" sz="2550" b="1" dirty="0">
                <a:solidFill>
                  <a:srgbClr val="27272A"/>
                </a:solidFill>
                <a:latin typeface="Barlow" pitchFamily="34" charset="0"/>
                <a:ea typeface="Barlow" pitchFamily="34" charset="-122"/>
                <a:cs typeface="Barlow" pitchFamily="34" charset="-120"/>
              </a:rPr>
              <a:t>.</a:t>
            </a:r>
            <a:endParaRPr lang="en-US" sz="2550" dirty="0"/>
          </a:p>
        </p:txBody>
      </p:sp>
      <p:sp>
        <p:nvSpPr>
          <p:cNvPr id="11" name="Shape 9"/>
          <p:cNvSpPr/>
          <p:nvPr/>
        </p:nvSpPr>
        <p:spPr>
          <a:xfrm>
            <a:off x="1047750" y="6417320"/>
            <a:ext cx="16192500" cy="1266825"/>
          </a:xfrm>
          <a:prstGeom prst="roundRect">
            <a:avLst>
              <a:gd name="adj" fmla="val 12030"/>
            </a:avLst>
          </a:prstGeom>
          <a:solidFill>
            <a:srgbClr val="FFFFFF"/>
          </a:solidFill>
          <a:ln w="9525">
            <a:solidFill>
              <a:srgbClr val="E7E5E1"/>
            </a:solidFill>
            <a:prstDash val="solid"/>
          </a:ln>
        </p:spPr>
      </p:sp>
      <p:sp>
        <p:nvSpPr>
          <p:cNvPr id="12" name="Text 10"/>
          <p:cNvSpPr/>
          <p:nvPr/>
        </p:nvSpPr>
        <p:spPr>
          <a:xfrm>
            <a:off x="1476375" y="6750695"/>
            <a:ext cx="990600" cy="638175"/>
          </a:xfrm>
          <a:prstGeom prst="rect">
            <a:avLst/>
          </a:prstGeom>
          <a:noFill/>
          <a:ln/>
        </p:spPr>
        <p:txBody>
          <a:bodyPr wrap="square" lIns="25400" tIns="25400" rIns="25400" bIns="25400" rtlCol="0" anchor="t">
            <a:normAutofit/>
          </a:bodyPr>
          <a:lstStyle/>
          <a:p>
            <a:pPr algn="l" indent="0" marL="0">
              <a:lnSpc>
                <a:spcPct val="90000"/>
              </a:lnSpc>
              <a:buNone/>
            </a:pPr>
            <a:r>
              <a:rPr lang="en-US" sz="5250" b="1" dirty="0">
                <a:solidFill>
                  <a:srgbClr val="E4002B"/>
                </a:solidFill>
                <a:latin typeface="Barlow Semi Condensed" pitchFamily="34" charset="0"/>
                <a:ea typeface="Barlow Semi Condensed" pitchFamily="34" charset="-122"/>
                <a:cs typeface="Barlow Semi Condensed" pitchFamily="34" charset="-120"/>
              </a:rPr>
              <a:t>03</a:t>
            </a:r>
            <a:endParaRPr lang="en-US" sz="5250" dirty="0"/>
          </a:p>
        </p:txBody>
      </p:sp>
      <p:sp>
        <p:nvSpPr>
          <p:cNvPr id="13" name="Text 11"/>
          <p:cNvSpPr/>
          <p:nvPr/>
        </p:nvSpPr>
        <p:spPr>
          <a:xfrm>
            <a:off x="2714625" y="6840215"/>
            <a:ext cx="7849520" cy="459060"/>
          </a:xfrm>
          <a:prstGeom prst="rect">
            <a:avLst/>
          </a:prstGeom>
          <a:noFill/>
          <a:ln/>
        </p:spPr>
        <p:txBody>
          <a:bodyPr wrap="square" lIns="25400" tIns="25400" rIns="25400" bIns="25400" rtlCol="0" anchor="t">
            <a:normAutofit/>
          </a:bodyPr>
          <a:lstStyle/>
          <a:p>
            <a:pPr algn="l" indent="0" marL="0">
              <a:lnSpc>
                <a:spcPct val="130000"/>
              </a:lnSpc>
              <a:buNone/>
            </a:pPr>
            <a:r>
              <a:rPr lang="en-US" sz="2550" b="1" dirty="0">
                <a:solidFill>
                  <a:srgbClr val="27272A"/>
                </a:solidFill>
                <a:latin typeface="Barlow" pitchFamily="34" charset="0"/>
                <a:ea typeface="Barlow" pitchFamily="34" charset="-122"/>
                <a:cs typeface="Barlow" pitchFamily="34" charset="-120"/>
              </a:rPr>
              <a:t>Optimizar también el </a:t>
            </a:r>
            <a:pPr algn="l" indent="0" marL="0">
              <a:lnSpc>
                <a:spcPct val="130000"/>
              </a:lnSpc>
              <a:buNone/>
            </a:pPr>
            <a:r>
              <a:rPr lang="en-US" sz="2550" b="1" dirty="0">
                <a:solidFill>
                  <a:srgbClr val="E4002B"/>
                </a:solidFill>
                <a:latin typeface="Barlow" pitchFamily="34" charset="0"/>
                <a:ea typeface="Barlow" pitchFamily="34" charset="-122"/>
                <a:cs typeface="Barlow" pitchFamily="34" charset="-120"/>
              </a:rPr>
              <a:t>número de frentes </a:t>
            </a:r>
            <a:pPr algn="l" indent="0" marL="0">
              <a:lnSpc>
                <a:spcPct val="130000"/>
              </a:lnSpc>
              <a:buNone/>
            </a:pPr>
            <a:r>
              <a:rPr lang="en-US" sz="2550" b="1" dirty="0">
                <a:solidFill>
                  <a:srgbClr val="27272A"/>
                </a:solidFill>
                <a:latin typeface="Barlow" pitchFamily="34" charset="0"/>
                <a:ea typeface="Barlow" pitchFamily="34" charset="-122"/>
                <a:cs typeface="Barlow" pitchFamily="34" charset="-120"/>
              </a:rPr>
              <a:t>por producto.</a:t>
            </a:r>
            <a:endParaRPr lang="en-US" sz="2550" dirty="0"/>
          </a:p>
        </p:txBody>
      </p:sp>
      <p:sp>
        <p:nvSpPr>
          <p:cNvPr id="14" name="Shape 12"/>
          <p:cNvSpPr/>
          <p:nvPr/>
        </p:nvSpPr>
        <p:spPr>
          <a:xfrm>
            <a:off x="1047750" y="8606805"/>
            <a:ext cx="16192500" cy="880095"/>
          </a:xfrm>
          <a:prstGeom prst="roundRect">
            <a:avLst>
              <a:gd name="adj" fmla="val 15152"/>
            </a:avLst>
          </a:prstGeom>
          <a:solidFill>
            <a:srgbClr val="18181B"/>
          </a:solidFill>
          <a:ln/>
        </p:spPr>
      </p:sp>
      <p:sp>
        <p:nvSpPr>
          <p:cNvPr id="15" name="Text 13"/>
          <p:cNvSpPr/>
          <p:nvPr/>
        </p:nvSpPr>
        <p:spPr>
          <a:xfrm>
            <a:off x="1428750" y="8932515"/>
            <a:ext cx="2667298"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150" kern="0" dirty="0">
                <a:solidFill>
                  <a:srgbClr val="FFE600"/>
                </a:solidFill>
                <a:latin typeface="Barlow" pitchFamily="34" charset="0"/>
                <a:ea typeface="Barlow" pitchFamily="34" charset="-122"/>
                <a:cs typeface="Barlow" pitchFamily="34" charset="-120"/>
              </a:rPr>
              <a:t>LISTO PARA ESCALAR</a:t>
            </a:r>
            <a:endParaRPr lang="en-US" sz="1800" dirty="0"/>
          </a:p>
        </p:txBody>
      </p:sp>
      <p:sp>
        <p:nvSpPr>
          <p:cNvPr id="16" name="Text 14"/>
          <p:cNvSpPr/>
          <p:nvPr/>
        </p:nvSpPr>
        <p:spPr>
          <a:xfrm>
            <a:off x="4227909" y="8873505"/>
            <a:ext cx="9928019" cy="384795"/>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FFFFFF"/>
                </a:solidFill>
                <a:latin typeface="Barlow" pitchFamily="34" charset="0"/>
                <a:ea typeface="Barlow" pitchFamily="34" charset="-122"/>
                <a:cs typeface="Barlow" pitchFamily="34" charset="-120"/>
              </a:rPr>
              <a:t>Hoy usamos valores placeholder; el modelo ya está preparado para los datos reales.</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4002B"/>
        </a:solidFill>
      </p:bgPr>
    </p:bg>
    <p:spTree>
      <p:nvGrpSpPr>
        <p:cNvPr id="1" name=""/>
        <p:cNvGrpSpPr/>
        <p:nvPr/>
      </p:nvGrpSpPr>
      <p:grpSpPr>
        <a:xfrm>
          <a:off x="0" y="0"/>
          <a:ext cx="0" cy="0"/>
          <a:chOff x="0" y="0"/>
          <a:chExt cx="0" cy="0"/>
        </a:xfrm>
      </p:grpSpPr>
      <p:sp>
        <p:nvSpPr>
          <p:cNvPr id="2" name="Shape 0"/>
          <p:cNvSpPr/>
          <p:nvPr/>
        </p:nvSpPr>
        <p:spPr>
          <a:xfrm>
            <a:off x="1047750" y="1085850"/>
            <a:ext cx="323850" cy="57150"/>
          </a:xfrm>
          <a:prstGeom prst="roundRect">
            <a:avLst>
              <a:gd name="adj" fmla="val 50000"/>
            </a:avLst>
          </a:prstGeom>
          <a:solidFill>
            <a:srgbClr val="FFE600"/>
          </a:solidFill>
          <a:ln/>
        </p:spPr>
      </p:sp>
      <p:sp>
        <p:nvSpPr>
          <p:cNvPr id="3" name="Text 1"/>
          <p:cNvSpPr/>
          <p:nvPr/>
        </p:nvSpPr>
        <p:spPr>
          <a:xfrm>
            <a:off x="1504950" y="990600"/>
            <a:ext cx="1056754"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b="1" spc="225" kern="0" dirty="0">
                <a:solidFill>
                  <a:srgbClr val="FFE600"/>
                </a:solidFill>
                <a:latin typeface="Barlow" pitchFamily="34" charset="0"/>
                <a:ea typeface="Barlow" pitchFamily="34" charset="-122"/>
                <a:cs typeface="Barlow" pitchFamily="34" charset="-120"/>
              </a:rPr>
              <a:t>CIERRE</a:t>
            </a:r>
            <a:endParaRPr lang="en-US" sz="1950" dirty="0"/>
          </a:p>
        </p:txBody>
      </p:sp>
      <p:sp>
        <p:nvSpPr>
          <p:cNvPr id="4" name="Text 2"/>
          <p:cNvSpPr/>
          <p:nvPr/>
        </p:nvSpPr>
        <p:spPr>
          <a:xfrm>
            <a:off x="1047750" y="4017913"/>
            <a:ext cx="14716125" cy="1814959"/>
          </a:xfrm>
          <a:prstGeom prst="rect">
            <a:avLst/>
          </a:prstGeom>
          <a:noFill/>
          <a:ln/>
        </p:spPr>
        <p:txBody>
          <a:bodyPr wrap="square" lIns="25400" tIns="25400" rIns="25400" bIns="25400" rtlCol="0" anchor="t">
            <a:normAutofit/>
          </a:bodyPr>
          <a:lstStyle/>
          <a:p>
            <a:pPr algn="l" indent="0" marL="0">
              <a:lnSpc>
                <a:spcPct val="106000"/>
              </a:lnSpc>
              <a:buNone/>
            </a:pPr>
            <a:r>
              <a:rPr lang="en-US" sz="6600" b="1" spc="-112" kern="0" dirty="0">
                <a:solidFill>
                  <a:srgbClr val="FFFFFF"/>
                </a:solidFill>
                <a:latin typeface="Barlow" pitchFamily="34" charset="0"/>
                <a:ea typeface="Barlow" pitchFamily="34" charset="-122"/>
                <a:cs typeface="Barlow" pitchFamily="34" charset="-120"/>
              </a:rPr>
              <a:t>Acomoda como el experto de OXXO </a:t>
            </a:r>
            <a:pPr algn="l" indent="0" marL="0">
              <a:lnSpc>
                <a:spcPct val="106000"/>
              </a:lnSpc>
              <a:buNone/>
            </a:pPr>
            <a:r>
              <a:rPr lang="en-US" sz="6600" b="1" spc="-112" kern="0" dirty="0">
                <a:solidFill>
                  <a:srgbClr val="FFE600"/>
                </a:solidFill>
                <a:latin typeface="Barlow" pitchFamily="34" charset="0"/>
                <a:ea typeface="Barlow" pitchFamily="34" charset="-122"/>
                <a:cs typeface="Barlow" pitchFamily="34" charset="-120"/>
              </a:rPr>
              <a:t>— y mejor — </a:t>
            </a:r>
            <a:pPr algn="l" indent="0" marL="0">
              <a:lnSpc>
                <a:spcPct val="106000"/>
              </a:lnSpc>
              <a:buNone/>
            </a:pPr>
            <a:r>
              <a:rPr lang="en-US" sz="6600" b="1" spc="-112" kern="0" dirty="0">
                <a:solidFill>
                  <a:srgbClr val="FFFFFF"/>
                </a:solidFill>
                <a:latin typeface="Barlow" pitchFamily="34" charset="0"/>
                <a:ea typeface="Barlow" pitchFamily="34" charset="-122"/>
                <a:cs typeface="Barlow" pitchFamily="34" charset="-120"/>
              </a:rPr>
              <a:t>en segundos.</a:t>
            </a:r>
            <a:endParaRPr lang="en-US" sz="6600" dirty="0"/>
          </a:p>
        </p:txBody>
      </p:sp>
      <p:sp>
        <p:nvSpPr>
          <p:cNvPr id="5" name="Text 3"/>
          <p:cNvSpPr/>
          <p:nvPr/>
        </p:nvSpPr>
        <p:spPr>
          <a:xfrm>
            <a:off x="1047750" y="8574435"/>
            <a:ext cx="4641941"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FFFFFF"/>
                </a:solidFill>
                <a:latin typeface="Barlow" pitchFamily="34" charset="0"/>
                <a:ea typeface="Barlow" pitchFamily="34" charset="-122"/>
                <a:cs typeface="Barlow" pitchFamily="34" charset="-120"/>
              </a:rPr>
              <a:t>Gracias · Preguntas</a:t>
            </a:r>
            <a:endParaRPr lang="en-US" sz="3000" dirty="0"/>
          </a:p>
        </p:txBody>
      </p:sp>
      <p:sp>
        <p:nvSpPr>
          <p:cNvPr id="6" name="Text 4"/>
          <p:cNvSpPr/>
          <p:nvPr/>
        </p:nvSpPr>
        <p:spPr>
          <a:xfrm>
            <a:off x="1047750" y="9088785"/>
            <a:ext cx="4641941" cy="36001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alpha val="80000"/>
                  </a:srgbClr>
                </a:solidFill>
                <a:latin typeface="Barlow" pitchFamily="34" charset="0"/>
                <a:ea typeface="Barlow" pitchFamily="34" charset="-122"/>
                <a:cs typeface="Barlow" pitchFamily="34" charset="-120"/>
              </a:rPr>
              <a:t>Equipo · Reto MA2008B · Tec de Monterrey</a:t>
            </a:r>
            <a:endParaRPr lang="en-US" sz="1950" dirty="0"/>
          </a:p>
        </p:txBody>
      </p:sp>
      <p:sp>
        <p:nvSpPr>
          <p:cNvPr id="7" name="Text 5"/>
          <p:cNvSpPr/>
          <p:nvPr/>
        </p:nvSpPr>
        <p:spPr>
          <a:xfrm>
            <a:off x="10159975" y="9113565"/>
            <a:ext cx="7292683" cy="335235"/>
          </a:xfrm>
          <a:prstGeom prst="rect">
            <a:avLst/>
          </a:prstGeom>
          <a:noFill/>
          <a:ln/>
        </p:spPr>
        <p:txBody>
          <a:bodyPr wrap="square" lIns="25400" tIns="25400" rIns="25400" bIns="25400" rtlCol="0" anchor="t">
            <a:normAutofit/>
          </a:bodyPr>
          <a:lstStyle/>
          <a:p>
            <a:pPr algn="l" indent="0" marL="0">
              <a:lnSpc>
                <a:spcPct val="130000"/>
              </a:lnSpc>
              <a:buNone/>
            </a:pPr>
            <a:r>
              <a:rPr lang="en-US" sz="1800" b="1" dirty="0">
                <a:solidFill>
                  <a:srgbClr val="FFFFFF">
                    <a:alpha val="85000"/>
                  </a:srgbClr>
                </a:solidFill>
                <a:latin typeface="Barlow" pitchFamily="34" charset="0"/>
                <a:ea typeface="Barlow" pitchFamily="34" charset="-122"/>
                <a:cs typeface="Barlow" pitchFamily="34" charset="-120"/>
              </a:rPr>
              <a:t>Repositorio: </a:t>
            </a:r>
            <a:pPr algn="l" indent="0" marL="0">
              <a:lnSpc>
                <a:spcPct val="130000"/>
              </a:lnSpc>
              <a:buNone/>
            </a:pPr>
            <a:r>
              <a:rPr lang="en-US" sz="1800" b="1" dirty="0">
                <a:solidFill>
                  <a:srgbClr val="FFE600"/>
                </a:solidFill>
                <a:latin typeface="Barlow" pitchFamily="34" charset="0"/>
                <a:ea typeface="Barlow" pitchFamily="34" charset="-122"/>
                <a:cs typeface="Barlow" pitchFamily="34" charset="-120"/>
              </a:rPr>
              <a:t>https://github.com/DanielLaBanda/RETO_OXXO_OPTINL</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8181B"/>
        </a:solidFill>
      </p:bgPr>
    </p:bg>
    <p:spTree>
      <p:nvGrpSpPr>
        <p:cNvPr id="1" name=""/>
        <p:cNvGrpSpPr/>
        <p:nvPr/>
      </p:nvGrpSpPr>
      <p:grpSpPr>
        <a:xfrm>
          <a:off x="0" y="0"/>
          <a:ext cx="0" cy="0"/>
          <a:chOff x="0" y="0"/>
          <a:chExt cx="0" cy="0"/>
        </a:xfrm>
      </p:grpSpPr>
      <p:sp>
        <p:nvSpPr>
          <p:cNvPr id="2" name="Shape 0"/>
          <p:cNvSpPr/>
          <p:nvPr/>
        </p:nvSpPr>
        <p:spPr>
          <a:xfrm>
            <a:off x="857250" y="785813"/>
            <a:ext cx="285750" cy="47625"/>
          </a:xfrm>
          <a:prstGeom prst="roundRect">
            <a:avLst>
              <a:gd name="adj" fmla="val 50000"/>
            </a:avLst>
          </a:prstGeom>
          <a:solidFill>
            <a:srgbClr val="FFE600"/>
          </a:solidFill>
          <a:ln/>
        </p:spPr>
      </p:sp>
      <p:sp>
        <p:nvSpPr>
          <p:cNvPr id="3" name="Text 1"/>
          <p:cNvSpPr/>
          <p:nvPr/>
        </p:nvSpPr>
        <p:spPr>
          <a:xfrm>
            <a:off x="1276350" y="704850"/>
            <a:ext cx="1593577" cy="247650"/>
          </a:xfrm>
          <a:prstGeom prst="rect">
            <a:avLst/>
          </a:prstGeom>
          <a:noFill/>
          <a:ln/>
        </p:spPr>
        <p:txBody>
          <a:bodyPr wrap="square" lIns="25400" tIns="25400" rIns="25400" bIns="25400" rtlCol="0" anchor="t">
            <a:normAutofit/>
          </a:bodyPr>
          <a:lstStyle/>
          <a:p>
            <a:pPr algn="l" indent="0" marL="0">
              <a:lnSpc>
                <a:spcPct val="100000"/>
              </a:lnSpc>
              <a:buNone/>
            </a:pPr>
            <a:r>
              <a:rPr lang="en-US" sz="1650" b="1" spc="225" kern="0" dirty="0">
                <a:solidFill>
                  <a:srgbClr val="FFE600"/>
                </a:solidFill>
                <a:latin typeface="Barlow" pitchFamily="34" charset="0"/>
                <a:ea typeface="Barlow" pitchFamily="34" charset="-122"/>
                <a:cs typeface="Barlow" pitchFamily="34" charset="-120"/>
              </a:rPr>
              <a:t>ANEXO · Q&amp;A</a:t>
            </a:r>
            <a:endParaRPr lang="en-US" sz="1650" dirty="0"/>
          </a:p>
        </p:txBody>
      </p:sp>
      <p:sp>
        <p:nvSpPr>
          <p:cNvPr id="4" name="Text 2"/>
          <p:cNvSpPr/>
          <p:nvPr/>
        </p:nvSpPr>
        <p:spPr>
          <a:xfrm>
            <a:off x="857250" y="990600"/>
            <a:ext cx="17070705" cy="592782"/>
          </a:xfrm>
          <a:prstGeom prst="rect">
            <a:avLst/>
          </a:prstGeom>
          <a:noFill/>
          <a:ln/>
        </p:spPr>
        <p:txBody>
          <a:bodyPr wrap="square" lIns="25400" tIns="25400" rIns="25400" bIns="25400" rtlCol="0" anchor="t">
            <a:normAutofit/>
          </a:bodyPr>
          <a:lstStyle/>
          <a:p>
            <a:pPr algn="l" indent="0" marL="0">
              <a:lnSpc>
                <a:spcPct val="104000"/>
              </a:lnSpc>
              <a:buNone/>
            </a:pPr>
            <a:r>
              <a:rPr lang="en-US" sz="4200" b="1" spc="-75" kern="0" dirty="0">
                <a:solidFill>
                  <a:srgbClr val="FFFFFF"/>
                </a:solidFill>
                <a:latin typeface="Barlow" pitchFamily="34" charset="0"/>
                <a:ea typeface="Barlow" pitchFamily="34" charset="-122"/>
                <a:cs typeface="Barlow" pitchFamily="34" charset="-120"/>
              </a:rPr>
              <a:t>Formulación completa</a:t>
            </a:r>
            <a:endParaRPr lang="en-US" sz="4200" dirty="0"/>
          </a:p>
        </p:txBody>
      </p:sp>
      <p:sp>
        <p:nvSpPr>
          <p:cNvPr id="5" name="Shape 3"/>
          <p:cNvSpPr/>
          <p:nvPr/>
        </p:nvSpPr>
        <p:spPr>
          <a:xfrm>
            <a:off x="857250" y="1831032"/>
            <a:ext cx="8153400" cy="1049536"/>
          </a:xfrm>
          <a:prstGeom prst="roundRect">
            <a:avLst>
              <a:gd name="adj" fmla="val 12706"/>
            </a:avLst>
          </a:prstGeom>
          <a:solidFill>
            <a:srgbClr val="FFFFFF">
              <a:alpha val="5000"/>
            </a:srgbClr>
          </a:solidFill>
          <a:ln w="9525">
            <a:solidFill>
              <a:srgbClr val="FFFFFF">
                <a:alpha val="14000"/>
              </a:srgbClr>
            </a:solidFill>
            <a:prstDash val="solid"/>
          </a:ln>
        </p:spPr>
      </p:sp>
      <p:sp>
        <p:nvSpPr>
          <p:cNvPr id="6" name="Text 4"/>
          <p:cNvSpPr/>
          <p:nvPr/>
        </p:nvSpPr>
        <p:spPr>
          <a:xfrm>
            <a:off x="1133475" y="2069157"/>
            <a:ext cx="7828979"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spc="150" kern="0" dirty="0">
                <a:solidFill>
                  <a:srgbClr val="FFE600"/>
                </a:solidFill>
                <a:latin typeface="Barlow" pitchFamily="34" charset="0"/>
                <a:ea typeface="Barlow" pitchFamily="34" charset="-122"/>
                <a:cs typeface="Barlow" pitchFamily="34" charset="-120"/>
              </a:rPr>
              <a:t>CONJUNTOS</a:t>
            </a:r>
            <a:endParaRPr lang="en-US" sz="1575" dirty="0"/>
          </a:p>
        </p:txBody>
      </p:sp>
      <p:sp>
        <p:nvSpPr>
          <p:cNvPr id="7" name="Text 5"/>
          <p:cNvSpPr/>
          <p:nvPr/>
        </p:nvSpPr>
        <p:spPr>
          <a:xfrm>
            <a:off x="1095375" y="2443237"/>
            <a:ext cx="232544" cy="21855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P</a:t>
            </a:r>
            <a:endParaRPr lang="en-US" sz="2163" dirty="0"/>
          </a:p>
        </p:txBody>
      </p:sp>
      <p:sp>
        <p:nvSpPr>
          <p:cNvPr id="8" name="Text 6"/>
          <p:cNvSpPr/>
          <p:nvPr/>
        </p:nvSpPr>
        <p:spPr>
          <a:xfrm>
            <a:off x="1328440" y="2515195"/>
            <a:ext cx="273993" cy="112812"/>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9" name="Text 7"/>
          <p:cNvSpPr/>
          <p:nvPr/>
        </p:nvSpPr>
        <p:spPr>
          <a:xfrm>
            <a:off x="1602953" y="2421582"/>
            <a:ext cx="166092" cy="29430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10" name="Text 8"/>
          <p:cNvSpPr/>
          <p:nvPr/>
        </p:nvSpPr>
        <p:spPr>
          <a:xfrm>
            <a:off x="1692846" y="2448223"/>
            <a:ext cx="212229" cy="21356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1</a:t>
            </a:r>
            <a:endParaRPr lang="en-US" sz="2163" dirty="0"/>
          </a:p>
        </p:txBody>
      </p:sp>
      <p:sp>
        <p:nvSpPr>
          <p:cNvPr id="11" name="Text 9"/>
          <p:cNvSpPr/>
          <p:nvPr/>
        </p:nvSpPr>
        <p:spPr>
          <a:xfrm>
            <a:off x="1828874" y="2590502"/>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12" name="Text 10"/>
          <p:cNvSpPr/>
          <p:nvPr/>
        </p:nvSpPr>
        <p:spPr>
          <a:xfrm>
            <a:off x="2018928" y="2592437"/>
            <a:ext cx="319906" cy="7620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13" name="Text 11"/>
          <p:cNvSpPr/>
          <p:nvPr/>
        </p:nvSpPr>
        <p:spPr>
          <a:xfrm>
            <a:off x="2339355" y="2590502"/>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14" name="Text 12"/>
          <p:cNvSpPr/>
          <p:nvPr/>
        </p:nvSpPr>
        <p:spPr>
          <a:xfrm>
            <a:off x="2452688" y="2443237"/>
            <a:ext cx="272355" cy="220712"/>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N</a:t>
            </a:r>
            <a:endParaRPr lang="en-US" sz="2163" dirty="0"/>
          </a:p>
        </p:txBody>
      </p:sp>
      <p:sp>
        <p:nvSpPr>
          <p:cNvPr id="15" name="Text 13"/>
          <p:cNvSpPr/>
          <p:nvPr/>
        </p:nvSpPr>
        <p:spPr>
          <a:xfrm>
            <a:off x="2648843" y="2421582"/>
            <a:ext cx="166092" cy="29430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16" name="Text 14"/>
          <p:cNvSpPr/>
          <p:nvPr/>
        </p:nvSpPr>
        <p:spPr>
          <a:xfrm>
            <a:off x="2803327" y="2429768"/>
            <a:ext cx="681930" cy="292447"/>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prod.</a:t>
            </a:r>
            <a:endParaRPr lang="en-US" sz="2163" dirty="0"/>
          </a:p>
        </p:txBody>
      </p:sp>
      <p:sp>
        <p:nvSpPr>
          <p:cNvPr id="17" name="Text 15"/>
          <p:cNvSpPr/>
          <p:nvPr/>
        </p:nvSpPr>
        <p:spPr>
          <a:xfrm>
            <a:off x="3683719" y="2439963"/>
            <a:ext cx="222945" cy="225921"/>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S</a:t>
            </a:r>
            <a:endParaRPr lang="en-US" sz="2163" dirty="0"/>
          </a:p>
        </p:txBody>
      </p:sp>
      <p:sp>
        <p:nvSpPr>
          <p:cNvPr id="18" name="Text 16"/>
          <p:cNvSpPr/>
          <p:nvPr/>
        </p:nvSpPr>
        <p:spPr>
          <a:xfrm>
            <a:off x="3907185" y="2515195"/>
            <a:ext cx="273993" cy="112812"/>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19" name="Text 17"/>
          <p:cNvSpPr/>
          <p:nvPr/>
        </p:nvSpPr>
        <p:spPr>
          <a:xfrm>
            <a:off x="4181698" y="2421582"/>
            <a:ext cx="166092" cy="29430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20" name="Text 18"/>
          <p:cNvSpPr/>
          <p:nvPr/>
        </p:nvSpPr>
        <p:spPr>
          <a:xfrm>
            <a:off x="4271590" y="2448223"/>
            <a:ext cx="212229" cy="21356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1</a:t>
            </a:r>
            <a:endParaRPr lang="en-US" sz="2163" dirty="0"/>
          </a:p>
        </p:txBody>
      </p:sp>
      <p:sp>
        <p:nvSpPr>
          <p:cNvPr id="21" name="Text 19"/>
          <p:cNvSpPr/>
          <p:nvPr/>
        </p:nvSpPr>
        <p:spPr>
          <a:xfrm>
            <a:off x="4407619" y="2590502"/>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22" name="Text 20"/>
          <p:cNvSpPr/>
          <p:nvPr/>
        </p:nvSpPr>
        <p:spPr>
          <a:xfrm>
            <a:off x="4597673" y="2592437"/>
            <a:ext cx="319906" cy="7620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23" name="Text 21"/>
          <p:cNvSpPr/>
          <p:nvPr/>
        </p:nvSpPr>
        <p:spPr>
          <a:xfrm>
            <a:off x="4918100" y="2590502"/>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24" name="Text 22"/>
          <p:cNvSpPr/>
          <p:nvPr/>
        </p:nvSpPr>
        <p:spPr>
          <a:xfrm>
            <a:off x="5031432" y="2443237"/>
            <a:ext cx="314920" cy="21855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M</a:t>
            </a:r>
            <a:endParaRPr lang="en-US" sz="2163" dirty="0"/>
          </a:p>
        </p:txBody>
      </p:sp>
      <p:sp>
        <p:nvSpPr>
          <p:cNvPr id="25" name="Text 23"/>
          <p:cNvSpPr/>
          <p:nvPr/>
        </p:nvSpPr>
        <p:spPr>
          <a:xfrm>
            <a:off x="5270153" y="2421582"/>
            <a:ext cx="166092" cy="29430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26" name="Text 24"/>
          <p:cNvSpPr/>
          <p:nvPr/>
        </p:nvSpPr>
        <p:spPr>
          <a:xfrm>
            <a:off x="5424636" y="2429768"/>
            <a:ext cx="642938" cy="234702"/>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char.</a:t>
            </a:r>
            <a:endParaRPr lang="en-US" sz="2163" dirty="0"/>
          </a:p>
        </p:txBody>
      </p:sp>
      <p:sp>
        <p:nvSpPr>
          <p:cNvPr id="27" name="Text 25"/>
          <p:cNvSpPr/>
          <p:nvPr/>
        </p:nvSpPr>
        <p:spPr>
          <a:xfrm>
            <a:off x="6055965" y="2421582"/>
            <a:ext cx="174278" cy="29401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28" name="Text 26"/>
          <p:cNvSpPr/>
          <p:nvPr/>
        </p:nvSpPr>
        <p:spPr>
          <a:xfrm>
            <a:off x="6154043" y="2443237"/>
            <a:ext cx="314920" cy="21855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M</a:t>
            </a:r>
            <a:endParaRPr lang="en-US" sz="2163" dirty="0"/>
          </a:p>
        </p:txBody>
      </p:sp>
      <p:sp>
        <p:nvSpPr>
          <p:cNvPr id="29" name="Text 27"/>
          <p:cNvSpPr/>
          <p:nvPr/>
        </p:nvSpPr>
        <p:spPr>
          <a:xfrm>
            <a:off x="6469484" y="2515195"/>
            <a:ext cx="273993" cy="112812"/>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30" name="Text 28"/>
          <p:cNvSpPr/>
          <p:nvPr/>
        </p:nvSpPr>
        <p:spPr>
          <a:xfrm>
            <a:off x="6743998" y="2446288"/>
            <a:ext cx="212229" cy="218777"/>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6</a:t>
            </a:r>
            <a:endParaRPr lang="en-US" sz="2163" dirty="0"/>
          </a:p>
        </p:txBody>
      </p:sp>
      <p:sp>
        <p:nvSpPr>
          <p:cNvPr id="31" name="Text 29"/>
          <p:cNvSpPr/>
          <p:nvPr/>
        </p:nvSpPr>
        <p:spPr>
          <a:xfrm>
            <a:off x="6925866" y="2441897"/>
            <a:ext cx="668462" cy="21989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TAM</a:t>
            </a:r>
            <a:endParaRPr lang="en-US" sz="2163" dirty="0"/>
          </a:p>
        </p:txBody>
      </p:sp>
      <p:sp>
        <p:nvSpPr>
          <p:cNvPr id="32" name="Text 30"/>
          <p:cNvSpPr/>
          <p:nvPr/>
        </p:nvSpPr>
        <p:spPr>
          <a:xfrm>
            <a:off x="7518127" y="2421582"/>
            <a:ext cx="174278" cy="29401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33" name="Text 31"/>
          <p:cNvSpPr/>
          <p:nvPr/>
        </p:nvSpPr>
        <p:spPr>
          <a:xfrm>
            <a:off x="7890867" y="2443237"/>
            <a:ext cx="239167" cy="21855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B</a:t>
            </a:r>
            <a:endParaRPr lang="en-US" sz="2163" dirty="0"/>
          </a:p>
        </p:txBody>
      </p:sp>
      <p:sp>
        <p:nvSpPr>
          <p:cNvPr id="34" name="Text 32"/>
          <p:cNvSpPr/>
          <p:nvPr/>
        </p:nvSpPr>
        <p:spPr>
          <a:xfrm>
            <a:off x="8118425" y="2489671"/>
            <a:ext cx="906661" cy="175096"/>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marcas</a:t>
            </a:r>
            <a:endParaRPr lang="en-US" sz="2163" dirty="0"/>
          </a:p>
        </p:txBody>
      </p:sp>
      <p:sp>
        <p:nvSpPr>
          <p:cNvPr id="35" name="Shape 33"/>
          <p:cNvSpPr/>
          <p:nvPr/>
        </p:nvSpPr>
        <p:spPr>
          <a:xfrm>
            <a:off x="857250" y="3052018"/>
            <a:ext cx="8153400" cy="1060103"/>
          </a:xfrm>
          <a:prstGeom prst="roundRect">
            <a:avLst>
              <a:gd name="adj" fmla="val 12579"/>
            </a:avLst>
          </a:prstGeom>
          <a:solidFill>
            <a:srgbClr val="FFFFFF">
              <a:alpha val="5000"/>
            </a:srgbClr>
          </a:solidFill>
          <a:ln w="9525">
            <a:solidFill>
              <a:srgbClr val="FFFFFF">
                <a:alpha val="14000"/>
              </a:srgbClr>
            </a:solidFill>
            <a:prstDash val="solid"/>
          </a:ln>
        </p:spPr>
      </p:sp>
      <p:sp>
        <p:nvSpPr>
          <p:cNvPr id="36" name="Text 34"/>
          <p:cNvSpPr/>
          <p:nvPr/>
        </p:nvSpPr>
        <p:spPr>
          <a:xfrm>
            <a:off x="1133475" y="3290143"/>
            <a:ext cx="7828979"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spc="150" kern="0" dirty="0">
                <a:solidFill>
                  <a:srgbClr val="FFE600"/>
                </a:solidFill>
                <a:latin typeface="Barlow" pitchFamily="34" charset="0"/>
                <a:ea typeface="Barlow" pitchFamily="34" charset="-122"/>
                <a:cs typeface="Barlow" pitchFamily="34" charset="-120"/>
              </a:rPr>
              <a:t>PARÁMETROS</a:t>
            </a:r>
            <a:endParaRPr lang="en-US" sz="1575" dirty="0"/>
          </a:p>
        </p:txBody>
      </p:sp>
      <p:sp>
        <p:nvSpPr>
          <p:cNvPr id="37" name="Text 35"/>
          <p:cNvSpPr/>
          <p:nvPr/>
        </p:nvSpPr>
        <p:spPr>
          <a:xfrm>
            <a:off x="1290117" y="3711476"/>
            <a:ext cx="228674" cy="173162"/>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a:t>
            </a:r>
            <a:endParaRPr lang="en-US" sz="2163" dirty="0"/>
          </a:p>
        </p:txBody>
      </p:sp>
      <p:sp>
        <p:nvSpPr>
          <p:cNvPr id="38" name="Text 36"/>
          <p:cNvSpPr/>
          <p:nvPr/>
        </p:nvSpPr>
        <p:spPr>
          <a:xfrm>
            <a:off x="1442591" y="3773016"/>
            <a:ext cx="159097" cy="212601"/>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j</a:t>
            </a:r>
            <a:endParaRPr lang="en-US" sz="1514" dirty="0"/>
          </a:p>
        </p:txBody>
      </p:sp>
      <p:sp>
        <p:nvSpPr>
          <p:cNvPr id="39" name="Text 37"/>
          <p:cNvSpPr/>
          <p:nvPr/>
        </p:nvSpPr>
        <p:spPr>
          <a:xfrm>
            <a:off x="1613148" y="3736181"/>
            <a:ext cx="273993" cy="112812"/>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40" name="Text 38"/>
          <p:cNvSpPr/>
          <p:nvPr/>
        </p:nvSpPr>
        <p:spPr>
          <a:xfrm>
            <a:off x="1887662" y="3660949"/>
            <a:ext cx="1077516" cy="225103"/>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ANCHO</a:t>
            </a:r>
            <a:endParaRPr lang="en-US" sz="2163" dirty="0"/>
          </a:p>
        </p:txBody>
      </p:sp>
      <p:sp>
        <p:nvSpPr>
          <p:cNvPr id="41" name="Text 39"/>
          <p:cNvSpPr/>
          <p:nvPr/>
        </p:nvSpPr>
        <p:spPr>
          <a:xfrm>
            <a:off x="2888977" y="3773016"/>
            <a:ext cx="159097" cy="212601"/>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j</a:t>
            </a:r>
            <a:endParaRPr lang="en-US" sz="1514" dirty="0"/>
          </a:p>
        </p:txBody>
      </p:sp>
      <p:sp>
        <p:nvSpPr>
          <p:cNvPr id="42" name="Text 40"/>
          <p:cNvSpPr/>
          <p:nvPr/>
        </p:nvSpPr>
        <p:spPr>
          <a:xfrm>
            <a:off x="3028801" y="3696072"/>
            <a:ext cx="273993" cy="19377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43" name="Text 41"/>
          <p:cNvSpPr/>
          <p:nvPr/>
        </p:nvSpPr>
        <p:spPr>
          <a:xfrm>
            <a:off x="3272582" y="3648819"/>
            <a:ext cx="869007" cy="23693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frentes</a:t>
            </a:r>
            <a:endParaRPr lang="en-US" sz="2163" dirty="0"/>
          </a:p>
        </p:txBody>
      </p:sp>
      <p:sp>
        <p:nvSpPr>
          <p:cNvPr id="44" name="Text 42"/>
          <p:cNvSpPr/>
          <p:nvPr/>
        </p:nvSpPr>
        <p:spPr>
          <a:xfrm>
            <a:off x="4065389" y="3773016"/>
            <a:ext cx="159097" cy="212601"/>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j</a:t>
            </a:r>
            <a:endParaRPr lang="en-US" sz="1514" dirty="0"/>
          </a:p>
        </p:txBody>
      </p:sp>
      <p:sp>
        <p:nvSpPr>
          <p:cNvPr id="45" name="Text 43"/>
          <p:cNvSpPr/>
          <p:nvPr/>
        </p:nvSpPr>
        <p:spPr>
          <a:xfrm>
            <a:off x="4433888" y="3650754"/>
            <a:ext cx="232544" cy="232023"/>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h</a:t>
            </a:r>
            <a:endParaRPr lang="en-US" sz="2163" dirty="0"/>
          </a:p>
        </p:txBody>
      </p:sp>
      <p:sp>
        <p:nvSpPr>
          <p:cNvPr id="46" name="Text 44"/>
          <p:cNvSpPr/>
          <p:nvPr/>
        </p:nvSpPr>
        <p:spPr>
          <a:xfrm>
            <a:off x="4590231" y="3773016"/>
            <a:ext cx="159097" cy="212601"/>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j</a:t>
            </a:r>
            <a:endParaRPr lang="en-US" sz="1514" dirty="0"/>
          </a:p>
        </p:txBody>
      </p:sp>
      <p:sp>
        <p:nvSpPr>
          <p:cNvPr id="47" name="Text 45"/>
          <p:cNvSpPr/>
          <p:nvPr/>
        </p:nvSpPr>
        <p:spPr>
          <a:xfrm>
            <a:off x="4958730" y="3664223"/>
            <a:ext cx="327050" cy="220191"/>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W</a:t>
            </a:r>
            <a:endParaRPr lang="en-US" sz="2163" dirty="0"/>
          </a:p>
        </p:txBody>
      </p:sp>
      <p:sp>
        <p:nvSpPr>
          <p:cNvPr id="48" name="Text 46"/>
          <p:cNvSpPr/>
          <p:nvPr/>
        </p:nvSpPr>
        <p:spPr>
          <a:xfrm>
            <a:off x="5286301" y="3695551"/>
            <a:ext cx="273993" cy="194295"/>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49" name="Text 47"/>
          <p:cNvSpPr/>
          <p:nvPr/>
        </p:nvSpPr>
        <p:spPr>
          <a:xfrm>
            <a:off x="5560814" y="3642568"/>
            <a:ext cx="166092" cy="29430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50" name="Text 48"/>
          <p:cNvSpPr/>
          <p:nvPr/>
        </p:nvSpPr>
        <p:spPr>
          <a:xfrm>
            <a:off x="5650706" y="3671664"/>
            <a:ext cx="348183" cy="21461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55</a:t>
            </a:r>
            <a:endParaRPr lang="en-US" sz="2163" dirty="0"/>
          </a:p>
        </p:txBody>
      </p:sp>
      <p:sp>
        <p:nvSpPr>
          <p:cNvPr id="51" name="Text 49"/>
          <p:cNvSpPr/>
          <p:nvPr/>
        </p:nvSpPr>
        <p:spPr>
          <a:xfrm>
            <a:off x="5922690" y="3811488"/>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52" name="Text 50"/>
          <p:cNvSpPr/>
          <p:nvPr/>
        </p:nvSpPr>
        <p:spPr>
          <a:xfrm>
            <a:off x="6036022" y="3667274"/>
            <a:ext cx="348183" cy="219001"/>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91</a:t>
            </a:r>
            <a:endParaRPr lang="en-US" sz="2163" dirty="0"/>
          </a:p>
        </p:txBody>
      </p:sp>
      <p:sp>
        <p:nvSpPr>
          <p:cNvPr id="53" name="Text 51"/>
          <p:cNvSpPr/>
          <p:nvPr/>
        </p:nvSpPr>
        <p:spPr>
          <a:xfrm>
            <a:off x="6308006" y="3642568"/>
            <a:ext cx="166092" cy="29430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54" name="Text 52"/>
          <p:cNvSpPr/>
          <p:nvPr/>
        </p:nvSpPr>
        <p:spPr>
          <a:xfrm>
            <a:off x="6462489" y="3711476"/>
            <a:ext cx="432792" cy="17398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cm</a:t>
            </a:r>
            <a:endParaRPr lang="en-US" sz="2163" dirty="0"/>
          </a:p>
        </p:txBody>
      </p:sp>
      <p:sp>
        <p:nvSpPr>
          <p:cNvPr id="55" name="Text 53"/>
          <p:cNvSpPr/>
          <p:nvPr/>
        </p:nvSpPr>
        <p:spPr>
          <a:xfrm>
            <a:off x="7093744" y="3714750"/>
            <a:ext cx="275927" cy="16966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w</a:t>
            </a:r>
            <a:endParaRPr lang="en-US" sz="2163" dirty="0"/>
          </a:p>
        </p:txBody>
      </p:sp>
      <p:sp>
        <p:nvSpPr>
          <p:cNvPr id="56" name="Text 54"/>
          <p:cNvSpPr/>
          <p:nvPr/>
        </p:nvSpPr>
        <p:spPr>
          <a:xfrm>
            <a:off x="7293471" y="3779565"/>
            <a:ext cx="171376" cy="160883"/>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1</a:t>
            </a:r>
            <a:endParaRPr lang="en-US" sz="1514" dirty="0"/>
          </a:p>
        </p:txBody>
      </p:sp>
      <p:sp>
        <p:nvSpPr>
          <p:cNvPr id="57" name="Text 55"/>
          <p:cNvSpPr/>
          <p:nvPr/>
        </p:nvSpPr>
        <p:spPr>
          <a:xfrm>
            <a:off x="7399586" y="3811488"/>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58" name="Text 56"/>
          <p:cNvSpPr/>
          <p:nvPr/>
        </p:nvSpPr>
        <p:spPr>
          <a:xfrm>
            <a:off x="7512918" y="3714750"/>
            <a:ext cx="275927" cy="16966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w</a:t>
            </a:r>
            <a:endParaRPr lang="en-US" sz="2163" dirty="0"/>
          </a:p>
        </p:txBody>
      </p:sp>
      <p:sp>
        <p:nvSpPr>
          <p:cNvPr id="59" name="Text 57"/>
          <p:cNvSpPr/>
          <p:nvPr/>
        </p:nvSpPr>
        <p:spPr>
          <a:xfrm>
            <a:off x="7712646" y="3778597"/>
            <a:ext cx="171376" cy="161851"/>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2</a:t>
            </a:r>
            <a:endParaRPr lang="en-US" sz="1514" dirty="0"/>
          </a:p>
        </p:txBody>
      </p:sp>
      <p:sp>
        <p:nvSpPr>
          <p:cNvPr id="60" name="Text 58"/>
          <p:cNvSpPr/>
          <p:nvPr/>
        </p:nvSpPr>
        <p:spPr>
          <a:xfrm>
            <a:off x="7818760" y="3811488"/>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61" name="Text 59"/>
          <p:cNvSpPr/>
          <p:nvPr/>
        </p:nvSpPr>
        <p:spPr>
          <a:xfrm>
            <a:off x="7932093" y="3714750"/>
            <a:ext cx="275927" cy="16966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w</a:t>
            </a:r>
            <a:endParaRPr lang="en-US" sz="2163" dirty="0"/>
          </a:p>
        </p:txBody>
      </p:sp>
      <p:sp>
        <p:nvSpPr>
          <p:cNvPr id="62" name="Text 60"/>
          <p:cNvSpPr/>
          <p:nvPr/>
        </p:nvSpPr>
        <p:spPr>
          <a:xfrm>
            <a:off x="8131820" y="3778597"/>
            <a:ext cx="171376" cy="164306"/>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3</a:t>
            </a:r>
            <a:endParaRPr lang="en-US" sz="1514" dirty="0"/>
          </a:p>
        </p:txBody>
      </p:sp>
      <p:sp>
        <p:nvSpPr>
          <p:cNvPr id="63" name="Text 61"/>
          <p:cNvSpPr/>
          <p:nvPr/>
        </p:nvSpPr>
        <p:spPr>
          <a:xfrm>
            <a:off x="8237934" y="3811488"/>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64" name="Text 62"/>
          <p:cNvSpPr/>
          <p:nvPr/>
        </p:nvSpPr>
        <p:spPr>
          <a:xfrm>
            <a:off x="8351267" y="3712592"/>
            <a:ext cx="226516" cy="229791"/>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ρ</a:t>
            </a:r>
            <a:endParaRPr lang="en-US" sz="2163" dirty="0"/>
          </a:p>
        </p:txBody>
      </p:sp>
      <p:sp>
        <p:nvSpPr>
          <p:cNvPr id="65" name="Shape 63"/>
          <p:cNvSpPr/>
          <p:nvPr/>
        </p:nvSpPr>
        <p:spPr>
          <a:xfrm>
            <a:off x="857250" y="4283571"/>
            <a:ext cx="8153400" cy="1060103"/>
          </a:xfrm>
          <a:prstGeom prst="roundRect">
            <a:avLst>
              <a:gd name="adj" fmla="val 12579"/>
            </a:avLst>
          </a:prstGeom>
          <a:solidFill>
            <a:srgbClr val="FFFFFF">
              <a:alpha val="5000"/>
            </a:srgbClr>
          </a:solidFill>
          <a:ln w="9525">
            <a:solidFill>
              <a:srgbClr val="FFFFFF">
                <a:alpha val="14000"/>
              </a:srgbClr>
            </a:solidFill>
            <a:prstDash val="solid"/>
          </a:ln>
        </p:spPr>
      </p:sp>
      <p:sp>
        <p:nvSpPr>
          <p:cNvPr id="66" name="Text 64"/>
          <p:cNvSpPr/>
          <p:nvPr/>
        </p:nvSpPr>
        <p:spPr>
          <a:xfrm>
            <a:off x="1133475" y="4521696"/>
            <a:ext cx="7828979"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spc="150" kern="0" dirty="0">
                <a:solidFill>
                  <a:srgbClr val="FFE600"/>
                </a:solidFill>
                <a:latin typeface="Barlow" pitchFamily="34" charset="0"/>
                <a:ea typeface="Barlow" pitchFamily="34" charset="-122"/>
                <a:cs typeface="Barlow" pitchFamily="34" charset="-120"/>
              </a:rPr>
              <a:t>VARIABLES</a:t>
            </a:r>
            <a:endParaRPr lang="en-US" sz="1575" dirty="0"/>
          </a:p>
        </p:txBody>
      </p:sp>
      <p:sp>
        <p:nvSpPr>
          <p:cNvPr id="67" name="Text 65"/>
          <p:cNvSpPr/>
          <p:nvPr/>
        </p:nvSpPr>
        <p:spPr>
          <a:xfrm>
            <a:off x="2170509" y="4946303"/>
            <a:ext cx="229791" cy="168027"/>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x</a:t>
            </a:r>
            <a:endParaRPr lang="en-US" sz="2163" dirty="0"/>
          </a:p>
        </p:txBody>
      </p:sp>
      <p:sp>
        <p:nvSpPr>
          <p:cNvPr id="68" name="Text 66"/>
          <p:cNvSpPr/>
          <p:nvPr/>
        </p:nvSpPr>
        <p:spPr>
          <a:xfrm>
            <a:off x="2324100" y="5004569"/>
            <a:ext cx="128885" cy="167432"/>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i</a:t>
            </a:r>
            <a:endParaRPr lang="en-US" sz="1514" dirty="0"/>
          </a:p>
        </p:txBody>
      </p:sp>
      <p:sp>
        <p:nvSpPr>
          <p:cNvPr id="69" name="Text 67"/>
          <p:cNvSpPr/>
          <p:nvPr/>
        </p:nvSpPr>
        <p:spPr>
          <a:xfrm>
            <a:off x="2376785" y="5004569"/>
            <a:ext cx="159097" cy="212601"/>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j</a:t>
            </a:r>
            <a:endParaRPr lang="en-US" sz="1514" dirty="0"/>
          </a:p>
        </p:txBody>
      </p:sp>
      <p:sp>
        <p:nvSpPr>
          <p:cNvPr id="70" name="Text 68"/>
          <p:cNvSpPr/>
          <p:nvPr/>
        </p:nvSpPr>
        <p:spPr>
          <a:xfrm>
            <a:off x="2547342" y="4927104"/>
            <a:ext cx="273993" cy="194295"/>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71" name="Text 69"/>
          <p:cNvSpPr/>
          <p:nvPr/>
        </p:nvSpPr>
        <p:spPr>
          <a:xfrm>
            <a:off x="2821856" y="4874121"/>
            <a:ext cx="166092" cy="29430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72" name="Text 70"/>
          <p:cNvSpPr/>
          <p:nvPr/>
        </p:nvSpPr>
        <p:spPr>
          <a:xfrm>
            <a:off x="2911748" y="4899943"/>
            <a:ext cx="212229" cy="217363"/>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0</a:t>
            </a:r>
            <a:endParaRPr lang="en-US" sz="2163" dirty="0"/>
          </a:p>
        </p:txBody>
      </p:sp>
      <p:sp>
        <p:nvSpPr>
          <p:cNvPr id="73" name="Text 71"/>
          <p:cNvSpPr/>
          <p:nvPr/>
        </p:nvSpPr>
        <p:spPr>
          <a:xfrm>
            <a:off x="3047777" y="5043041"/>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74" name="Text 72"/>
          <p:cNvSpPr/>
          <p:nvPr/>
        </p:nvSpPr>
        <p:spPr>
          <a:xfrm>
            <a:off x="3161109" y="4900761"/>
            <a:ext cx="212229" cy="21356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1</a:t>
            </a:r>
            <a:endParaRPr lang="en-US" sz="2163" dirty="0"/>
          </a:p>
        </p:txBody>
      </p:sp>
      <p:sp>
        <p:nvSpPr>
          <p:cNvPr id="75" name="Text 73"/>
          <p:cNvSpPr/>
          <p:nvPr/>
        </p:nvSpPr>
        <p:spPr>
          <a:xfrm>
            <a:off x="3297138" y="4874121"/>
            <a:ext cx="166092" cy="29430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76" name="Text 74"/>
          <p:cNvSpPr/>
          <p:nvPr/>
        </p:nvSpPr>
        <p:spPr>
          <a:xfrm>
            <a:off x="3661693" y="4943029"/>
            <a:ext cx="240506" cy="231725"/>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p</a:t>
            </a:r>
            <a:endParaRPr lang="en-US" sz="2163" dirty="0"/>
          </a:p>
        </p:txBody>
      </p:sp>
      <p:sp>
        <p:nvSpPr>
          <p:cNvPr id="77" name="Text 75"/>
          <p:cNvSpPr/>
          <p:nvPr/>
        </p:nvSpPr>
        <p:spPr>
          <a:xfrm>
            <a:off x="3825999" y="5051227"/>
            <a:ext cx="128885" cy="167432"/>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i</a:t>
            </a:r>
            <a:endParaRPr lang="en-US" sz="1514" dirty="0"/>
          </a:p>
        </p:txBody>
      </p:sp>
      <p:sp>
        <p:nvSpPr>
          <p:cNvPr id="78" name="Text 76"/>
          <p:cNvSpPr/>
          <p:nvPr/>
        </p:nvSpPr>
        <p:spPr>
          <a:xfrm>
            <a:off x="3878684" y="5051227"/>
            <a:ext cx="159097" cy="212601"/>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j</a:t>
            </a:r>
            <a:endParaRPr lang="en-US" sz="1514" dirty="0"/>
          </a:p>
        </p:txBody>
      </p:sp>
      <p:sp>
        <p:nvSpPr>
          <p:cNvPr id="79" name="Text 77"/>
          <p:cNvSpPr/>
          <p:nvPr/>
        </p:nvSpPr>
        <p:spPr>
          <a:xfrm>
            <a:off x="4049241" y="4927104"/>
            <a:ext cx="273993" cy="194295"/>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80" name="Text 78"/>
          <p:cNvSpPr/>
          <p:nvPr/>
        </p:nvSpPr>
        <p:spPr>
          <a:xfrm>
            <a:off x="4323755" y="4895776"/>
            <a:ext cx="242739" cy="21855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Z</a:t>
            </a:r>
            <a:endParaRPr lang="en-US" sz="2163" dirty="0"/>
          </a:p>
        </p:txBody>
      </p:sp>
      <p:sp>
        <p:nvSpPr>
          <p:cNvPr id="81" name="Text 79"/>
          <p:cNvSpPr/>
          <p:nvPr/>
        </p:nvSpPr>
        <p:spPr>
          <a:xfrm>
            <a:off x="4543202" y="5014168"/>
            <a:ext cx="214685" cy="178147"/>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a:t>
            </a:r>
            <a:endParaRPr lang="en-US" sz="1514" dirty="0"/>
          </a:p>
        </p:txBody>
      </p:sp>
      <p:sp>
        <p:nvSpPr>
          <p:cNvPr id="82" name="Text 80"/>
          <p:cNvSpPr/>
          <p:nvPr/>
        </p:nvSpPr>
        <p:spPr>
          <a:xfrm>
            <a:off x="4734595" y="5010522"/>
            <a:ext cx="171376" cy="163562"/>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0</a:t>
            </a:r>
            <a:endParaRPr lang="en-US" sz="1514" dirty="0"/>
          </a:p>
        </p:txBody>
      </p:sp>
      <p:sp>
        <p:nvSpPr>
          <p:cNvPr id="83" name="Text 81"/>
          <p:cNvSpPr/>
          <p:nvPr/>
        </p:nvSpPr>
        <p:spPr>
          <a:xfrm>
            <a:off x="5115371" y="4874121"/>
            <a:ext cx="1321445" cy="29401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(no lineal:</a:t>
            </a:r>
            <a:endParaRPr lang="en-US" sz="2163" dirty="0"/>
          </a:p>
        </p:txBody>
      </p:sp>
      <p:sp>
        <p:nvSpPr>
          <p:cNvPr id="84" name="Text 82"/>
          <p:cNvSpPr/>
          <p:nvPr/>
        </p:nvSpPr>
        <p:spPr>
          <a:xfrm>
            <a:off x="6360616" y="4946303"/>
            <a:ext cx="216322" cy="232544"/>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y</a:t>
            </a:r>
            <a:endParaRPr lang="en-US" sz="2163" dirty="0"/>
          </a:p>
        </p:txBody>
      </p:sp>
      <p:sp>
        <p:nvSpPr>
          <p:cNvPr id="85" name="Text 83"/>
          <p:cNvSpPr/>
          <p:nvPr/>
        </p:nvSpPr>
        <p:spPr>
          <a:xfrm>
            <a:off x="6500738" y="5055319"/>
            <a:ext cx="159097" cy="212601"/>
          </a:xfrm>
          <a:prstGeom prst="rect">
            <a:avLst/>
          </a:prstGeom>
          <a:noFill/>
          <a:ln/>
        </p:spPr>
        <p:txBody>
          <a:bodyPr wrap="square" lIns="25400" tIns="25400" rIns="25400" bIns="25400" rtlCol="0" anchor="t">
            <a:normAutofit/>
          </a:bodyPr>
          <a:lstStyle/>
          <a:p>
            <a:pPr algn="ctr" indent="0" marL="0">
              <a:buNone/>
            </a:pPr>
            <a:r>
              <a:rPr lang="en-US" sz="1514" dirty="0">
                <a:solidFill>
                  <a:srgbClr val="FFFFFF"/>
                </a:solidFill>
                <a:latin typeface="Cambria Math" pitchFamily="34" charset="0"/>
                <a:ea typeface="Cambria Math" pitchFamily="34" charset="-122"/>
                <a:cs typeface="Cambria Math" pitchFamily="34" charset="-120"/>
              </a:rPr>
              <a:t>j</a:t>
            </a:r>
            <a:endParaRPr lang="en-US" sz="1514" dirty="0"/>
          </a:p>
        </p:txBody>
      </p:sp>
      <p:sp>
        <p:nvSpPr>
          <p:cNvPr id="86" name="Text 84"/>
          <p:cNvSpPr/>
          <p:nvPr/>
        </p:nvSpPr>
        <p:spPr>
          <a:xfrm>
            <a:off x="6671295" y="4927104"/>
            <a:ext cx="273993" cy="194295"/>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87" name="Text 85"/>
          <p:cNvSpPr/>
          <p:nvPr/>
        </p:nvSpPr>
        <p:spPr>
          <a:xfrm>
            <a:off x="6945809" y="4874121"/>
            <a:ext cx="172120" cy="29401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88" name="Text 86"/>
          <p:cNvSpPr/>
          <p:nvPr/>
        </p:nvSpPr>
        <p:spPr>
          <a:xfrm>
            <a:off x="7041728" y="4899943"/>
            <a:ext cx="212229" cy="217363"/>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0</a:t>
            </a:r>
            <a:endParaRPr lang="en-US" sz="2163" dirty="0"/>
          </a:p>
        </p:txBody>
      </p:sp>
      <p:sp>
        <p:nvSpPr>
          <p:cNvPr id="89" name="Text 87"/>
          <p:cNvSpPr/>
          <p:nvPr/>
        </p:nvSpPr>
        <p:spPr>
          <a:xfrm>
            <a:off x="7177757" y="5043041"/>
            <a:ext cx="143545" cy="10752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90" name="Text 88"/>
          <p:cNvSpPr/>
          <p:nvPr/>
        </p:nvSpPr>
        <p:spPr>
          <a:xfrm>
            <a:off x="7291090" y="4900761"/>
            <a:ext cx="212229" cy="213568"/>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1</a:t>
            </a:r>
            <a:endParaRPr lang="en-US" sz="2163" dirty="0"/>
          </a:p>
        </p:txBody>
      </p:sp>
      <p:sp>
        <p:nvSpPr>
          <p:cNvPr id="91" name="Text 89"/>
          <p:cNvSpPr/>
          <p:nvPr/>
        </p:nvSpPr>
        <p:spPr>
          <a:xfrm>
            <a:off x="7427119" y="4874121"/>
            <a:ext cx="172120" cy="29401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92" name="Text 90"/>
          <p:cNvSpPr/>
          <p:nvPr/>
        </p:nvSpPr>
        <p:spPr>
          <a:xfrm>
            <a:off x="7523038" y="4874121"/>
            <a:ext cx="174278" cy="294010"/>
          </a:xfrm>
          <a:prstGeom prst="rect">
            <a:avLst/>
          </a:prstGeom>
          <a:noFill/>
          <a:ln/>
        </p:spPr>
        <p:txBody>
          <a:bodyPr wrap="square" lIns="25400" tIns="25400" rIns="25400" bIns="25400" rtlCol="0" anchor="t">
            <a:normAutofit/>
          </a:bodyPr>
          <a:lstStyle/>
          <a:p>
            <a:pPr algn="ctr" indent="0" marL="0">
              <a:buNone/>
            </a:pPr>
            <a:r>
              <a:rPr lang="en-US" sz="2163" dirty="0">
                <a:solidFill>
                  <a:srgbClr val="FFFFFF"/>
                </a:solidFill>
                <a:latin typeface="Cambria Math" pitchFamily="34" charset="0"/>
                <a:ea typeface="Cambria Math" pitchFamily="34" charset="-122"/>
                <a:cs typeface="Cambria Math" pitchFamily="34" charset="-120"/>
              </a:rPr>
              <a:t>)</a:t>
            </a:r>
            <a:endParaRPr lang="en-US" sz="2163" dirty="0"/>
          </a:p>
        </p:txBody>
      </p:sp>
      <p:sp>
        <p:nvSpPr>
          <p:cNvPr id="93" name="Shape 91"/>
          <p:cNvSpPr/>
          <p:nvPr/>
        </p:nvSpPr>
        <p:spPr>
          <a:xfrm>
            <a:off x="9277350" y="1831032"/>
            <a:ext cx="8153400" cy="6611541"/>
          </a:xfrm>
          <a:prstGeom prst="roundRect">
            <a:avLst>
              <a:gd name="adj" fmla="val 2017"/>
            </a:avLst>
          </a:prstGeom>
          <a:solidFill>
            <a:srgbClr val="FFFFFF">
              <a:alpha val="5000"/>
            </a:srgbClr>
          </a:solidFill>
          <a:ln w="9525">
            <a:solidFill>
              <a:srgbClr val="FFFFFF">
                <a:alpha val="14000"/>
              </a:srgbClr>
            </a:solidFill>
            <a:prstDash val="solid"/>
          </a:ln>
        </p:spPr>
      </p:sp>
      <p:sp>
        <p:nvSpPr>
          <p:cNvPr id="94" name="Text 92"/>
          <p:cNvSpPr/>
          <p:nvPr/>
        </p:nvSpPr>
        <p:spPr>
          <a:xfrm>
            <a:off x="9553575" y="2069157"/>
            <a:ext cx="7828979"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spc="150" kern="0" dirty="0">
                <a:solidFill>
                  <a:srgbClr val="FFE600"/>
                </a:solidFill>
                <a:latin typeface="Barlow" pitchFamily="34" charset="0"/>
                <a:ea typeface="Barlow" pitchFamily="34" charset="-122"/>
                <a:cs typeface="Barlow" pitchFamily="34" charset="-120"/>
              </a:rPr>
              <a:t>RESTRICCIONES</a:t>
            </a:r>
            <a:endParaRPr lang="en-US" sz="1575" dirty="0"/>
          </a:p>
        </p:txBody>
      </p:sp>
      <p:sp>
        <p:nvSpPr>
          <p:cNvPr id="95" name="Text 93"/>
          <p:cNvSpPr/>
          <p:nvPr/>
        </p:nvSpPr>
        <p:spPr>
          <a:xfrm>
            <a:off x="9553575" y="2459682"/>
            <a:ext cx="269825"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dirty="0">
                <a:solidFill>
                  <a:srgbClr val="A1A1AA"/>
                </a:solidFill>
                <a:latin typeface="Barlow" pitchFamily="34" charset="0"/>
                <a:ea typeface="Barlow" pitchFamily="34" charset="-122"/>
                <a:cs typeface="Barlow" pitchFamily="34" charset="-120"/>
              </a:rPr>
              <a:t>R1</a:t>
            </a:r>
            <a:endParaRPr lang="en-US" sz="1575" dirty="0"/>
          </a:p>
        </p:txBody>
      </p:sp>
      <p:sp>
        <p:nvSpPr>
          <p:cNvPr id="96" name="Text 94"/>
          <p:cNvSpPr/>
          <p:nvPr/>
        </p:nvSpPr>
        <p:spPr>
          <a:xfrm>
            <a:off x="9928175" y="2346275"/>
            <a:ext cx="344835" cy="333598"/>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97" name="Text 95"/>
          <p:cNvSpPr/>
          <p:nvPr/>
        </p:nvSpPr>
        <p:spPr>
          <a:xfrm>
            <a:off x="10196810" y="2552477"/>
            <a:ext cx="162818" cy="220414"/>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j</a:t>
            </a:r>
            <a:endParaRPr lang="en-US" sz="1582" dirty="0"/>
          </a:p>
        </p:txBody>
      </p:sp>
      <p:sp>
        <p:nvSpPr>
          <p:cNvPr id="98" name="Text 96"/>
          <p:cNvSpPr/>
          <p:nvPr/>
        </p:nvSpPr>
        <p:spPr>
          <a:xfrm>
            <a:off x="10342513" y="2431479"/>
            <a:ext cx="235521" cy="179189"/>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a:t>
            </a:r>
            <a:endParaRPr lang="en-US" sz="2260" dirty="0"/>
          </a:p>
        </p:txBody>
      </p:sp>
      <p:sp>
        <p:nvSpPr>
          <p:cNvPr id="99" name="Text 97"/>
          <p:cNvSpPr/>
          <p:nvPr/>
        </p:nvSpPr>
        <p:spPr>
          <a:xfrm>
            <a:off x="10501833" y="2495699"/>
            <a:ext cx="162818" cy="220414"/>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j</a:t>
            </a:r>
            <a:endParaRPr lang="en-US" sz="1582" dirty="0"/>
          </a:p>
        </p:txBody>
      </p:sp>
      <p:sp>
        <p:nvSpPr>
          <p:cNvPr id="100" name="Text 98"/>
          <p:cNvSpPr/>
          <p:nvPr/>
        </p:nvSpPr>
        <p:spPr>
          <a:xfrm>
            <a:off x="10599911" y="2434977"/>
            <a:ext cx="236637" cy="173757"/>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x</a:t>
            </a:r>
            <a:endParaRPr lang="en-US" sz="2260" dirty="0"/>
          </a:p>
        </p:txBody>
      </p:sp>
      <p:sp>
        <p:nvSpPr>
          <p:cNvPr id="101" name="Text 99"/>
          <p:cNvSpPr/>
          <p:nvPr/>
        </p:nvSpPr>
        <p:spPr>
          <a:xfrm>
            <a:off x="10760348" y="2495699"/>
            <a:ext cx="131266" cy="173236"/>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i</a:t>
            </a:r>
            <a:endParaRPr lang="en-US" sz="1582" dirty="0"/>
          </a:p>
        </p:txBody>
      </p:sp>
      <p:sp>
        <p:nvSpPr>
          <p:cNvPr id="102" name="Text 100"/>
          <p:cNvSpPr/>
          <p:nvPr/>
        </p:nvSpPr>
        <p:spPr>
          <a:xfrm>
            <a:off x="10815414" y="2495699"/>
            <a:ext cx="162818" cy="220414"/>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j</a:t>
            </a:r>
            <a:endParaRPr lang="en-US" sz="1582" dirty="0"/>
          </a:p>
        </p:txBody>
      </p:sp>
      <p:sp>
        <p:nvSpPr>
          <p:cNvPr id="103" name="Text 101"/>
          <p:cNvSpPr/>
          <p:nvPr/>
        </p:nvSpPr>
        <p:spPr>
          <a:xfrm>
            <a:off x="10976967" y="2410569"/>
            <a:ext cx="282848" cy="209624"/>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04" name="Text 102"/>
          <p:cNvSpPr/>
          <p:nvPr/>
        </p:nvSpPr>
        <p:spPr>
          <a:xfrm>
            <a:off x="11247090" y="2378720"/>
            <a:ext cx="563761" cy="234255"/>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SEP</a:t>
            </a:r>
            <a:endParaRPr lang="en-US" sz="2260" dirty="0"/>
          </a:p>
        </p:txBody>
      </p:sp>
      <p:sp>
        <p:nvSpPr>
          <p:cNvPr id="105" name="Text 103"/>
          <p:cNvSpPr/>
          <p:nvPr/>
        </p:nvSpPr>
        <p:spPr>
          <a:xfrm>
            <a:off x="11782499" y="2359447"/>
            <a:ext cx="178668" cy="30547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06" name="Text 104"/>
          <p:cNvSpPr/>
          <p:nvPr/>
        </p:nvSpPr>
        <p:spPr>
          <a:xfrm>
            <a:off x="11884968" y="2431479"/>
            <a:ext cx="238348" cy="177254"/>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n</a:t>
            </a:r>
            <a:endParaRPr lang="en-US" sz="2260" dirty="0"/>
          </a:p>
        </p:txBody>
      </p:sp>
      <p:sp>
        <p:nvSpPr>
          <p:cNvPr id="107" name="Text 105"/>
          <p:cNvSpPr/>
          <p:nvPr/>
        </p:nvSpPr>
        <p:spPr>
          <a:xfrm>
            <a:off x="12047116" y="2495699"/>
            <a:ext cx="131266" cy="173236"/>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i</a:t>
            </a:r>
            <a:endParaRPr lang="en-US" sz="1582" dirty="0"/>
          </a:p>
        </p:txBody>
      </p:sp>
      <p:sp>
        <p:nvSpPr>
          <p:cNvPr id="108" name="Text 106"/>
          <p:cNvSpPr/>
          <p:nvPr/>
        </p:nvSpPr>
        <p:spPr>
          <a:xfrm>
            <a:off x="12177117" y="2486620"/>
            <a:ext cx="282848" cy="7620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09" name="Text 107"/>
          <p:cNvSpPr/>
          <p:nvPr/>
        </p:nvSpPr>
        <p:spPr>
          <a:xfrm>
            <a:off x="12447240" y="2387352"/>
            <a:ext cx="218256" cy="221382"/>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1</a:t>
            </a:r>
            <a:endParaRPr lang="en-US" sz="2260" dirty="0"/>
          </a:p>
        </p:txBody>
      </p:sp>
      <p:sp>
        <p:nvSpPr>
          <p:cNvPr id="110" name="Text 108"/>
          <p:cNvSpPr/>
          <p:nvPr/>
        </p:nvSpPr>
        <p:spPr>
          <a:xfrm>
            <a:off x="12589297" y="2359447"/>
            <a:ext cx="178668" cy="30547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11" name="Text 109"/>
          <p:cNvSpPr/>
          <p:nvPr/>
        </p:nvSpPr>
        <p:spPr>
          <a:xfrm>
            <a:off x="12771090" y="2391891"/>
            <a:ext cx="282848" cy="247204"/>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12" name="Text 110"/>
          <p:cNvSpPr/>
          <p:nvPr/>
        </p:nvSpPr>
        <p:spPr>
          <a:xfrm>
            <a:off x="13057063" y="2382143"/>
            <a:ext cx="338212" cy="228302"/>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W</a:t>
            </a:r>
            <a:endParaRPr lang="en-US" sz="2260" dirty="0"/>
          </a:p>
        </p:txBody>
      </p:sp>
      <p:sp>
        <p:nvSpPr>
          <p:cNvPr id="113" name="Text 111"/>
          <p:cNvSpPr/>
          <p:nvPr/>
        </p:nvSpPr>
        <p:spPr>
          <a:xfrm>
            <a:off x="13454063" y="2376115"/>
            <a:ext cx="240655" cy="232618"/>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14" name="Text 112"/>
          <p:cNvSpPr/>
          <p:nvPr/>
        </p:nvSpPr>
        <p:spPr>
          <a:xfrm>
            <a:off x="13618518" y="2377529"/>
            <a:ext cx="154856" cy="231204"/>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i</a:t>
            </a:r>
            <a:endParaRPr lang="en-US" sz="2260" dirty="0"/>
          </a:p>
        </p:txBody>
      </p:sp>
      <p:sp>
        <p:nvSpPr>
          <p:cNvPr id="115" name="Text 113"/>
          <p:cNvSpPr/>
          <p:nvPr/>
        </p:nvSpPr>
        <p:spPr>
          <a:xfrm>
            <a:off x="9553575" y="2929086"/>
            <a:ext cx="311051"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dirty="0">
                <a:solidFill>
                  <a:srgbClr val="A1A1AA"/>
                </a:solidFill>
                <a:latin typeface="Barlow" pitchFamily="34" charset="0"/>
                <a:ea typeface="Barlow" pitchFamily="34" charset="-122"/>
                <a:cs typeface="Barlow" pitchFamily="34" charset="-120"/>
              </a:rPr>
              <a:t>R2</a:t>
            </a:r>
            <a:endParaRPr lang="en-US" sz="1575" dirty="0"/>
          </a:p>
        </p:txBody>
      </p:sp>
      <p:sp>
        <p:nvSpPr>
          <p:cNvPr id="116" name="Text 114"/>
          <p:cNvSpPr/>
          <p:nvPr/>
        </p:nvSpPr>
        <p:spPr>
          <a:xfrm>
            <a:off x="11616556" y="2922166"/>
            <a:ext cx="1806848" cy="277564"/>
          </a:xfrm>
          <a:prstGeom prst="rect">
            <a:avLst/>
          </a:prstGeom>
          <a:noFill/>
          <a:ln/>
        </p:spPr>
        <p:txBody>
          <a:bodyPr wrap="none" lIns="25400" tIns="25400" rIns="25400" bIns="25400" rtlCol="0" anchor="t">
            <a:normAutofit/>
          </a:bodyPr>
          <a:lstStyle/>
          <a:p>
            <a:pPr algn="l" indent="0" marL="0">
              <a:buNone/>
            </a:pPr>
            <a:r>
              <a:rPr lang="en-US" sz="1725" dirty="0">
                <a:solidFill>
                  <a:srgbClr val="FFFFFF"/>
                </a:solidFill>
                <a:latin typeface="Georgia" pitchFamily="34" charset="0"/>
                <a:ea typeface="Georgia" pitchFamily="34" charset="-122"/>
                <a:cs typeface="Georgia" pitchFamily="34" charset="-120"/>
              </a:rPr>
              <a:t>ó ú</a:t>
            </a:r>
            <a:endParaRPr lang="en-US" sz="1725" dirty="0"/>
          </a:p>
        </p:txBody>
      </p:sp>
      <p:sp>
        <p:nvSpPr>
          <p:cNvPr id="117" name="Text 115"/>
          <p:cNvSpPr/>
          <p:nvPr/>
        </p:nvSpPr>
        <p:spPr>
          <a:xfrm>
            <a:off x="11862718" y="2876773"/>
            <a:ext cx="2058219" cy="312316"/>
          </a:xfrm>
          <a:prstGeom prst="rect">
            <a:avLst/>
          </a:prstGeom>
          <a:noFill/>
          <a:ln/>
        </p:spPr>
        <p:txBody>
          <a:bodyPr wrap="none" lIns="25400" tIns="25400" rIns="25400" bIns="25400" rtlCol="0" anchor="t">
            <a:normAutofit/>
          </a:bodyPr>
          <a:lstStyle/>
          <a:p>
            <a:pPr algn="l" indent="0" marL="0">
              <a:buNone/>
            </a:pPr>
            <a:r>
              <a:rPr lang="en-US" sz="1973" dirty="0">
                <a:solidFill>
                  <a:srgbClr val="FFFFFF"/>
                </a:solidFill>
                <a:latin typeface="Georgia" pitchFamily="34" charset="0"/>
                <a:ea typeface="Georgia" pitchFamily="34" charset="-122"/>
                <a:cs typeface="Georgia" pitchFamily="34" charset="-120"/>
              </a:rPr>
              <a:t>ó ú</a:t>
            </a:r>
            <a:endParaRPr lang="en-US" sz="1973" dirty="0"/>
          </a:p>
        </p:txBody>
      </p:sp>
      <p:sp>
        <p:nvSpPr>
          <p:cNvPr id="118" name="Text 116"/>
          <p:cNvSpPr/>
          <p:nvPr/>
        </p:nvSpPr>
        <p:spPr>
          <a:xfrm>
            <a:off x="9969401" y="2815679"/>
            <a:ext cx="344835" cy="333598"/>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19" name="Text 117"/>
          <p:cNvSpPr/>
          <p:nvPr/>
        </p:nvSpPr>
        <p:spPr>
          <a:xfrm>
            <a:off x="10238036" y="3021881"/>
            <a:ext cx="131266" cy="173236"/>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i</a:t>
            </a:r>
            <a:endParaRPr lang="en-US" sz="1582" dirty="0"/>
          </a:p>
        </p:txBody>
      </p:sp>
      <p:sp>
        <p:nvSpPr>
          <p:cNvPr id="120" name="Text 118"/>
          <p:cNvSpPr/>
          <p:nvPr/>
        </p:nvSpPr>
        <p:spPr>
          <a:xfrm>
            <a:off x="10352187" y="2904381"/>
            <a:ext cx="236637" cy="173757"/>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x</a:t>
            </a:r>
            <a:endParaRPr lang="en-US" sz="2260" dirty="0"/>
          </a:p>
        </p:txBody>
      </p:sp>
      <p:sp>
        <p:nvSpPr>
          <p:cNvPr id="121" name="Text 119"/>
          <p:cNvSpPr/>
          <p:nvPr/>
        </p:nvSpPr>
        <p:spPr>
          <a:xfrm>
            <a:off x="10512623" y="2965103"/>
            <a:ext cx="131266" cy="173236"/>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i</a:t>
            </a:r>
            <a:endParaRPr lang="en-US" sz="1582" dirty="0"/>
          </a:p>
        </p:txBody>
      </p:sp>
      <p:sp>
        <p:nvSpPr>
          <p:cNvPr id="122" name="Text 120"/>
          <p:cNvSpPr/>
          <p:nvPr/>
        </p:nvSpPr>
        <p:spPr>
          <a:xfrm>
            <a:off x="10567690" y="2965103"/>
            <a:ext cx="162818" cy="220414"/>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j</a:t>
            </a:r>
            <a:endParaRPr lang="en-US" sz="1582" dirty="0"/>
          </a:p>
        </p:txBody>
      </p:sp>
      <p:sp>
        <p:nvSpPr>
          <p:cNvPr id="123" name="Text 121"/>
          <p:cNvSpPr/>
          <p:nvPr/>
        </p:nvSpPr>
        <p:spPr>
          <a:xfrm>
            <a:off x="10745093" y="2926705"/>
            <a:ext cx="282848" cy="11616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24" name="Text 122"/>
          <p:cNvSpPr/>
          <p:nvPr/>
        </p:nvSpPr>
        <p:spPr>
          <a:xfrm>
            <a:off x="11031066" y="2856756"/>
            <a:ext cx="218256" cy="221382"/>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1</a:t>
            </a:r>
            <a:endParaRPr lang="en-US" sz="2260" dirty="0"/>
          </a:p>
        </p:txBody>
      </p:sp>
      <p:sp>
        <p:nvSpPr>
          <p:cNvPr id="125" name="Text 123"/>
          <p:cNvSpPr/>
          <p:nvPr/>
        </p:nvSpPr>
        <p:spPr>
          <a:xfrm>
            <a:off x="11308110" y="2845519"/>
            <a:ext cx="240655" cy="232618"/>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26" name="Text 124"/>
          <p:cNvSpPr/>
          <p:nvPr/>
        </p:nvSpPr>
        <p:spPr>
          <a:xfrm>
            <a:off x="11472565" y="2846933"/>
            <a:ext cx="199876" cy="298624"/>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j</a:t>
            </a:r>
            <a:endParaRPr lang="en-US" sz="2260" dirty="0"/>
          </a:p>
        </p:txBody>
      </p:sp>
      <p:sp>
        <p:nvSpPr>
          <p:cNvPr id="127" name="Text 125"/>
          <p:cNvSpPr/>
          <p:nvPr/>
        </p:nvSpPr>
        <p:spPr>
          <a:xfrm>
            <a:off x="11731228" y="2828851"/>
            <a:ext cx="178668" cy="30547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28" name="Text 126"/>
          <p:cNvSpPr/>
          <p:nvPr/>
        </p:nvSpPr>
        <p:spPr>
          <a:xfrm>
            <a:off x="11833696" y="2846710"/>
            <a:ext cx="2117229" cy="298847"/>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asignación única</a:t>
            </a:r>
            <a:endParaRPr lang="en-US" sz="2260" dirty="0"/>
          </a:p>
        </p:txBody>
      </p:sp>
      <p:sp>
        <p:nvSpPr>
          <p:cNvPr id="129" name="Text 127"/>
          <p:cNvSpPr/>
          <p:nvPr/>
        </p:nvSpPr>
        <p:spPr>
          <a:xfrm>
            <a:off x="13874725" y="2828851"/>
            <a:ext cx="178668" cy="30547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30" name="Text 128"/>
          <p:cNvSpPr/>
          <p:nvPr/>
        </p:nvSpPr>
        <p:spPr>
          <a:xfrm>
            <a:off x="9553575" y="3364706"/>
            <a:ext cx="307032"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dirty="0">
                <a:solidFill>
                  <a:srgbClr val="A1A1AA"/>
                </a:solidFill>
                <a:latin typeface="Barlow" pitchFamily="34" charset="0"/>
                <a:ea typeface="Barlow" pitchFamily="34" charset="-122"/>
                <a:cs typeface="Barlow" pitchFamily="34" charset="-120"/>
              </a:rPr>
              <a:t>R3</a:t>
            </a:r>
            <a:endParaRPr lang="en-US" sz="1575" dirty="0"/>
          </a:p>
        </p:txBody>
      </p:sp>
      <p:sp>
        <p:nvSpPr>
          <p:cNvPr id="131" name="Text 129"/>
          <p:cNvSpPr/>
          <p:nvPr/>
        </p:nvSpPr>
        <p:spPr>
          <a:xfrm>
            <a:off x="9917757" y="3326606"/>
            <a:ext cx="4364711" cy="300038"/>
          </a:xfrm>
          <a:prstGeom prst="rect">
            <a:avLst/>
          </a:prstGeom>
          <a:noFill/>
          <a:ln/>
        </p:spPr>
        <p:txBody>
          <a:bodyPr wrap="square" lIns="25400" tIns="25400" rIns="25400" bIns="25400" rtlCol="0" anchor="t">
            <a:normAutofit/>
          </a:bodyPr>
          <a:lstStyle/>
          <a:p>
            <a:pPr algn="l" indent="0" marL="0">
              <a:buNone/>
            </a:pPr>
            <a:r>
              <a:rPr lang="en-US" sz="1725" dirty="0">
                <a:solidFill>
                  <a:srgbClr val="FFFFFF"/>
                </a:solidFill>
                <a:latin typeface="Barlow" pitchFamily="34" charset="0"/>
                <a:ea typeface="Barlow" pitchFamily="34" charset="-122"/>
                <a:cs typeface="Barlow" pitchFamily="34" charset="-120"/>
              </a:rPr>
              <a:t>Posiciones únicas y secuenciales por charola</a:t>
            </a:r>
            <a:endParaRPr lang="en-US" sz="1725" dirty="0"/>
          </a:p>
        </p:txBody>
      </p:sp>
      <p:sp>
        <p:nvSpPr>
          <p:cNvPr id="132" name="Text 130"/>
          <p:cNvSpPr/>
          <p:nvPr/>
        </p:nvSpPr>
        <p:spPr>
          <a:xfrm>
            <a:off x="9553575" y="3759994"/>
            <a:ext cx="320055"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dirty="0">
                <a:solidFill>
                  <a:srgbClr val="A1A1AA"/>
                </a:solidFill>
                <a:latin typeface="Barlow" pitchFamily="34" charset="0"/>
                <a:ea typeface="Barlow" pitchFamily="34" charset="-122"/>
                <a:cs typeface="Barlow" pitchFamily="34" charset="-120"/>
              </a:rPr>
              <a:t>R4</a:t>
            </a:r>
            <a:endParaRPr lang="en-US" sz="1575" dirty="0"/>
          </a:p>
        </p:txBody>
      </p:sp>
      <p:sp>
        <p:nvSpPr>
          <p:cNvPr id="133" name="Text 131"/>
          <p:cNvSpPr/>
          <p:nvPr/>
        </p:nvSpPr>
        <p:spPr>
          <a:xfrm>
            <a:off x="9930780" y="3722117"/>
            <a:ext cx="236637" cy="173757"/>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x</a:t>
            </a:r>
            <a:endParaRPr lang="en-US" sz="2260" dirty="0"/>
          </a:p>
        </p:txBody>
      </p:sp>
      <p:sp>
        <p:nvSpPr>
          <p:cNvPr id="134" name="Text 132"/>
          <p:cNvSpPr/>
          <p:nvPr/>
        </p:nvSpPr>
        <p:spPr>
          <a:xfrm>
            <a:off x="10091217" y="3782839"/>
            <a:ext cx="131266" cy="173236"/>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i</a:t>
            </a:r>
            <a:endParaRPr lang="en-US" sz="1582" dirty="0"/>
          </a:p>
        </p:txBody>
      </p:sp>
      <p:sp>
        <p:nvSpPr>
          <p:cNvPr id="135" name="Text 133"/>
          <p:cNvSpPr/>
          <p:nvPr/>
        </p:nvSpPr>
        <p:spPr>
          <a:xfrm>
            <a:off x="10146283" y="3782839"/>
            <a:ext cx="162818" cy="220414"/>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j</a:t>
            </a:r>
            <a:endParaRPr lang="en-US" sz="1582" dirty="0"/>
          </a:p>
        </p:txBody>
      </p:sp>
      <p:sp>
        <p:nvSpPr>
          <p:cNvPr id="136" name="Text 134"/>
          <p:cNvSpPr/>
          <p:nvPr/>
        </p:nvSpPr>
        <p:spPr>
          <a:xfrm>
            <a:off x="10323686" y="3702025"/>
            <a:ext cx="282848" cy="20129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37" name="Text 135"/>
          <p:cNvSpPr/>
          <p:nvPr/>
        </p:nvSpPr>
        <p:spPr>
          <a:xfrm>
            <a:off x="10609659" y="3646587"/>
            <a:ext cx="170036" cy="305767"/>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38" name="Text 136"/>
          <p:cNvSpPr/>
          <p:nvPr/>
        </p:nvSpPr>
        <p:spPr>
          <a:xfrm>
            <a:off x="10703496" y="3673599"/>
            <a:ext cx="218256" cy="22540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0</a:t>
            </a:r>
            <a:endParaRPr lang="en-US" sz="2260" dirty="0"/>
          </a:p>
        </p:txBody>
      </p:sp>
      <p:sp>
        <p:nvSpPr>
          <p:cNvPr id="139" name="Text 137"/>
          <p:cNvSpPr/>
          <p:nvPr/>
        </p:nvSpPr>
        <p:spPr>
          <a:xfrm>
            <a:off x="10845552" y="3823097"/>
            <a:ext cx="146521" cy="110579"/>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40" name="Text 138"/>
          <p:cNvSpPr/>
          <p:nvPr/>
        </p:nvSpPr>
        <p:spPr>
          <a:xfrm>
            <a:off x="10963498" y="3674492"/>
            <a:ext cx="218256" cy="221382"/>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1</a:t>
            </a:r>
            <a:endParaRPr lang="en-US" sz="2260" dirty="0"/>
          </a:p>
        </p:txBody>
      </p:sp>
      <p:sp>
        <p:nvSpPr>
          <p:cNvPr id="141" name="Text 139"/>
          <p:cNvSpPr/>
          <p:nvPr/>
        </p:nvSpPr>
        <p:spPr>
          <a:xfrm>
            <a:off x="11105555" y="3646587"/>
            <a:ext cx="170036" cy="305767"/>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42" name="Text 140"/>
          <p:cNvSpPr/>
          <p:nvPr/>
        </p:nvSpPr>
        <p:spPr>
          <a:xfrm>
            <a:off x="11199391" y="3823097"/>
            <a:ext cx="146521" cy="110579"/>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43" name="Text 141"/>
          <p:cNvSpPr/>
          <p:nvPr/>
        </p:nvSpPr>
        <p:spPr>
          <a:xfrm>
            <a:off x="11384831" y="3718620"/>
            <a:ext cx="247799" cy="240357"/>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p</a:t>
            </a:r>
            <a:endParaRPr lang="en-US" sz="2260" dirty="0"/>
          </a:p>
        </p:txBody>
      </p:sp>
      <p:sp>
        <p:nvSpPr>
          <p:cNvPr id="144" name="Text 142"/>
          <p:cNvSpPr/>
          <p:nvPr/>
        </p:nvSpPr>
        <p:spPr>
          <a:xfrm>
            <a:off x="11556429" y="3831580"/>
            <a:ext cx="131266" cy="173236"/>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i</a:t>
            </a:r>
            <a:endParaRPr lang="en-US" sz="1582" dirty="0"/>
          </a:p>
        </p:txBody>
      </p:sp>
      <p:sp>
        <p:nvSpPr>
          <p:cNvPr id="145" name="Text 143"/>
          <p:cNvSpPr/>
          <p:nvPr/>
        </p:nvSpPr>
        <p:spPr>
          <a:xfrm>
            <a:off x="11611496" y="3831580"/>
            <a:ext cx="162818" cy="220414"/>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j</a:t>
            </a:r>
            <a:endParaRPr lang="en-US" sz="1582" dirty="0"/>
          </a:p>
        </p:txBody>
      </p:sp>
      <p:sp>
        <p:nvSpPr>
          <p:cNvPr id="146" name="Text 144"/>
          <p:cNvSpPr/>
          <p:nvPr/>
        </p:nvSpPr>
        <p:spPr>
          <a:xfrm>
            <a:off x="11788899" y="3702025"/>
            <a:ext cx="282848" cy="201290"/>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a:t>
            </a:r>
            <a:endParaRPr lang="en-US" sz="2260" dirty="0"/>
          </a:p>
        </p:txBody>
      </p:sp>
      <p:sp>
        <p:nvSpPr>
          <p:cNvPr id="147" name="Text 145"/>
          <p:cNvSpPr/>
          <p:nvPr/>
        </p:nvSpPr>
        <p:spPr>
          <a:xfrm>
            <a:off x="12074872" y="3669283"/>
            <a:ext cx="250106" cy="226591"/>
          </a:xfrm>
          <a:prstGeom prst="rect">
            <a:avLst/>
          </a:prstGeom>
          <a:noFill/>
          <a:ln/>
        </p:spPr>
        <p:txBody>
          <a:bodyPr wrap="square" lIns="25400" tIns="25400" rIns="25400" bIns="25400" rtlCol="0" anchor="t">
            <a:normAutofit/>
          </a:bodyPr>
          <a:lstStyle/>
          <a:p>
            <a:pPr algn="l" indent="0" marL="0">
              <a:buNone/>
            </a:pPr>
            <a:r>
              <a:rPr lang="en-US" sz="2260" dirty="0">
                <a:solidFill>
                  <a:srgbClr val="FFFFFF"/>
                </a:solidFill>
                <a:latin typeface="Cambria Math" pitchFamily="34" charset="0"/>
                <a:ea typeface="Cambria Math" pitchFamily="34" charset="-122"/>
                <a:cs typeface="Cambria Math" pitchFamily="34" charset="-120"/>
              </a:rPr>
              <a:t>Z</a:t>
            </a:r>
            <a:endParaRPr lang="en-US" sz="2260" dirty="0"/>
          </a:p>
        </p:txBody>
      </p:sp>
      <p:sp>
        <p:nvSpPr>
          <p:cNvPr id="148" name="Text 146"/>
          <p:cNvSpPr/>
          <p:nvPr/>
        </p:nvSpPr>
        <p:spPr>
          <a:xfrm>
            <a:off x="12304291" y="3792885"/>
            <a:ext cx="220861" cy="184472"/>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a:t>
            </a:r>
            <a:endParaRPr lang="en-US" sz="1582" dirty="0"/>
          </a:p>
        </p:txBody>
      </p:sp>
      <p:sp>
        <p:nvSpPr>
          <p:cNvPr id="149" name="Text 147"/>
          <p:cNvSpPr/>
          <p:nvPr/>
        </p:nvSpPr>
        <p:spPr>
          <a:xfrm>
            <a:off x="12504465" y="3789090"/>
            <a:ext cx="175617" cy="169143"/>
          </a:xfrm>
          <a:prstGeom prst="rect">
            <a:avLst/>
          </a:prstGeom>
          <a:noFill/>
          <a:ln/>
        </p:spPr>
        <p:txBody>
          <a:bodyPr wrap="square" lIns="25400" tIns="25400" rIns="25400" bIns="25400" rtlCol="0" anchor="t">
            <a:normAutofit/>
          </a:bodyPr>
          <a:lstStyle/>
          <a:p>
            <a:pPr algn="l" indent="0" marL="0">
              <a:buNone/>
            </a:pPr>
            <a:r>
              <a:rPr lang="en-US" sz="1582" dirty="0">
                <a:solidFill>
                  <a:srgbClr val="FFFFFF"/>
                </a:solidFill>
                <a:latin typeface="Cambria Math" pitchFamily="34" charset="0"/>
                <a:ea typeface="Cambria Math" pitchFamily="34" charset="-122"/>
                <a:cs typeface="Cambria Math" pitchFamily="34" charset="-120"/>
              </a:rPr>
              <a:t>0</a:t>
            </a:r>
            <a:endParaRPr lang="en-US" sz="1582" dirty="0"/>
          </a:p>
        </p:txBody>
      </p:sp>
      <p:sp>
        <p:nvSpPr>
          <p:cNvPr id="150" name="Shape 148"/>
          <p:cNvSpPr/>
          <p:nvPr/>
        </p:nvSpPr>
        <p:spPr>
          <a:xfrm>
            <a:off x="9277350" y="8614023"/>
            <a:ext cx="8153400" cy="1044327"/>
          </a:xfrm>
          <a:prstGeom prst="roundRect">
            <a:avLst>
              <a:gd name="adj" fmla="val 12769"/>
            </a:avLst>
          </a:prstGeom>
          <a:solidFill>
            <a:srgbClr val="E4002B"/>
          </a:solidFill>
          <a:ln/>
        </p:spPr>
      </p:sp>
      <p:sp>
        <p:nvSpPr>
          <p:cNvPr id="151" name="Text 149"/>
          <p:cNvSpPr/>
          <p:nvPr/>
        </p:nvSpPr>
        <p:spPr>
          <a:xfrm>
            <a:off x="9544050" y="8842623"/>
            <a:ext cx="7848600" cy="238125"/>
          </a:xfrm>
          <a:prstGeom prst="rect">
            <a:avLst/>
          </a:prstGeom>
          <a:noFill/>
          <a:ln/>
        </p:spPr>
        <p:txBody>
          <a:bodyPr wrap="square" lIns="25400" tIns="25400" rIns="25400" bIns="25400" rtlCol="0" anchor="t">
            <a:normAutofit/>
          </a:bodyPr>
          <a:lstStyle/>
          <a:p>
            <a:pPr algn="l" indent="0" marL="0">
              <a:lnSpc>
                <a:spcPct val="100000"/>
              </a:lnSpc>
              <a:buNone/>
            </a:pPr>
            <a:r>
              <a:rPr lang="en-US" sz="1575" b="1" spc="150" kern="0" dirty="0">
                <a:solidFill>
                  <a:srgbClr val="FFE600"/>
                </a:solidFill>
                <a:latin typeface="Barlow" pitchFamily="34" charset="0"/>
                <a:ea typeface="Barlow" pitchFamily="34" charset="-122"/>
                <a:cs typeface="Barlow" pitchFamily="34" charset="-120"/>
              </a:rPr>
              <a:t>EXTENSIÓN · MODELO 2</a:t>
            </a:r>
            <a:endParaRPr lang="en-US" sz="1575" dirty="0"/>
          </a:p>
        </p:txBody>
      </p:sp>
      <p:sp>
        <p:nvSpPr>
          <p:cNvPr id="152" name="Text 150"/>
          <p:cNvSpPr/>
          <p:nvPr/>
        </p:nvSpPr>
        <p:spPr>
          <a:xfrm>
            <a:off x="11171634" y="9156948"/>
            <a:ext cx="5892198" cy="310902"/>
          </a:xfrm>
          <a:prstGeom prst="rect">
            <a:avLst/>
          </a:prstGeom>
          <a:noFill/>
          <a:ln/>
        </p:spPr>
        <p:txBody>
          <a:bodyPr wrap="none" lIns="25400" tIns="25400" rIns="25400" bIns="25400" rtlCol="0" anchor="t">
            <a:normAutofit/>
          </a:bodyPr>
          <a:lstStyle/>
          <a:p>
            <a:pPr algn="l" indent="0" marL="0">
              <a:buNone/>
            </a:pPr>
            <a:r>
              <a:rPr lang="en-US" sz="1876" dirty="0">
                <a:solidFill>
                  <a:srgbClr val="FFFFFF"/>
                </a:solidFill>
                <a:latin typeface="Georgia" pitchFamily="34" charset="0"/>
                <a:ea typeface="Georgia" pitchFamily="34" charset="-122"/>
                <a:cs typeface="Georgia" pitchFamily="34" charset="-120"/>
              </a:rPr>
              <a:t>ó ó</a:t>
            </a:r>
            <a:endParaRPr lang="en-US" sz="1876" dirty="0"/>
          </a:p>
        </p:txBody>
      </p:sp>
      <p:sp>
        <p:nvSpPr>
          <p:cNvPr id="153" name="Text 151"/>
          <p:cNvSpPr/>
          <p:nvPr/>
        </p:nvSpPr>
        <p:spPr>
          <a:xfrm>
            <a:off x="11096402" y="9166473"/>
            <a:ext cx="6745810" cy="350416"/>
          </a:xfrm>
          <a:prstGeom prst="rect">
            <a:avLst/>
          </a:prstGeom>
          <a:noFill/>
          <a:ln/>
        </p:spPr>
        <p:txBody>
          <a:bodyPr wrap="none" lIns="25400" tIns="25400" rIns="25400" bIns="25400" rtlCol="0" anchor="t">
            <a:normAutofit/>
          </a:bodyPr>
          <a:lstStyle/>
          <a:p>
            <a:pPr algn="l" indent="0" marL="0">
              <a:buNone/>
            </a:pPr>
            <a:r>
              <a:rPr lang="en-US" sz="2148" dirty="0">
                <a:solidFill>
                  <a:srgbClr val="FFFFFF"/>
                </a:solidFill>
                <a:latin typeface="Georgia" pitchFamily="34" charset="0"/>
                <a:ea typeface="Georgia" pitchFamily="34" charset="-122"/>
                <a:cs typeface="Georgia" pitchFamily="34" charset="-120"/>
              </a:rPr>
              <a:t>ó ó</a:t>
            </a:r>
            <a:endParaRPr lang="en-US" sz="2148" dirty="0"/>
          </a:p>
        </p:txBody>
      </p:sp>
      <p:sp>
        <p:nvSpPr>
          <p:cNvPr id="154" name="Text 152"/>
          <p:cNvSpPr/>
          <p:nvPr/>
        </p:nvSpPr>
        <p:spPr>
          <a:xfrm>
            <a:off x="9505950" y="9231585"/>
            <a:ext cx="301005" cy="224656"/>
          </a:xfrm>
          <a:prstGeom prst="rect">
            <a:avLst/>
          </a:prstGeom>
          <a:noFill/>
          <a:ln/>
        </p:spPr>
        <p:txBody>
          <a:bodyPr wrap="square" lIns="25400" tIns="25400" rIns="25400" bIns="25400" rtlCol="0" anchor="t">
            <a:normAutofit/>
          </a:bodyPr>
          <a:lstStyle/>
          <a:p>
            <a:pPr algn="ctr" indent="0" marL="0">
              <a:buNone/>
            </a:pPr>
            <a:r>
              <a:rPr lang="en-US" sz="2458" dirty="0">
                <a:solidFill>
                  <a:srgbClr val="FFFFFF"/>
                </a:solidFill>
                <a:latin typeface="Cambria Math" pitchFamily="34" charset="0"/>
                <a:ea typeface="Cambria Math" pitchFamily="34" charset="-122"/>
                <a:cs typeface="Cambria Math" pitchFamily="34" charset="-120"/>
              </a:rPr>
              <a:t>+</a:t>
            </a:r>
            <a:endParaRPr lang="en-US" sz="2458" dirty="0"/>
          </a:p>
        </p:txBody>
      </p:sp>
      <p:sp>
        <p:nvSpPr>
          <p:cNvPr id="155" name="Text 153"/>
          <p:cNvSpPr/>
          <p:nvPr/>
        </p:nvSpPr>
        <p:spPr>
          <a:xfrm>
            <a:off x="9817522" y="9258077"/>
            <a:ext cx="303163" cy="187598"/>
          </a:xfrm>
          <a:prstGeom prst="rect">
            <a:avLst/>
          </a:prstGeom>
          <a:noFill/>
          <a:ln/>
        </p:spPr>
        <p:txBody>
          <a:bodyPr wrap="square" lIns="25400" tIns="25400" rIns="25400" bIns="25400" rtlCol="0" anchor="t">
            <a:normAutofit/>
          </a:bodyPr>
          <a:lstStyle/>
          <a:p>
            <a:pPr algn="ctr" indent="0" marL="0">
              <a:buNone/>
            </a:pPr>
            <a:r>
              <a:rPr lang="en-US" sz="2458" dirty="0">
                <a:solidFill>
                  <a:srgbClr val="FFFFFF"/>
                </a:solidFill>
                <a:latin typeface="Cambria Math" pitchFamily="34" charset="0"/>
                <a:ea typeface="Cambria Math" pitchFamily="34" charset="-122"/>
                <a:cs typeface="Cambria Math" pitchFamily="34" charset="-120"/>
              </a:rPr>
              <a:t>w</a:t>
            </a:r>
            <a:endParaRPr lang="en-US" sz="2458" dirty="0"/>
          </a:p>
        </p:txBody>
      </p:sp>
      <p:sp>
        <p:nvSpPr>
          <p:cNvPr id="156" name="Text 154"/>
          <p:cNvSpPr/>
          <p:nvPr/>
        </p:nvSpPr>
        <p:spPr>
          <a:xfrm>
            <a:off x="10044485" y="9330333"/>
            <a:ext cx="184398" cy="178966"/>
          </a:xfrm>
          <a:prstGeom prst="rect">
            <a:avLst/>
          </a:prstGeom>
          <a:noFill/>
          <a:ln/>
        </p:spPr>
        <p:txBody>
          <a:bodyPr wrap="square" lIns="25400" tIns="25400" rIns="25400" bIns="25400" rtlCol="0" anchor="t">
            <a:normAutofit/>
          </a:bodyPr>
          <a:lstStyle/>
          <a:p>
            <a:pPr algn="ctr" indent="0" marL="0">
              <a:buNone/>
            </a:pPr>
            <a:r>
              <a:rPr lang="en-US" sz="1721" dirty="0">
                <a:solidFill>
                  <a:srgbClr val="FFFFFF"/>
                </a:solidFill>
                <a:latin typeface="Cambria Math" pitchFamily="34" charset="0"/>
                <a:ea typeface="Cambria Math" pitchFamily="34" charset="-122"/>
                <a:cs typeface="Cambria Math" pitchFamily="34" charset="-120"/>
              </a:rPr>
              <a:t>4</a:t>
            </a:r>
            <a:endParaRPr lang="en-US" sz="1721" dirty="0"/>
          </a:p>
        </p:txBody>
      </p:sp>
      <p:sp>
        <p:nvSpPr>
          <p:cNvPr id="157" name="Text 155"/>
          <p:cNvSpPr/>
          <p:nvPr/>
        </p:nvSpPr>
        <p:spPr>
          <a:xfrm>
            <a:off x="10217200" y="9200629"/>
            <a:ext cx="253901" cy="243185"/>
          </a:xfrm>
          <a:prstGeom prst="rect">
            <a:avLst/>
          </a:prstGeom>
          <a:noFill/>
          <a:ln/>
        </p:spPr>
        <p:txBody>
          <a:bodyPr wrap="square" lIns="25400" tIns="25400" rIns="25400" bIns="25400" rtlCol="0" anchor="t">
            <a:normAutofit/>
          </a:bodyPr>
          <a:lstStyle/>
          <a:p>
            <a:pPr algn="ctr" indent="0" marL="0">
              <a:buNone/>
            </a:pPr>
            <a:r>
              <a:rPr lang="en-US" sz="2458" dirty="0">
                <a:solidFill>
                  <a:srgbClr val="FFFFFF"/>
                </a:solidFill>
                <a:latin typeface="Cambria Math" pitchFamily="34" charset="0"/>
                <a:ea typeface="Cambria Math" pitchFamily="34" charset="-122"/>
                <a:cs typeface="Cambria Math" pitchFamily="34" charset="-120"/>
              </a:rPr>
              <a:t>L</a:t>
            </a:r>
            <a:endParaRPr lang="en-US" sz="2458" dirty="0"/>
          </a:p>
        </p:txBody>
      </p:sp>
      <p:sp>
        <p:nvSpPr>
          <p:cNvPr id="158" name="Text 156"/>
          <p:cNvSpPr/>
          <p:nvPr/>
        </p:nvSpPr>
        <p:spPr>
          <a:xfrm>
            <a:off x="10959559" y="9175998"/>
            <a:ext cx="6713925" cy="336426"/>
          </a:xfrm>
          <a:prstGeom prst="rect">
            <a:avLst/>
          </a:prstGeom>
          <a:noFill/>
          <a:ln/>
        </p:spPr>
        <p:txBody>
          <a:bodyPr wrap="square" lIns="25400" tIns="25400" rIns="25400" bIns="25400" rtlCol="0" anchor="t">
            <a:normAutofit/>
          </a:bodyPr>
          <a:lstStyle/>
          <a:p>
            <a:pPr algn="ctr" indent="0" marL="0">
              <a:buNone/>
            </a:pPr>
            <a:r>
              <a:rPr lang="en-US" sz="2458" dirty="0">
                <a:solidFill>
                  <a:srgbClr val="FFFFFF"/>
                </a:solidFill>
                <a:latin typeface="Cambria Math" pitchFamily="34" charset="0"/>
                <a:ea typeface="Cambria Math" pitchFamily="34" charset="-122"/>
                <a:cs typeface="Cambria Math" pitchFamily="34" charset="-120"/>
              </a:rPr>
              <a:t>(consistencia con la ubicación histórica esperada)</a:t>
            </a:r>
            <a:endParaRPr lang="en-US" sz="245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2026-06-15T20:47:08Z</dcterms:created>
  <dcterms:modified xsi:type="dcterms:W3CDTF">2026-06-15T20:47:08Z</dcterms:modified>
</cp:coreProperties>
</file>